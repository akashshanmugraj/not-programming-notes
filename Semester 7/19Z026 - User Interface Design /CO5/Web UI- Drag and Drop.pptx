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97" r:id="rId2"/>
    <p:sldId id="256" r:id="rId3"/>
    <p:sldId id="258" r:id="rId4"/>
    <p:sldId id="259" r:id="rId5"/>
    <p:sldId id="262" r:id="rId6"/>
    <p:sldId id="263" r:id="rId7"/>
    <p:sldId id="264" r:id="rId8"/>
    <p:sldId id="265" r:id="rId9"/>
    <p:sldId id="266" r:id="rId10"/>
    <p:sldId id="267" r:id="rId11"/>
    <p:sldId id="268" r:id="rId12"/>
    <p:sldId id="269" r:id="rId13"/>
    <p:sldId id="270" r:id="rId14"/>
    <p:sldId id="271" r:id="rId15"/>
    <p:sldId id="272" r:id="rId16"/>
    <p:sldId id="298" r:id="rId17"/>
    <p:sldId id="274" r:id="rId18"/>
    <p:sldId id="275" r:id="rId19"/>
    <p:sldId id="276" r:id="rId20"/>
    <p:sldId id="303" r:id="rId21"/>
    <p:sldId id="277" r:id="rId22"/>
    <p:sldId id="278" r:id="rId23"/>
    <p:sldId id="279" r:id="rId24"/>
    <p:sldId id="280" r:id="rId25"/>
    <p:sldId id="300" r:id="rId26"/>
    <p:sldId id="282" r:id="rId27"/>
    <p:sldId id="283" r:id="rId28"/>
    <p:sldId id="285" r:id="rId29"/>
    <p:sldId id="301" r:id="rId30"/>
    <p:sldId id="288" r:id="rId31"/>
    <p:sldId id="289" r:id="rId3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F5C2FB-ABD5-4DB6-9E81-BD176F7EE8BD}" type="datetimeFigureOut">
              <a:rPr lang="en-US" smtClean="0"/>
              <a:pPr/>
              <a:t>9/2/2024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DD3613C-F01A-4BDD-86A8-EC73004D340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DD3613C-F01A-4BDD-86A8-EC73004D340B}" type="slidenum">
              <a:rPr lang="en-US" smtClean="0"/>
              <a:pPr/>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78B596B1-0E6D-454E-93AA-E538EAE581D0}" type="datetimeFigureOut">
              <a:rPr lang="en-US"/>
              <a:pPr>
                <a:defRPr/>
              </a:pPr>
              <a:t>9/2/2024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0431619-7953-4811-A791-33177420977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78BA9E9F-5F57-441A-B646-33E77C2CC8E3}" type="datetimeFigureOut">
              <a:rPr lang="en-US"/>
              <a:pPr>
                <a:defRPr/>
              </a:pPr>
              <a:t>9/2/2024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FCD0090-F326-45D1-A52B-682BCC8CC024}"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45A136A1-F812-4F23-9202-664523402282}" type="datetimeFigureOut">
              <a:rPr lang="en-US"/>
              <a:pPr>
                <a:defRPr/>
              </a:pPr>
              <a:t>9/2/2024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ADE03B2-B34E-4FF9-B3F1-11734624C3BE}"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A0E3C011-2A73-4E18-B8FF-F5CD794D0430}" type="datetimeFigureOut">
              <a:rPr lang="en-US"/>
              <a:pPr>
                <a:defRPr/>
              </a:pPr>
              <a:t>9/2/2024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50FAC60-8CA3-4289-B851-EA5D97B51139}"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7F8437CA-4E0A-4020-86E5-7DD754E85F6A}" type="datetimeFigureOut">
              <a:rPr lang="en-US"/>
              <a:pPr>
                <a:defRPr/>
              </a:pPr>
              <a:t>9/2/2024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04C348D-7D65-4316-92A9-7C40F01DB1FD}"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C025C281-901A-4BD6-88B0-0270C303EF1A}" type="datetimeFigureOut">
              <a:rPr lang="en-US"/>
              <a:pPr>
                <a:defRPr/>
              </a:pPr>
              <a:t>9/2/2024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EEE4F125-F8FB-4D96-8515-F408FE3ADBE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694CE04-6FDE-46DE-8693-E3C286425677}" type="datetimeFigureOut">
              <a:rPr lang="en-US"/>
              <a:pPr>
                <a:defRPr/>
              </a:pPr>
              <a:t>9/2/2024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D1662547-E849-43D2-AE1B-5AB2FDC4C670}"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4074C99E-D44D-4452-A183-636D5570BA06}" type="datetimeFigureOut">
              <a:rPr lang="en-US"/>
              <a:pPr>
                <a:defRPr/>
              </a:pPr>
              <a:t>9/2/2024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58D1BA1-7D75-4BF3-BF0E-163F0735B3D4}"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4E63976E-E30D-4EC0-984C-393DB66DF5FC}" type="datetimeFigureOut">
              <a:rPr lang="en-US"/>
              <a:pPr>
                <a:defRPr/>
              </a:pPr>
              <a:t>9/2/2024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60CB4AC-5910-4947-ADD3-A53604A65F8D}"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051E641-7BEB-4D26-A98B-08A6243154E9}" type="datetimeFigureOut">
              <a:rPr lang="en-US"/>
              <a:pPr>
                <a:defRPr/>
              </a:pPr>
              <a:t>9/2/2024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B5D28EE-6B67-4BAF-AFAF-588D78EB1FB7}"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1EFC73C-C66F-4C5D-99ED-9252BDF2E39E}" type="datetimeFigureOut">
              <a:rPr lang="en-US"/>
              <a:pPr>
                <a:defRPr/>
              </a:pPr>
              <a:t>9/2/2024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CF3C67B-8CD7-48D3-8EB9-56FAC51AFB07}"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D00A20A3-1D88-4C23-8DDA-E3E0B18C7FA6}" type="datetimeFigureOut">
              <a:rPr lang="en-US"/>
              <a:pPr>
                <a:defRPr/>
              </a:pPr>
              <a:t>9/2/2024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CF587058-D91D-44D9-B2E7-5E5D92723D65}"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762000" y="2209800"/>
            <a:ext cx="7772400" cy="1470025"/>
          </a:xfrm>
        </p:spPr>
        <p:txBody>
          <a:bodyPr/>
          <a:lstStyle/>
          <a:p>
            <a:pPr eaLnBrk="1" hangingPunct="1"/>
            <a:r>
              <a:rPr lang="en-US" sz="4000" b="1" dirty="0" smtClean="0">
                <a:solidFill>
                  <a:srgbClr val="7030A0"/>
                </a:solidFill>
              </a:rPr>
              <a:t>WEB UI- DRAG and DROP</a:t>
            </a:r>
            <a:endParaRPr lang="en-US" sz="4000" dirty="0" smtClean="0">
              <a:solidFill>
                <a:srgbClr val="7030A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81000"/>
            <a:ext cx="8229600" cy="1036638"/>
          </a:xfrm>
        </p:spPr>
        <p:txBody>
          <a:bodyPr/>
          <a:lstStyle/>
          <a:p>
            <a:r>
              <a:rPr lang="en-US" sz="3200" dirty="0" smtClean="0">
                <a:solidFill>
                  <a:srgbClr val="FF0000"/>
                </a:solidFill>
              </a:rPr>
              <a:t>DRAG and DROP</a:t>
            </a:r>
            <a:r>
              <a:rPr lang="en-US" dirty="0" smtClean="0">
                <a:solidFill>
                  <a:srgbClr val="FF0000"/>
                </a:solidFill>
              </a:rPr>
              <a:t/>
            </a:r>
            <a:br>
              <a:rPr lang="en-US" dirty="0" smtClean="0">
                <a:solidFill>
                  <a:srgbClr val="FF0000"/>
                </a:solidFill>
              </a:rPr>
            </a:br>
            <a:endParaRPr lang="en-US" dirty="0"/>
          </a:p>
        </p:txBody>
      </p:sp>
      <p:sp>
        <p:nvSpPr>
          <p:cNvPr id="3074" name="Subtitle 2"/>
          <p:cNvSpPr>
            <a:spLocks noGrp="1"/>
          </p:cNvSpPr>
          <p:nvPr>
            <p:ph idx="1"/>
          </p:nvPr>
        </p:nvSpPr>
        <p:spPr/>
        <p:txBody>
          <a:bodyPr/>
          <a:lstStyle/>
          <a:p>
            <a:pPr algn="just" eaLnBrk="1" hangingPunct="1">
              <a:buFont typeface="Wingdings" pitchFamily="2" charset="2"/>
              <a:buChar char="ü"/>
            </a:pPr>
            <a:r>
              <a:rPr lang="en-US" sz="2400" dirty="0" smtClean="0">
                <a:solidFill>
                  <a:schemeClr val="tx1"/>
                </a:solidFill>
              </a:rPr>
              <a:t>Drag and Drop has become a more familiar idiom on the Web.</a:t>
            </a:r>
          </a:p>
          <a:p>
            <a:pPr algn="just" eaLnBrk="1" hangingPunct="1">
              <a:buFont typeface="Wingdings" pitchFamily="2" charset="2"/>
              <a:buChar char="ü"/>
            </a:pPr>
            <a:r>
              <a:rPr lang="en-US" sz="2400" dirty="0" smtClean="0">
                <a:solidFill>
                  <a:schemeClr val="tx1"/>
                </a:solidFill>
              </a:rPr>
              <a:t>Drag and drop seems simple. Just grab an object and drop it somewhere</a:t>
            </a:r>
            <a:r>
              <a:rPr lang="en-US" dirty="0" smtClean="0">
                <a:solidFill>
                  <a:schemeClr val="tx1"/>
                </a:solidFill>
              </a:rPr>
              <a:t>. </a:t>
            </a:r>
            <a:r>
              <a:rPr lang="en-US" sz="2400" dirty="0" smtClean="0">
                <a:solidFill>
                  <a:schemeClr val="tx1"/>
                </a:solidFill>
              </a:rPr>
              <a:t>What makes it challenging is that there are a lot of events during drag and drop that can be used as opportunities for feedback to the user.</a:t>
            </a:r>
          </a:p>
          <a:p>
            <a:pPr algn="just" eaLnBrk="1" hangingPunct="1">
              <a:buFont typeface="Wingdings" pitchFamily="2" charset="2"/>
              <a:buChar char="ü"/>
            </a:pPr>
            <a:r>
              <a:rPr lang="en-US" sz="2400" dirty="0" smtClean="0">
                <a:solidFill>
                  <a:schemeClr val="tx1"/>
                </a:solidFill>
              </a:rPr>
              <a:t>There are a number of individual states at which interaction is possible. We call these microstates interesting moments.  </a:t>
            </a:r>
            <a:r>
              <a:rPr lang="en-US" sz="2400" dirty="0" err="1" smtClean="0">
                <a:solidFill>
                  <a:schemeClr val="tx1"/>
                </a:solidFill>
              </a:rPr>
              <a:t>Eg</a:t>
            </a:r>
            <a:r>
              <a:rPr lang="en-US" sz="2400" dirty="0" smtClean="0">
                <a:solidFill>
                  <a:schemeClr val="tx1"/>
                </a:solidFill>
              </a:rPr>
              <a:t>: </a:t>
            </a:r>
          </a:p>
          <a:p>
            <a:pPr algn="just" eaLnBrk="1" hangingPunct="1">
              <a:buNone/>
            </a:pPr>
            <a:r>
              <a:rPr lang="en-US" sz="2400" dirty="0" smtClean="0">
                <a:solidFill>
                  <a:schemeClr val="tx1"/>
                </a:solidFill>
              </a:rPr>
              <a:t>• How will users know what is </a:t>
            </a:r>
            <a:r>
              <a:rPr lang="en-US" sz="2400" dirty="0" err="1" smtClean="0">
                <a:solidFill>
                  <a:schemeClr val="tx1"/>
                </a:solidFill>
              </a:rPr>
              <a:t>draggable</a:t>
            </a:r>
            <a:r>
              <a:rPr lang="en-US" sz="2400" dirty="0" smtClean="0">
                <a:solidFill>
                  <a:schemeClr val="tx1"/>
                </a:solidFill>
              </a:rPr>
              <a:t>?</a:t>
            </a:r>
          </a:p>
          <a:p>
            <a:pPr algn="just" eaLnBrk="1" hangingPunct="1">
              <a:buNone/>
            </a:pPr>
            <a:r>
              <a:rPr lang="en-US" sz="2400" dirty="0" smtClean="0">
                <a:solidFill>
                  <a:schemeClr val="tx1"/>
                </a:solidFill>
              </a:rPr>
              <a:t>• What does it mean to drag and drop an object?</a:t>
            </a:r>
          </a:p>
          <a:p>
            <a:pPr algn="just" eaLnBrk="1" hangingPunct="1">
              <a:buNone/>
            </a:pPr>
            <a:r>
              <a:rPr lang="en-US" sz="2400" dirty="0" smtClean="0">
                <a:solidFill>
                  <a:schemeClr val="tx1"/>
                </a:solidFill>
              </a:rPr>
              <a:t>• Where can you drop an object, and where is it not valid to drop an object?</a:t>
            </a:r>
          </a:p>
          <a:p>
            <a:pPr algn="just" eaLnBrk="1" hangingPunct="1">
              <a:buNone/>
            </a:pPr>
            <a:r>
              <a:rPr lang="en-US" sz="2400" dirty="0" smtClean="0">
                <a:solidFill>
                  <a:schemeClr val="tx1"/>
                </a:solidFill>
              </a:rPr>
              <a:t>• What visual affordance will be used to indicate </a:t>
            </a:r>
            <a:r>
              <a:rPr lang="en-US" sz="2400" dirty="0" err="1" smtClean="0">
                <a:solidFill>
                  <a:schemeClr val="tx1"/>
                </a:solidFill>
              </a:rPr>
              <a:t>draggability</a:t>
            </a:r>
            <a:r>
              <a:rPr lang="en-US" sz="2400" dirty="0" smtClean="0">
                <a:solidFill>
                  <a:schemeClr val="tx1"/>
                </a:solidFill>
              </a:rPr>
              <a:t>?</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457200" y="274638"/>
            <a:ext cx="8229600" cy="639762"/>
          </a:xfrm>
        </p:spPr>
        <p:txBody>
          <a:bodyPr/>
          <a:lstStyle/>
          <a:p>
            <a:pPr eaLnBrk="1" hangingPunct="1"/>
            <a:r>
              <a:rPr lang="en-US" sz="3200" dirty="0" smtClean="0">
                <a:solidFill>
                  <a:srgbClr val="FF0000"/>
                </a:solidFill>
              </a:rPr>
              <a:t>EVENTS</a:t>
            </a:r>
          </a:p>
        </p:txBody>
      </p:sp>
      <p:sp>
        <p:nvSpPr>
          <p:cNvPr id="5123" name="Content Placeholder 2"/>
          <p:cNvSpPr>
            <a:spLocks noGrp="1"/>
          </p:cNvSpPr>
          <p:nvPr>
            <p:ph idx="1"/>
          </p:nvPr>
        </p:nvSpPr>
        <p:spPr>
          <a:xfrm>
            <a:off x="457200" y="1066800"/>
            <a:ext cx="8229600" cy="5410200"/>
          </a:xfrm>
        </p:spPr>
        <p:txBody>
          <a:bodyPr/>
          <a:lstStyle/>
          <a:p>
            <a:pPr eaLnBrk="1" hangingPunct="1">
              <a:buNone/>
            </a:pPr>
            <a:r>
              <a:rPr lang="en-US" sz="2000" dirty="0" smtClean="0"/>
              <a:t>There are at least 15 events available for cueing the user during a drag and drop interaction.</a:t>
            </a:r>
          </a:p>
          <a:p>
            <a:r>
              <a:rPr lang="en-US" sz="2000" b="1" dirty="0" smtClean="0">
                <a:solidFill>
                  <a:srgbClr val="7030A0"/>
                </a:solidFill>
              </a:rPr>
              <a:t>Page Load:  </a:t>
            </a:r>
            <a:r>
              <a:rPr lang="en-US" sz="2000" dirty="0" smtClean="0"/>
              <a:t>Before any interaction occurs, you can pre-signify the availability of drag and drop.</a:t>
            </a:r>
          </a:p>
          <a:p>
            <a:r>
              <a:rPr lang="en-US" sz="2000" b="1" dirty="0" smtClean="0">
                <a:solidFill>
                  <a:srgbClr val="7030A0"/>
                </a:solidFill>
              </a:rPr>
              <a:t>Mouse Hover: </a:t>
            </a:r>
            <a:r>
              <a:rPr lang="en-US" sz="2000" dirty="0" smtClean="0"/>
              <a:t>The mouse pointer hovers over an object that is </a:t>
            </a:r>
            <a:r>
              <a:rPr lang="en-US" sz="2000" dirty="0" err="1" smtClean="0"/>
              <a:t>draggable</a:t>
            </a:r>
            <a:r>
              <a:rPr lang="en-US" sz="2000" dirty="0" smtClean="0"/>
              <a:t>.</a:t>
            </a:r>
          </a:p>
          <a:p>
            <a:r>
              <a:rPr lang="en-US" sz="2000" b="1" dirty="0" smtClean="0">
                <a:solidFill>
                  <a:srgbClr val="7030A0"/>
                </a:solidFill>
              </a:rPr>
              <a:t>Mouse Down: </a:t>
            </a:r>
            <a:r>
              <a:rPr lang="en-US" sz="2000" dirty="0" smtClean="0"/>
              <a:t>The user holds down the mouse button on the </a:t>
            </a:r>
            <a:r>
              <a:rPr lang="en-US" sz="2000" dirty="0" err="1" smtClean="0"/>
              <a:t>draggable</a:t>
            </a:r>
            <a:r>
              <a:rPr lang="en-US" sz="2000" dirty="0" smtClean="0"/>
              <a:t> object.</a:t>
            </a:r>
          </a:p>
          <a:p>
            <a:r>
              <a:rPr lang="en-US" sz="2000" b="1" dirty="0" smtClean="0">
                <a:solidFill>
                  <a:srgbClr val="7030A0"/>
                </a:solidFill>
              </a:rPr>
              <a:t>Drag Initiated: </a:t>
            </a:r>
            <a:r>
              <a:rPr lang="en-US" sz="2000" dirty="0" smtClean="0"/>
              <a:t>After the mouse drag starts (usually 3 pixels).</a:t>
            </a:r>
          </a:p>
          <a:p>
            <a:r>
              <a:rPr lang="en-US" sz="2000" b="1" dirty="0" smtClean="0">
                <a:solidFill>
                  <a:srgbClr val="7030A0"/>
                </a:solidFill>
              </a:rPr>
              <a:t>Drag Leaves Original Location: </a:t>
            </a:r>
            <a:r>
              <a:rPr lang="en-US" sz="2000" dirty="0" smtClean="0"/>
              <a:t>After the drag object is pulled from its location or object that contains it.</a:t>
            </a:r>
          </a:p>
          <a:p>
            <a:r>
              <a:rPr lang="en-US" sz="2000" b="1" dirty="0" smtClean="0">
                <a:solidFill>
                  <a:srgbClr val="7030A0"/>
                </a:solidFill>
              </a:rPr>
              <a:t>Drag Re-Enters Original Location: </a:t>
            </a:r>
            <a:r>
              <a:rPr lang="en-US" sz="2000" dirty="0" smtClean="0"/>
              <a:t>When the object re-enters the original location.</a:t>
            </a:r>
          </a:p>
          <a:p>
            <a:r>
              <a:rPr lang="en-US" sz="2000" b="1" dirty="0" smtClean="0">
                <a:solidFill>
                  <a:srgbClr val="7030A0"/>
                </a:solidFill>
              </a:rPr>
              <a:t>Drag Enters Valid Target: </a:t>
            </a:r>
            <a:r>
              <a:rPr lang="en-US" sz="2000" dirty="0" smtClean="0"/>
              <a:t>Dragging over a valid drop target.</a:t>
            </a:r>
          </a:p>
          <a:p>
            <a:r>
              <a:rPr lang="en-US" sz="2000" b="1" dirty="0" smtClean="0">
                <a:solidFill>
                  <a:srgbClr val="7030A0"/>
                </a:solidFill>
              </a:rPr>
              <a:t>Drag Enters Specific Invalid Target: </a:t>
            </a:r>
            <a:r>
              <a:rPr lang="en-US" sz="2000" dirty="0" smtClean="0"/>
              <a:t>Dragging over an invalid drop target.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498475"/>
          </a:xfrm>
        </p:spPr>
        <p:txBody>
          <a:bodyPr rtlCol="0">
            <a:normAutofit fontScale="90000"/>
          </a:bodyPr>
          <a:lstStyle/>
          <a:p>
            <a:pPr eaLnBrk="1" fontAlgn="auto" hangingPunct="1">
              <a:spcAft>
                <a:spcPts val="0"/>
              </a:spcAft>
              <a:defRPr/>
            </a:pPr>
            <a:r>
              <a:rPr lang="en-US" sz="3600" dirty="0" smtClean="0">
                <a:solidFill>
                  <a:srgbClr val="FF0000"/>
                </a:solidFill>
              </a:rPr>
              <a:t>EVENTS</a:t>
            </a:r>
          </a:p>
        </p:txBody>
      </p:sp>
      <p:sp>
        <p:nvSpPr>
          <p:cNvPr id="6147" name="Content Placeholder 2"/>
          <p:cNvSpPr>
            <a:spLocks noGrp="1"/>
          </p:cNvSpPr>
          <p:nvPr>
            <p:ph idx="1"/>
          </p:nvPr>
        </p:nvSpPr>
        <p:spPr>
          <a:xfrm>
            <a:off x="533400" y="1371600"/>
            <a:ext cx="8229600" cy="5181600"/>
          </a:xfrm>
        </p:spPr>
        <p:txBody>
          <a:bodyPr/>
          <a:lstStyle/>
          <a:p>
            <a:r>
              <a:rPr lang="en-US" sz="2000" dirty="0" smtClean="0">
                <a:solidFill>
                  <a:srgbClr val="7030A0"/>
                </a:solidFill>
              </a:rPr>
              <a:t> </a:t>
            </a:r>
            <a:r>
              <a:rPr lang="en-US" sz="2000" b="1" dirty="0" smtClean="0">
                <a:solidFill>
                  <a:srgbClr val="7030A0"/>
                </a:solidFill>
              </a:rPr>
              <a:t>Exits Valid Target: </a:t>
            </a:r>
            <a:r>
              <a:rPr lang="en-US" sz="2000" dirty="0" smtClean="0"/>
              <a:t>Dragging back out of a valid drop target.</a:t>
            </a:r>
            <a:endParaRPr lang="en-US" sz="2000" dirty="0" smtClean="0">
              <a:solidFill>
                <a:srgbClr val="C00000"/>
              </a:solidFill>
            </a:endParaRPr>
          </a:p>
          <a:p>
            <a:r>
              <a:rPr lang="en-US" sz="2000" b="1" dirty="0" smtClean="0">
                <a:solidFill>
                  <a:srgbClr val="7030A0"/>
                </a:solidFill>
              </a:rPr>
              <a:t>Drag Is Over No Specific Target:</a:t>
            </a:r>
            <a:r>
              <a:rPr lang="en-US" sz="2000" dirty="0" smtClean="0">
                <a:solidFill>
                  <a:srgbClr val="7030A0"/>
                </a:solidFill>
              </a:rPr>
              <a:t> </a:t>
            </a:r>
            <a:r>
              <a:rPr lang="en-US" sz="2000" dirty="0" smtClean="0"/>
              <a:t>Dragging over neither a valid or invalid target.</a:t>
            </a:r>
          </a:p>
          <a:p>
            <a:r>
              <a:rPr lang="en-US" sz="2000" b="1" dirty="0" smtClean="0">
                <a:solidFill>
                  <a:srgbClr val="7030A0"/>
                </a:solidFill>
              </a:rPr>
              <a:t>Drag Hovers Over Valid Target: </a:t>
            </a:r>
            <a:r>
              <a:rPr lang="en-US" sz="2000" dirty="0" smtClean="0"/>
              <a:t>User pauses over the valid target without dropping the object</a:t>
            </a:r>
          </a:p>
          <a:p>
            <a:r>
              <a:rPr lang="en-US" sz="2000" b="1" dirty="0" smtClean="0">
                <a:solidFill>
                  <a:srgbClr val="7030A0"/>
                </a:solidFill>
              </a:rPr>
              <a:t>Drag Hovers Over Invalid Target: </a:t>
            </a:r>
            <a:r>
              <a:rPr lang="en-US" sz="2000" dirty="0" smtClean="0"/>
              <a:t>User pauses over an invalid target without dropping the object.</a:t>
            </a:r>
          </a:p>
          <a:p>
            <a:r>
              <a:rPr lang="en-US" sz="2000" b="1" dirty="0" smtClean="0">
                <a:solidFill>
                  <a:srgbClr val="7030A0"/>
                </a:solidFill>
              </a:rPr>
              <a:t>Drop Accepted: </a:t>
            </a:r>
            <a:r>
              <a:rPr lang="en-US" sz="2000" dirty="0" smtClean="0"/>
              <a:t>Drop occurs over a valid target and drop has been accepted.</a:t>
            </a:r>
          </a:p>
          <a:p>
            <a:r>
              <a:rPr lang="en-US" sz="2000" b="1" dirty="0" smtClean="0">
                <a:solidFill>
                  <a:srgbClr val="7030A0"/>
                </a:solidFill>
              </a:rPr>
              <a:t>Drop Rejected: </a:t>
            </a:r>
            <a:r>
              <a:rPr lang="en-US" sz="2000" dirty="0" smtClean="0"/>
              <a:t>Drop occurs over an invalid target and drop has been rejected. </a:t>
            </a:r>
          </a:p>
          <a:p>
            <a:r>
              <a:rPr lang="en-US" sz="2000" b="1" dirty="0" smtClean="0">
                <a:solidFill>
                  <a:srgbClr val="7030A0"/>
                </a:solidFill>
              </a:rPr>
              <a:t>Drop on Parent Container:</a:t>
            </a:r>
            <a:r>
              <a:rPr lang="en-US" sz="2000" dirty="0" smtClean="0"/>
              <a:t> Is the place where the object was dragged from special?</a:t>
            </a:r>
            <a:endParaRPr lang="en-US" sz="2000" dirty="0" smtClean="0">
              <a:solidFill>
                <a:srgbClr val="C00000"/>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sz="3200" dirty="0" smtClean="0">
                <a:solidFill>
                  <a:srgbClr val="FF0000"/>
                </a:solidFill>
              </a:rPr>
              <a:t>ACTORS</a:t>
            </a:r>
          </a:p>
        </p:txBody>
      </p:sp>
      <p:sp>
        <p:nvSpPr>
          <p:cNvPr id="4" name="Content Placeholder 3"/>
          <p:cNvSpPr>
            <a:spLocks noGrp="1"/>
          </p:cNvSpPr>
          <p:nvPr>
            <p:ph idx="1"/>
          </p:nvPr>
        </p:nvSpPr>
        <p:spPr>
          <a:xfrm>
            <a:off x="457200" y="1676400"/>
            <a:ext cx="8458200" cy="4449763"/>
          </a:xfrm>
        </p:spPr>
        <p:txBody>
          <a:bodyPr/>
          <a:lstStyle/>
          <a:p>
            <a:pPr>
              <a:buNone/>
            </a:pPr>
            <a:r>
              <a:rPr lang="en-US" sz="2800" dirty="0" smtClean="0"/>
              <a:t>During each event you can visually manipulate a number</a:t>
            </a:r>
          </a:p>
          <a:p>
            <a:pPr>
              <a:buNone/>
            </a:pPr>
            <a:r>
              <a:rPr lang="en-US" sz="2800" dirty="0" smtClean="0"/>
              <a:t>of </a:t>
            </a:r>
            <a:r>
              <a:rPr lang="en-US" sz="2800" i="1" dirty="0" smtClean="0">
                <a:solidFill>
                  <a:srgbClr val="7030A0"/>
                </a:solidFill>
              </a:rPr>
              <a:t>actors.</a:t>
            </a:r>
          </a:p>
          <a:p>
            <a:pPr>
              <a:buFont typeface="Wingdings" pitchFamily="2" charset="2"/>
              <a:buChar char="ü"/>
            </a:pPr>
            <a:r>
              <a:rPr lang="en-US" sz="2800" dirty="0" smtClean="0"/>
              <a:t> Page (e.g., static messaging on the page)</a:t>
            </a:r>
          </a:p>
          <a:p>
            <a:pPr>
              <a:buFont typeface="Wingdings" pitchFamily="2" charset="2"/>
              <a:buChar char="ü"/>
            </a:pPr>
            <a:r>
              <a:rPr lang="en-US" sz="2800" dirty="0" smtClean="0"/>
              <a:t> Cursor</a:t>
            </a:r>
          </a:p>
          <a:p>
            <a:pPr>
              <a:buFont typeface="Wingdings" pitchFamily="2" charset="2"/>
              <a:buChar char="ü"/>
            </a:pPr>
            <a:r>
              <a:rPr lang="en-US" sz="2800" dirty="0" smtClean="0"/>
              <a:t> Tool Tip</a:t>
            </a:r>
          </a:p>
          <a:p>
            <a:pPr>
              <a:buFont typeface="Wingdings" pitchFamily="2" charset="2"/>
              <a:buChar char="ü"/>
            </a:pPr>
            <a:r>
              <a:rPr lang="en-US" sz="2800" dirty="0" smtClean="0"/>
              <a:t> Drag Object (or some portion of the drag object, e.g., title area of a module)</a:t>
            </a:r>
          </a:p>
          <a:p>
            <a:pPr>
              <a:buFont typeface="Wingdings" pitchFamily="2" charset="2"/>
              <a:buChar char="ü"/>
            </a:pPr>
            <a:r>
              <a:rPr lang="en-US" sz="2800" dirty="0" smtClean="0"/>
              <a:t> Drag Object’s Parent Container</a:t>
            </a:r>
          </a:p>
          <a:p>
            <a:pPr>
              <a:buFont typeface="Wingdings" pitchFamily="2" charset="2"/>
              <a:buChar char="ü"/>
            </a:pPr>
            <a:r>
              <a:rPr lang="en-US" sz="2800" dirty="0" smtClean="0"/>
              <a:t> Drop Target</a:t>
            </a:r>
            <a:endParaRPr 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sz="3200" dirty="0" smtClean="0">
                <a:solidFill>
                  <a:srgbClr val="FF0000"/>
                </a:solidFill>
              </a:rPr>
              <a:t>Interesting Moments Grid</a:t>
            </a:r>
          </a:p>
        </p:txBody>
      </p:sp>
      <p:sp>
        <p:nvSpPr>
          <p:cNvPr id="10243" name="Content Placeholder 2"/>
          <p:cNvSpPr>
            <a:spLocks noGrp="1"/>
          </p:cNvSpPr>
          <p:nvPr>
            <p:ph idx="1"/>
          </p:nvPr>
        </p:nvSpPr>
        <p:spPr/>
        <p:txBody>
          <a:bodyPr/>
          <a:lstStyle/>
          <a:p>
            <a:pPr eaLnBrk="1" hangingPunct="1"/>
            <a:r>
              <a:rPr lang="en-US" sz="2400" dirty="0" smtClean="0"/>
              <a:t>That’s 15 events times 6 actors. That means there are 90 possible interesting moments.</a:t>
            </a:r>
          </a:p>
          <a:p>
            <a:r>
              <a:rPr lang="en-US" sz="2400" dirty="0" smtClean="0"/>
              <a:t>The grid is a handy tool for planning out interesting moments during a drag and drop interaction.</a:t>
            </a:r>
          </a:p>
          <a:p>
            <a:r>
              <a:rPr lang="en-US" sz="2400" dirty="0" smtClean="0"/>
              <a:t> It serves as a checklist to make sure there are no “</a:t>
            </a:r>
            <a:r>
              <a:rPr lang="en-US" sz="2400" dirty="0" smtClean="0">
                <a:solidFill>
                  <a:srgbClr val="7030A0"/>
                </a:solidFill>
              </a:rPr>
              <a:t>holes</a:t>
            </a:r>
            <a:r>
              <a:rPr lang="en-US" sz="2400" dirty="0" smtClean="0"/>
              <a:t>” in the interaction.</a:t>
            </a:r>
          </a:p>
          <a:p>
            <a:r>
              <a:rPr lang="en-US" sz="2400" dirty="0" smtClean="0"/>
              <a:t>Just place the actors along the left hand side and the moments along the top. </a:t>
            </a:r>
          </a:p>
          <a:p>
            <a:r>
              <a:rPr lang="en-US" sz="2400" dirty="0" smtClean="0"/>
              <a:t>In the grid intersections, place the desired behaviors.</a:t>
            </a:r>
            <a:endParaRPr lang="en-US" sz="2400" dirty="0" smtClean="0">
              <a:solidFill>
                <a:srgbClr val="C00000"/>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rtlCol="0">
            <a:normAutofit/>
          </a:bodyPr>
          <a:lstStyle/>
          <a:p>
            <a:pPr eaLnBrk="1" fontAlgn="auto" hangingPunct="1">
              <a:spcAft>
                <a:spcPts val="0"/>
              </a:spcAft>
              <a:defRPr/>
            </a:pPr>
            <a:r>
              <a:rPr lang="en-US" sz="3200" dirty="0" smtClean="0">
                <a:solidFill>
                  <a:srgbClr val="FF0000"/>
                </a:solidFill>
              </a:rPr>
              <a:t>Interesting Moments Grid </a:t>
            </a:r>
          </a:p>
        </p:txBody>
      </p:sp>
      <p:pic>
        <p:nvPicPr>
          <p:cNvPr id="11268" name="Picture 4"/>
          <p:cNvPicPr>
            <a:picLocks noGrp="1" noChangeAspect="1" noChangeArrowheads="1"/>
          </p:cNvPicPr>
          <p:nvPr>
            <p:ph idx="1"/>
          </p:nvPr>
        </p:nvPicPr>
        <p:blipFill>
          <a:blip r:embed="rId3"/>
          <a:srcRect/>
          <a:stretch>
            <a:fillRect/>
          </a:stretch>
        </p:blipFill>
        <p:spPr bwMode="auto">
          <a:xfrm>
            <a:off x="609600" y="1066800"/>
            <a:ext cx="7865728" cy="5029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457200" y="274638"/>
            <a:ext cx="8229600" cy="639762"/>
          </a:xfrm>
        </p:spPr>
        <p:txBody>
          <a:bodyPr/>
          <a:lstStyle/>
          <a:p>
            <a:pPr eaLnBrk="1" hangingPunct="1"/>
            <a:r>
              <a:rPr lang="en-US" sz="3200" dirty="0" smtClean="0">
                <a:solidFill>
                  <a:srgbClr val="FF0000"/>
                </a:solidFill>
              </a:rPr>
              <a:t>Purpose of Drag and Drop</a:t>
            </a:r>
          </a:p>
        </p:txBody>
      </p:sp>
      <p:sp>
        <p:nvSpPr>
          <p:cNvPr id="12291" name="Content Placeholder 2"/>
          <p:cNvSpPr>
            <a:spLocks noGrp="1"/>
          </p:cNvSpPr>
          <p:nvPr>
            <p:ph idx="1"/>
          </p:nvPr>
        </p:nvSpPr>
        <p:spPr>
          <a:xfrm>
            <a:off x="457200" y="914400"/>
            <a:ext cx="8229600" cy="5486400"/>
          </a:xfrm>
        </p:spPr>
        <p:txBody>
          <a:bodyPr/>
          <a:lstStyle/>
          <a:p>
            <a:pPr>
              <a:buNone/>
            </a:pPr>
            <a:r>
              <a:rPr lang="en-US" sz="2800" dirty="0" smtClean="0"/>
              <a:t>	It is useful for</a:t>
            </a:r>
          </a:p>
          <a:p>
            <a:pPr>
              <a:buFont typeface="Wingdings" pitchFamily="2" charset="2"/>
              <a:buChar char="ü"/>
            </a:pPr>
            <a:r>
              <a:rPr lang="en-US" sz="2800" b="1" dirty="0" smtClean="0">
                <a:solidFill>
                  <a:srgbClr val="002060"/>
                </a:solidFill>
              </a:rPr>
              <a:t>Drag and Drop Module</a:t>
            </a:r>
          </a:p>
          <a:p>
            <a:pPr>
              <a:buNone/>
            </a:pPr>
            <a:r>
              <a:rPr lang="en-US" sz="2800" dirty="0" smtClean="0"/>
              <a:t>		Rearranging modules on a page.</a:t>
            </a:r>
          </a:p>
          <a:p>
            <a:pPr>
              <a:buFont typeface="Wingdings" pitchFamily="2" charset="2"/>
              <a:buChar char="ü"/>
            </a:pPr>
            <a:r>
              <a:rPr lang="en-US" sz="2800" b="1" dirty="0" smtClean="0">
                <a:solidFill>
                  <a:srgbClr val="002060"/>
                </a:solidFill>
              </a:rPr>
              <a:t>Drag and Drop List</a:t>
            </a:r>
          </a:p>
          <a:p>
            <a:pPr>
              <a:buNone/>
            </a:pPr>
            <a:r>
              <a:rPr lang="en-US" sz="2800" dirty="0" smtClean="0"/>
              <a:t>		Rearranging lists.</a:t>
            </a:r>
          </a:p>
          <a:p>
            <a:pPr>
              <a:buFont typeface="Wingdings" pitchFamily="2" charset="2"/>
              <a:buChar char="ü"/>
            </a:pPr>
            <a:r>
              <a:rPr lang="en-US" sz="2800" b="1" dirty="0" smtClean="0">
                <a:solidFill>
                  <a:srgbClr val="002060"/>
                </a:solidFill>
              </a:rPr>
              <a:t>Drag and Drop Object</a:t>
            </a:r>
          </a:p>
          <a:p>
            <a:pPr>
              <a:buNone/>
            </a:pPr>
            <a:r>
              <a:rPr lang="en-US" sz="2800" dirty="0" smtClean="0"/>
              <a:t>		Changing relationships between objects.</a:t>
            </a:r>
          </a:p>
          <a:p>
            <a:pPr>
              <a:buFont typeface="Wingdings" pitchFamily="2" charset="2"/>
              <a:buChar char="ü"/>
            </a:pPr>
            <a:r>
              <a:rPr lang="en-US" sz="2800" b="1" dirty="0" smtClean="0">
                <a:solidFill>
                  <a:srgbClr val="002060"/>
                </a:solidFill>
              </a:rPr>
              <a:t>Drag and Drop Action</a:t>
            </a:r>
          </a:p>
          <a:p>
            <a:pPr>
              <a:buNone/>
            </a:pPr>
            <a:r>
              <a:rPr lang="en-US" sz="2800" dirty="0" smtClean="0"/>
              <a:t>		Invoking actions on a dropped object.</a:t>
            </a:r>
          </a:p>
          <a:p>
            <a:pPr>
              <a:buFont typeface="Wingdings" pitchFamily="2" charset="2"/>
              <a:buChar char="ü"/>
            </a:pPr>
            <a:r>
              <a:rPr lang="en-US" sz="2800" b="1" dirty="0" smtClean="0">
                <a:solidFill>
                  <a:srgbClr val="002060"/>
                </a:solidFill>
              </a:rPr>
              <a:t>Drag and Drop Collection</a:t>
            </a:r>
          </a:p>
          <a:p>
            <a:pPr>
              <a:buNone/>
            </a:pPr>
            <a:r>
              <a:rPr lang="en-US" sz="2800" dirty="0" smtClean="0"/>
              <a:t>		Maintaining collections through drag and drop.</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r>
              <a:rPr lang="en-US" sz="2400" dirty="0" smtClean="0">
                <a:solidFill>
                  <a:srgbClr val="FF0000"/>
                </a:solidFill>
              </a:rPr>
              <a:t>Drag and Drop Module</a:t>
            </a:r>
          </a:p>
        </p:txBody>
      </p:sp>
      <p:pic>
        <p:nvPicPr>
          <p:cNvPr id="13320" name="Picture 8"/>
          <p:cNvPicPr>
            <a:picLocks noGrp="1" noChangeAspect="1" noChangeArrowheads="1"/>
          </p:cNvPicPr>
          <p:nvPr>
            <p:ph idx="1"/>
          </p:nvPr>
        </p:nvPicPr>
        <p:blipFill>
          <a:blip r:embed="rId2"/>
          <a:stretch>
            <a:fillRect/>
          </a:stretch>
        </p:blipFill>
        <p:spPr bwMode="auto">
          <a:xfrm>
            <a:off x="5130800" y="2513806"/>
            <a:ext cx="2000250" cy="1371600"/>
          </a:xfrm>
          <a:prstGeom prst="rect">
            <a:avLst/>
          </a:prstGeom>
          <a:noFill/>
          <a:ln w="9525">
            <a:noFill/>
            <a:miter lim="800000"/>
            <a:headEnd/>
            <a:tailEnd/>
          </a:ln>
          <a:effectLst/>
        </p:spPr>
      </p:pic>
      <p:sp>
        <p:nvSpPr>
          <p:cNvPr id="10" name="Text Placeholder 9"/>
          <p:cNvSpPr>
            <a:spLocks noGrp="1"/>
          </p:cNvSpPr>
          <p:nvPr>
            <p:ph type="body" sz="half" idx="2"/>
          </p:nvPr>
        </p:nvSpPr>
        <p:spPr>
          <a:xfrm>
            <a:off x="457201" y="1435100"/>
            <a:ext cx="2971800" cy="5422900"/>
          </a:xfrm>
        </p:spPr>
        <p:txBody>
          <a:bodyPr/>
          <a:lstStyle/>
          <a:p>
            <a:r>
              <a:rPr lang="en-US" sz="2000" b="1" dirty="0" smtClean="0">
                <a:solidFill>
                  <a:srgbClr val="00B0F0"/>
                </a:solidFill>
              </a:rPr>
              <a:t>Normal display style</a:t>
            </a:r>
          </a:p>
          <a:p>
            <a:r>
              <a:rPr lang="en-US" sz="2000" dirty="0" smtClean="0"/>
              <a:t>Modules are displayed without an explicit cue for drag and drop.</a:t>
            </a:r>
          </a:p>
          <a:p>
            <a:endParaRPr lang="en-US" dirty="0" smtClean="0"/>
          </a:p>
          <a:p>
            <a:r>
              <a:rPr lang="en-US" sz="2000" b="1" dirty="0" smtClean="0">
                <a:solidFill>
                  <a:srgbClr val="00B0F0"/>
                </a:solidFill>
              </a:rPr>
              <a:t>Invitation to drag</a:t>
            </a:r>
          </a:p>
          <a:p>
            <a:r>
              <a:rPr lang="en-US" sz="2000" dirty="0" smtClean="0"/>
              <a:t>Moving the mouse to a module’s header changes the cursor to indicate that the item is </a:t>
            </a:r>
            <a:r>
              <a:rPr lang="en-US" sz="2000" dirty="0" err="1" smtClean="0"/>
              <a:t>draggable</a:t>
            </a:r>
            <a:r>
              <a:rPr lang="en-US" sz="2000" dirty="0" smtClean="0"/>
              <a:t>.</a:t>
            </a:r>
          </a:p>
          <a:p>
            <a:endParaRPr lang="en-US" dirty="0" smtClean="0"/>
          </a:p>
          <a:p>
            <a:r>
              <a:rPr lang="en-US" sz="2000" b="1" dirty="0" smtClean="0">
                <a:solidFill>
                  <a:srgbClr val="00B0F0"/>
                </a:solidFill>
              </a:rPr>
              <a:t>Dragging</a:t>
            </a:r>
          </a:p>
          <a:p>
            <a:r>
              <a:rPr lang="en-US" sz="2000" dirty="0" smtClean="0"/>
              <a:t>The module being moved is dragged directly. A ripped-out “hole” is exposed where the module was dragged from.</a:t>
            </a:r>
            <a:endParaRPr lang="en-US" sz="2000" dirty="0"/>
          </a:p>
        </p:txBody>
      </p:sp>
      <p:pic>
        <p:nvPicPr>
          <p:cNvPr id="13318" name="Picture 6"/>
          <p:cNvPicPr>
            <a:picLocks noChangeAspect="1" noChangeArrowheads="1"/>
          </p:cNvPicPr>
          <p:nvPr/>
        </p:nvPicPr>
        <p:blipFill>
          <a:blip r:embed="rId3"/>
          <a:srcRect/>
          <a:stretch>
            <a:fillRect/>
          </a:stretch>
        </p:blipFill>
        <p:spPr bwMode="auto">
          <a:xfrm>
            <a:off x="3886200" y="0"/>
            <a:ext cx="4724400" cy="1981200"/>
          </a:xfrm>
          <a:prstGeom prst="rect">
            <a:avLst/>
          </a:prstGeom>
          <a:noFill/>
          <a:ln w="9525">
            <a:noFill/>
            <a:miter lim="800000"/>
            <a:headEnd/>
            <a:tailEnd/>
          </a:ln>
          <a:effectLst/>
        </p:spPr>
      </p:pic>
      <p:pic>
        <p:nvPicPr>
          <p:cNvPr id="13319" name="Picture 7"/>
          <p:cNvPicPr>
            <a:picLocks noChangeAspect="1" noChangeArrowheads="1"/>
          </p:cNvPicPr>
          <p:nvPr/>
        </p:nvPicPr>
        <p:blipFill>
          <a:blip r:embed="rId4"/>
          <a:srcRect/>
          <a:stretch>
            <a:fillRect/>
          </a:stretch>
        </p:blipFill>
        <p:spPr bwMode="auto">
          <a:xfrm>
            <a:off x="3886200" y="2286000"/>
            <a:ext cx="4724400" cy="1752600"/>
          </a:xfrm>
          <a:prstGeom prst="rect">
            <a:avLst/>
          </a:prstGeom>
          <a:noFill/>
          <a:ln w="9525">
            <a:noFill/>
            <a:miter lim="800000"/>
            <a:headEnd/>
            <a:tailEnd/>
          </a:ln>
          <a:effectLst/>
        </p:spPr>
      </p:pic>
      <p:pic>
        <p:nvPicPr>
          <p:cNvPr id="13321" name="Picture 9"/>
          <p:cNvPicPr>
            <a:picLocks noChangeAspect="1" noChangeArrowheads="1"/>
          </p:cNvPicPr>
          <p:nvPr/>
        </p:nvPicPr>
        <p:blipFill>
          <a:blip r:embed="rId2"/>
          <a:srcRect/>
          <a:stretch>
            <a:fillRect/>
          </a:stretch>
        </p:blipFill>
        <p:spPr bwMode="auto">
          <a:xfrm>
            <a:off x="3810000" y="4343400"/>
            <a:ext cx="5105400" cy="2057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US" sz="3200" dirty="0" smtClean="0">
                <a:solidFill>
                  <a:srgbClr val="FF0000"/>
                </a:solidFill>
              </a:rPr>
              <a:t>Approaches for drop</a:t>
            </a:r>
          </a:p>
        </p:txBody>
      </p:sp>
      <p:sp>
        <p:nvSpPr>
          <p:cNvPr id="14339" name="Content Placeholder 2"/>
          <p:cNvSpPr>
            <a:spLocks noGrp="1"/>
          </p:cNvSpPr>
          <p:nvPr>
            <p:ph idx="1"/>
          </p:nvPr>
        </p:nvSpPr>
        <p:spPr/>
        <p:txBody>
          <a:bodyPr/>
          <a:lstStyle/>
          <a:p>
            <a:pPr>
              <a:buNone/>
            </a:pPr>
            <a:r>
              <a:rPr lang="en-US" sz="2400" dirty="0" smtClean="0"/>
              <a:t> 	While dragging, it is important to make it clear what will  happen when the user drops the dragged object. There are two common approaches to targeting a drop:</a:t>
            </a:r>
          </a:p>
          <a:p>
            <a:pPr>
              <a:buNone/>
            </a:pPr>
            <a:endParaRPr lang="en-US" sz="2400" dirty="0" smtClean="0"/>
          </a:p>
          <a:p>
            <a:pPr>
              <a:buFont typeface="Wingdings" pitchFamily="2" charset="2"/>
              <a:buChar char="ü"/>
            </a:pPr>
            <a:r>
              <a:rPr lang="en-US" sz="2400" dirty="0" smtClean="0">
                <a:solidFill>
                  <a:srgbClr val="00B0F0"/>
                </a:solidFill>
              </a:rPr>
              <a:t>Placeholder target</a:t>
            </a:r>
          </a:p>
          <a:p>
            <a:pPr>
              <a:buFont typeface="Wingdings" pitchFamily="2" charset="2"/>
              <a:buChar char="ü"/>
            </a:pPr>
            <a:r>
              <a:rPr lang="en-US" sz="2400" dirty="0" smtClean="0">
                <a:solidFill>
                  <a:srgbClr val="00B0F0"/>
                </a:solidFill>
              </a:rPr>
              <a:t>Insertion target</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sz="3200" dirty="0" smtClean="0">
                <a:solidFill>
                  <a:srgbClr val="FF0000"/>
                </a:solidFill>
              </a:rPr>
              <a:t>Placeholder Target</a:t>
            </a:r>
          </a:p>
        </p:txBody>
      </p:sp>
      <p:sp>
        <p:nvSpPr>
          <p:cNvPr id="3" name="Content Placeholder 2"/>
          <p:cNvSpPr>
            <a:spLocks noGrp="1"/>
          </p:cNvSpPr>
          <p:nvPr>
            <p:ph idx="1"/>
          </p:nvPr>
        </p:nvSpPr>
        <p:spPr/>
        <p:txBody>
          <a:bodyPr rtlCol="0">
            <a:normAutofit lnSpcReduction="10000"/>
          </a:bodyPr>
          <a:lstStyle/>
          <a:p>
            <a:endParaRPr lang="en-US" sz="2400" dirty="0" smtClean="0"/>
          </a:p>
          <a:p>
            <a:endParaRPr lang="en-US" sz="2400" dirty="0" smtClean="0"/>
          </a:p>
          <a:p>
            <a:endParaRPr lang="en-US" sz="2400" dirty="0" smtClean="0"/>
          </a:p>
          <a:p>
            <a:pPr>
              <a:buNone/>
            </a:pPr>
            <a:endParaRPr lang="en-US" sz="2400" dirty="0" smtClean="0"/>
          </a:p>
          <a:p>
            <a:r>
              <a:rPr lang="en-US" sz="2400" dirty="0" smtClean="0"/>
              <a:t>Uses a placeholder (hole with dashed outline) as the drop target. The idea is to always position a hole in the spot where the drop would occur. </a:t>
            </a:r>
          </a:p>
          <a:p>
            <a:r>
              <a:rPr lang="en-US" sz="2400" dirty="0" smtClean="0"/>
              <a:t>When module 1 starts dragging, it gets “ripped” out of the spot. In its place is the </a:t>
            </a:r>
            <a:r>
              <a:rPr lang="en-US" sz="2400" b="1" dirty="0" smtClean="0"/>
              <a:t>placeholder target (dashed outline)</a:t>
            </a:r>
            <a:r>
              <a:rPr lang="en-US" sz="2400" dirty="0" smtClean="0"/>
              <a:t>. </a:t>
            </a:r>
          </a:p>
          <a:p>
            <a:r>
              <a:rPr lang="en-US" sz="2400" dirty="0" smtClean="0"/>
              <a:t>As 1 gets dragged to the spot between 3 and 4, the placeholder target jumps to fill in this spot as 4 moves out of the way.</a:t>
            </a:r>
          </a:p>
        </p:txBody>
      </p:sp>
      <p:pic>
        <p:nvPicPr>
          <p:cNvPr id="15364" name="Picture 4"/>
          <p:cNvPicPr>
            <a:picLocks noChangeAspect="1" noChangeArrowheads="1"/>
          </p:cNvPicPr>
          <p:nvPr/>
        </p:nvPicPr>
        <p:blipFill>
          <a:blip r:embed="rId2"/>
          <a:srcRect/>
          <a:stretch>
            <a:fillRect/>
          </a:stretch>
        </p:blipFill>
        <p:spPr bwMode="auto">
          <a:xfrm>
            <a:off x="838201" y="1600200"/>
            <a:ext cx="7162800" cy="1600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sz="3200" dirty="0" smtClean="0">
                <a:solidFill>
                  <a:srgbClr val="FF0000"/>
                </a:solidFill>
              </a:rPr>
              <a:t>Insertion target </a:t>
            </a:r>
          </a:p>
        </p:txBody>
      </p:sp>
      <p:pic>
        <p:nvPicPr>
          <p:cNvPr id="16392" name="Picture 8"/>
          <p:cNvPicPr>
            <a:picLocks noGrp="1" noChangeAspect="1" noChangeArrowheads="1"/>
          </p:cNvPicPr>
          <p:nvPr>
            <p:ph idx="1"/>
          </p:nvPr>
        </p:nvPicPr>
        <p:blipFill>
          <a:blip r:embed="rId2"/>
          <a:stretch>
            <a:fillRect/>
          </a:stretch>
        </p:blipFill>
        <p:spPr bwMode="auto">
          <a:xfrm>
            <a:off x="838200" y="1295400"/>
            <a:ext cx="7696200" cy="1447800"/>
          </a:xfrm>
          <a:prstGeom prst="rect">
            <a:avLst/>
          </a:prstGeom>
          <a:noFill/>
          <a:ln w="9525">
            <a:noFill/>
            <a:miter lim="800000"/>
            <a:headEnd/>
            <a:tailEnd/>
          </a:ln>
          <a:effectLst/>
        </p:spPr>
      </p:pic>
      <p:sp>
        <p:nvSpPr>
          <p:cNvPr id="10" name="Rectangle 9"/>
          <p:cNvSpPr/>
          <p:nvPr/>
        </p:nvSpPr>
        <p:spPr>
          <a:xfrm>
            <a:off x="609600" y="2743200"/>
            <a:ext cx="8229600" cy="4114800"/>
          </a:xfrm>
          <a:prstGeom prst="rect">
            <a:avLst/>
          </a:prstGeom>
        </p:spPr>
        <p:txBody>
          <a:bodyPr wrap="square">
            <a:spAutoFit/>
          </a:bodyPr>
          <a:lstStyle/>
          <a:p>
            <a:pPr>
              <a:buFont typeface="Wingdings" pitchFamily="2" charset="2"/>
              <a:buChar char="ü"/>
            </a:pPr>
            <a:r>
              <a:rPr lang="en-US" sz="2400" dirty="0" smtClean="0">
                <a:latin typeface="+mn-lt"/>
              </a:rPr>
              <a:t>Keep the page as stable as possible and only move around an insertion target (usually an insertion bar).</a:t>
            </a:r>
          </a:p>
          <a:p>
            <a:pPr>
              <a:buFont typeface="Wingdings" pitchFamily="2" charset="2"/>
              <a:buChar char="ü"/>
            </a:pPr>
            <a:r>
              <a:rPr lang="en-US" sz="2400" dirty="0" smtClean="0">
                <a:latin typeface="+mn-lt"/>
              </a:rPr>
              <a:t>While the module is dragged, the page remains stable. No modules move around. Instead, an insertion bar marks where the module will be placed when dropped.</a:t>
            </a:r>
          </a:p>
          <a:p>
            <a:pPr>
              <a:buFont typeface="Wingdings" pitchFamily="2" charset="2"/>
              <a:buChar char="ü"/>
            </a:pPr>
            <a:r>
              <a:rPr lang="en-US" sz="2400" dirty="0" smtClean="0">
                <a:latin typeface="+mn-lt"/>
              </a:rPr>
              <a:t>Unlike with the placeholder target, the dragged module 1 is usually represented with a slightly transparent version of the module (also known as </a:t>
            </a:r>
            <a:r>
              <a:rPr lang="en-US" sz="2400" b="1" i="1" dirty="0" smtClean="0">
                <a:solidFill>
                  <a:srgbClr val="00B0F0"/>
                </a:solidFill>
                <a:latin typeface="+mn-lt"/>
              </a:rPr>
              <a:t>ghosting</a:t>
            </a:r>
            <a:r>
              <a:rPr lang="en-US" sz="2400" i="1" dirty="0" smtClean="0">
                <a:latin typeface="+mn-lt"/>
              </a:rPr>
              <a:t>).</a:t>
            </a:r>
          </a:p>
          <a:p>
            <a:pPr>
              <a:buFont typeface="Wingdings" pitchFamily="2" charset="2"/>
              <a:buChar char="ü"/>
            </a:pPr>
            <a:r>
              <a:rPr lang="en-US" sz="2400" dirty="0">
                <a:latin typeface="+mn-lt"/>
              </a:rPr>
              <a:t>When module 1 is dragged to the </a:t>
            </a:r>
            <a:r>
              <a:rPr lang="en-US" sz="2400" dirty="0" smtClean="0">
                <a:latin typeface="+mn-lt"/>
              </a:rPr>
              <a:t>position between </a:t>
            </a:r>
            <a:r>
              <a:rPr lang="en-US" sz="2400" dirty="0">
                <a:latin typeface="+mn-lt"/>
              </a:rPr>
              <a:t>3 and 4, an insertion bar is placed there. This indicates that if 1 is </a:t>
            </a:r>
            <a:r>
              <a:rPr lang="en-US" sz="2400" dirty="0" smtClean="0">
                <a:latin typeface="+mn-lt"/>
              </a:rPr>
              <a:t>dropped, then </a:t>
            </a:r>
            <a:r>
              <a:rPr lang="en-US" sz="2400" dirty="0">
                <a:latin typeface="+mn-lt"/>
              </a:rPr>
              <a:t>4 will slide down to open up the drop spot.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381000" y="304800"/>
            <a:ext cx="8229600" cy="1143000"/>
          </a:xfrm>
        </p:spPr>
        <p:txBody>
          <a:bodyPr/>
          <a:lstStyle/>
          <a:p>
            <a:pPr eaLnBrk="1" hangingPunct="1"/>
            <a:r>
              <a:rPr lang="en-US" sz="3200" dirty="0" smtClean="0">
                <a:solidFill>
                  <a:srgbClr val="FF0000"/>
                </a:solidFill>
              </a:rPr>
              <a:t>Ghosting</a:t>
            </a:r>
          </a:p>
        </p:txBody>
      </p:sp>
      <p:sp>
        <p:nvSpPr>
          <p:cNvPr id="17411" name="Content Placeholder 2"/>
          <p:cNvSpPr>
            <a:spLocks noGrp="1"/>
          </p:cNvSpPr>
          <p:nvPr>
            <p:ph idx="1"/>
          </p:nvPr>
        </p:nvSpPr>
        <p:spPr>
          <a:xfrm>
            <a:off x="457200" y="1371600"/>
            <a:ext cx="8229600" cy="4754563"/>
          </a:xfrm>
        </p:spPr>
        <p:txBody>
          <a:bodyPr/>
          <a:lstStyle/>
          <a:p>
            <a:r>
              <a:rPr lang="en-US" sz="2400" dirty="0" smtClean="0"/>
              <a:t>Keep the page as stable as possible and only move around an insertion target (usually an insertion bar).</a:t>
            </a:r>
          </a:p>
          <a:p>
            <a:r>
              <a:rPr lang="en-US" sz="2400" dirty="0" smtClean="0"/>
              <a:t>While the module is dragged, the page remains stable. No modules move around. Instead, an insertion bar marks where the module will be placed when dropped.</a:t>
            </a:r>
          </a:p>
          <a:p>
            <a:r>
              <a:rPr lang="en-US" sz="2400" dirty="0" smtClean="0"/>
              <a:t>Unlike with the placeholder target, the dragged module 1 is usually represented with a slightly transparent version of the module (also known as </a:t>
            </a:r>
            <a:r>
              <a:rPr lang="en-US" sz="2400" b="1" i="1" dirty="0" smtClean="0">
                <a:solidFill>
                  <a:srgbClr val="00B0F0"/>
                </a:solidFill>
              </a:rPr>
              <a:t>ghosting</a:t>
            </a:r>
            <a:r>
              <a:rPr lang="en-US" sz="2400" i="1" dirty="0" smtClean="0"/>
              <a:t>).</a:t>
            </a:r>
          </a:p>
          <a:p>
            <a:r>
              <a:rPr lang="en-US" sz="2400" dirty="0" smtClean="0"/>
              <a:t>The transparency (ghosting) effect communicates that the object being dragged is actually a representation of the dragged object. It also keeps more of the page visible, thus giving a clearer picture of the final result of a drop.</a:t>
            </a:r>
          </a:p>
          <a:p>
            <a:pPr>
              <a:buNone/>
            </a:pPr>
            <a:endParaRPr lang="en-US" sz="2000" i="1"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57200" y="274638"/>
            <a:ext cx="8229600" cy="334962"/>
          </a:xfrm>
        </p:spPr>
        <p:txBody>
          <a:bodyPr/>
          <a:lstStyle/>
          <a:p>
            <a:pPr eaLnBrk="1" hangingPunct="1"/>
            <a:r>
              <a:rPr lang="en-US" sz="3200" dirty="0" smtClean="0">
                <a:solidFill>
                  <a:srgbClr val="FF0000"/>
                </a:solidFill>
              </a:rPr>
              <a:t>Best Practices for Drag and Drop Module</a:t>
            </a:r>
          </a:p>
        </p:txBody>
      </p:sp>
      <p:sp>
        <p:nvSpPr>
          <p:cNvPr id="3" name="Content Placeholder 2"/>
          <p:cNvSpPr>
            <a:spLocks noGrp="1"/>
          </p:cNvSpPr>
          <p:nvPr>
            <p:ph idx="1"/>
          </p:nvPr>
        </p:nvSpPr>
        <p:spPr>
          <a:xfrm>
            <a:off x="457200" y="914400"/>
            <a:ext cx="8229600" cy="5638800"/>
          </a:xfrm>
        </p:spPr>
        <p:txBody>
          <a:bodyPr rtlCol="0">
            <a:normAutofit/>
          </a:bodyPr>
          <a:lstStyle/>
          <a:p>
            <a:pPr>
              <a:buFont typeface="Wingdings" pitchFamily="2" charset="2"/>
              <a:buChar char="v"/>
            </a:pPr>
            <a:r>
              <a:rPr lang="en-US" sz="2800" dirty="0" smtClean="0"/>
              <a:t>Use the placeholder approach when showing a clear preview during drag is important.</a:t>
            </a:r>
          </a:p>
          <a:p>
            <a:pPr>
              <a:buFont typeface="Wingdings" pitchFamily="2" charset="2"/>
              <a:buChar char="v"/>
            </a:pPr>
            <a:r>
              <a:rPr lang="en-US" sz="2800" dirty="0" smtClean="0"/>
              <a:t>Use the insertion bar approach when you want to avoid page jitter.</a:t>
            </a:r>
          </a:p>
          <a:p>
            <a:pPr>
              <a:buFont typeface="Wingdings" pitchFamily="2" charset="2"/>
              <a:buChar char="v"/>
            </a:pPr>
            <a:r>
              <a:rPr lang="en-US" sz="2800" dirty="0" smtClean="0"/>
              <a:t>Use the midpoint of the dragged object to determine drag position.</a:t>
            </a:r>
          </a:p>
          <a:p>
            <a:pPr>
              <a:buFont typeface="Wingdings" pitchFamily="2" charset="2"/>
              <a:buChar char="v"/>
            </a:pPr>
            <a:r>
              <a:rPr lang="en-US" sz="2800" dirty="0" smtClean="0"/>
              <a:t>Use a slightly transparent version of the object being dragged (ghost) instead of an opaque version.</a:t>
            </a:r>
          </a:p>
          <a:p>
            <a:pPr>
              <a:buFont typeface="Wingdings" pitchFamily="2" charset="2"/>
              <a:buChar char="v"/>
            </a:pPr>
            <a:r>
              <a:rPr lang="en-US" sz="2800" dirty="0" smtClean="0"/>
              <a:t>If you drag thumbnail representations, use the insertion bar targeting approach.</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r>
              <a:rPr lang="en-US" sz="2800" dirty="0" smtClean="0">
                <a:solidFill>
                  <a:srgbClr val="FF0000"/>
                </a:solidFill>
              </a:rPr>
              <a:t>The Drag and Drop List  for rearranging items in a list</a:t>
            </a:r>
            <a:endParaRPr lang="en-US" sz="3200" dirty="0" smtClean="0">
              <a:solidFill>
                <a:srgbClr val="FF0000"/>
              </a:solidFill>
            </a:endParaRPr>
          </a:p>
        </p:txBody>
      </p:sp>
      <p:pic>
        <p:nvPicPr>
          <p:cNvPr id="19461" name="Picture 5"/>
          <p:cNvPicPr>
            <a:picLocks noGrp="1" noChangeAspect="1" noChangeArrowheads="1"/>
          </p:cNvPicPr>
          <p:nvPr>
            <p:ph sz="half" idx="1"/>
          </p:nvPr>
        </p:nvPicPr>
        <p:blipFill>
          <a:blip r:embed="rId2"/>
          <a:stretch>
            <a:fillRect/>
          </a:stretch>
        </p:blipFill>
        <p:spPr bwMode="auto">
          <a:xfrm>
            <a:off x="533400" y="1371600"/>
            <a:ext cx="3657600" cy="1828800"/>
          </a:xfrm>
          <a:prstGeom prst="rect">
            <a:avLst/>
          </a:prstGeom>
          <a:noFill/>
          <a:ln w="9525">
            <a:noFill/>
            <a:miter lim="800000"/>
            <a:headEnd/>
            <a:tailEnd/>
          </a:ln>
          <a:effectLst/>
        </p:spPr>
      </p:pic>
      <p:sp>
        <p:nvSpPr>
          <p:cNvPr id="6" name="Content Placeholder 5"/>
          <p:cNvSpPr>
            <a:spLocks noGrp="1"/>
          </p:cNvSpPr>
          <p:nvPr>
            <p:ph sz="half" idx="2"/>
          </p:nvPr>
        </p:nvSpPr>
        <p:spPr/>
        <p:txBody>
          <a:bodyPr/>
          <a:lstStyle/>
          <a:p>
            <a:r>
              <a:rPr lang="en-US" dirty="0" smtClean="0">
                <a:solidFill>
                  <a:srgbClr val="00B0F0"/>
                </a:solidFill>
              </a:rPr>
              <a:t>Normal display state</a:t>
            </a:r>
          </a:p>
          <a:p>
            <a:pPr>
              <a:buNone/>
            </a:pPr>
            <a:r>
              <a:rPr lang="en-US" dirty="0" smtClean="0"/>
              <a:t>	</a:t>
            </a:r>
            <a:r>
              <a:rPr lang="en-US" sz="2000" dirty="0" smtClean="0"/>
              <a:t>List items are displayed without any indication that the items can be rearranged</a:t>
            </a:r>
          </a:p>
          <a:p>
            <a:r>
              <a:rPr lang="en-US" dirty="0" smtClean="0">
                <a:solidFill>
                  <a:srgbClr val="00B0F0"/>
                </a:solidFill>
              </a:rPr>
              <a:t>Invitation to drag</a:t>
            </a:r>
          </a:p>
          <a:p>
            <a:pPr>
              <a:buNone/>
            </a:pPr>
            <a:r>
              <a:rPr lang="en-US" sz="2000" dirty="0" smtClean="0"/>
              <a:t>	One of the in-context tools revealed during mouse hover shows a four-way arrow indicating that the object can be moved.</a:t>
            </a:r>
            <a:endParaRPr lang="en-US" sz="2000" dirty="0"/>
          </a:p>
        </p:txBody>
      </p:sp>
      <p:pic>
        <p:nvPicPr>
          <p:cNvPr id="19462" name="Picture 6"/>
          <p:cNvPicPr>
            <a:picLocks noChangeAspect="1" noChangeArrowheads="1"/>
          </p:cNvPicPr>
          <p:nvPr/>
        </p:nvPicPr>
        <p:blipFill>
          <a:blip r:embed="rId3"/>
          <a:srcRect/>
          <a:stretch>
            <a:fillRect/>
          </a:stretch>
        </p:blipFill>
        <p:spPr bwMode="auto">
          <a:xfrm>
            <a:off x="533400" y="3352800"/>
            <a:ext cx="3733800" cy="2590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r>
              <a:rPr lang="en-US" sz="2800" dirty="0" smtClean="0">
                <a:solidFill>
                  <a:srgbClr val="FF0000"/>
                </a:solidFill>
              </a:rPr>
              <a:t>The Drag and Drop List  for rearranging items in a list</a:t>
            </a:r>
            <a:endParaRPr lang="en-US" sz="3200" dirty="0" smtClean="0">
              <a:solidFill>
                <a:srgbClr val="FF0000"/>
              </a:solidFill>
            </a:endParaRPr>
          </a:p>
        </p:txBody>
      </p:sp>
      <p:sp>
        <p:nvSpPr>
          <p:cNvPr id="6" name="Content Placeholder 5"/>
          <p:cNvSpPr>
            <a:spLocks noGrp="1"/>
          </p:cNvSpPr>
          <p:nvPr>
            <p:ph sz="half" idx="2"/>
          </p:nvPr>
        </p:nvSpPr>
        <p:spPr/>
        <p:txBody>
          <a:bodyPr/>
          <a:lstStyle/>
          <a:p>
            <a:r>
              <a:rPr lang="en-US" dirty="0" smtClean="0">
                <a:solidFill>
                  <a:srgbClr val="00B0F0"/>
                </a:solidFill>
              </a:rPr>
              <a:t>Dragging</a:t>
            </a:r>
          </a:p>
          <a:p>
            <a:pPr>
              <a:buNone/>
            </a:pPr>
            <a:r>
              <a:rPr lang="en-US" dirty="0" smtClean="0"/>
              <a:t>	</a:t>
            </a:r>
            <a:r>
              <a:rPr lang="en-US" sz="2400" dirty="0" smtClean="0"/>
              <a:t>Rearranging occurs in real time. An empty slot is exposed where the dragged item will fit</a:t>
            </a:r>
            <a:r>
              <a:rPr lang="en-US" dirty="0" smtClean="0"/>
              <a:t>.</a:t>
            </a:r>
          </a:p>
          <a:p>
            <a:r>
              <a:rPr lang="en-US" dirty="0" smtClean="0">
                <a:solidFill>
                  <a:srgbClr val="00B0F0"/>
                </a:solidFill>
              </a:rPr>
              <a:t>Dropped</a:t>
            </a:r>
          </a:p>
          <a:p>
            <a:pPr>
              <a:buNone/>
            </a:pPr>
            <a:r>
              <a:rPr lang="en-US" dirty="0" smtClean="0"/>
              <a:t>	</a:t>
            </a:r>
            <a:r>
              <a:rPr lang="en-US" sz="2400" dirty="0" smtClean="0"/>
              <a:t>The item snaps into the new location (where the hole was opened up).</a:t>
            </a:r>
            <a:endParaRPr lang="en-US" sz="2400" dirty="0"/>
          </a:p>
        </p:txBody>
      </p:sp>
      <p:pic>
        <p:nvPicPr>
          <p:cNvPr id="55298" name="Picture 2"/>
          <p:cNvPicPr>
            <a:picLocks noGrp="1" noChangeAspect="1" noChangeArrowheads="1"/>
          </p:cNvPicPr>
          <p:nvPr>
            <p:ph sz="half" idx="1"/>
          </p:nvPr>
        </p:nvPicPr>
        <p:blipFill>
          <a:blip r:embed="rId2"/>
          <a:srcRect/>
          <a:stretch>
            <a:fillRect/>
          </a:stretch>
        </p:blipFill>
        <p:spPr bwMode="auto">
          <a:xfrm>
            <a:off x="1066800" y="1371600"/>
            <a:ext cx="3505200" cy="2057400"/>
          </a:xfrm>
          <a:prstGeom prst="rect">
            <a:avLst/>
          </a:prstGeom>
          <a:noFill/>
          <a:ln w="9525">
            <a:noFill/>
            <a:miter lim="800000"/>
            <a:headEnd/>
            <a:tailEnd/>
          </a:ln>
          <a:effectLst/>
        </p:spPr>
      </p:pic>
      <p:pic>
        <p:nvPicPr>
          <p:cNvPr id="55299" name="Picture 3"/>
          <p:cNvPicPr>
            <a:picLocks noChangeAspect="1" noChangeArrowheads="1"/>
          </p:cNvPicPr>
          <p:nvPr/>
        </p:nvPicPr>
        <p:blipFill>
          <a:blip r:embed="rId3"/>
          <a:srcRect/>
          <a:stretch>
            <a:fillRect/>
          </a:stretch>
        </p:blipFill>
        <p:spPr bwMode="auto">
          <a:xfrm>
            <a:off x="914400" y="4267200"/>
            <a:ext cx="3733800" cy="1828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162800" cy="717550"/>
          </a:xfrm>
        </p:spPr>
        <p:txBody>
          <a:bodyPr rtlCol="0">
            <a:normAutofit/>
          </a:bodyPr>
          <a:lstStyle/>
          <a:p>
            <a:pPr algn="ctr" eaLnBrk="1" fontAlgn="auto" hangingPunct="1">
              <a:spcAft>
                <a:spcPts val="0"/>
              </a:spcAft>
              <a:defRPr/>
            </a:pPr>
            <a:r>
              <a:rPr lang="en-US" sz="3200" b="0" dirty="0" smtClean="0">
                <a:solidFill>
                  <a:srgbClr val="FF0000"/>
                </a:solidFill>
              </a:rPr>
              <a:t>Drag Lens</a:t>
            </a:r>
          </a:p>
        </p:txBody>
      </p:sp>
      <p:pic>
        <p:nvPicPr>
          <p:cNvPr id="21508" name="Picture 4"/>
          <p:cNvPicPr>
            <a:picLocks noGrp="1" noChangeAspect="1" noChangeArrowheads="1"/>
          </p:cNvPicPr>
          <p:nvPr>
            <p:ph idx="1"/>
          </p:nvPr>
        </p:nvPicPr>
        <p:blipFill>
          <a:blip r:embed="rId2"/>
          <a:stretch>
            <a:fillRect/>
          </a:stretch>
        </p:blipFill>
        <p:spPr bwMode="auto">
          <a:xfrm>
            <a:off x="5638800" y="2057400"/>
            <a:ext cx="1333500" cy="1905000"/>
          </a:xfrm>
          <a:prstGeom prst="rect">
            <a:avLst/>
          </a:prstGeom>
          <a:noFill/>
          <a:ln w="9525">
            <a:noFill/>
            <a:miter lim="800000"/>
            <a:headEnd/>
            <a:tailEnd/>
          </a:ln>
          <a:effectLst/>
        </p:spPr>
      </p:pic>
      <p:sp>
        <p:nvSpPr>
          <p:cNvPr id="5" name="Text Placeholder 4"/>
          <p:cNvSpPr>
            <a:spLocks noGrp="1"/>
          </p:cNvSpPr>
          <p:nvPr>
            <p:ph type="body" sz="half" idx="2"/>
          </p:nvPr>
        </p:nvSpPr>
        <p:spPr>
          <a:xfrm>
            <a:off x="457200" y="1435100"/>
            <a:ext cx="4267200" cy="4691063"/>
          </a:xfrm>
        </p:spPr>
        <p:txBody>
          <a:bodyPr/>
          <a:lstStyle/>
          <a:p>
            <a:pPr>
              <a:buFont typeface="Wingdings" pitchFamily="2" charset="2"/>
              <a:buChar char="ü"/>
            </a:pPr>
            <a:r>
              <a:rPr lang="en-US" sz="2400" dirty="0" smtClean="0"/>
              <a:t>A drag lens provides a view into a different part of the list that can serve as a shortcut</a:t>
            </a:r>
          </a:p>
          <a:p>
            <a:r>
              <a:rPr lang="en-US" sz="2400" dirty="0" smtClean="0"/>
              <a:t>target. </a:t>
            </a:r>
          </a:p>
          <a:p>
            <a:pPr>
              <a:buFont typeface="Wingdings" pitchFamily="2" charset="2"/>
              <a:buChar char="ü"/>
            </a:pPr>
            <a:r>
              <a:rPr lang="en-US" sz="2400" dirty="0" smtClean="0"/>
              <a:t>It could be a fixed area that is always visible, or it could be a miniature view of the list that provides more rows for targeting. </a:t>
            </a:r>
          </a:p>
          <a:p>
            <a:pPr>
              <a:buFont typeface="Wingdings" pitchFamily="2" charset="2"/>
              <a:buChar char="ü"/>
            </a:pPr>
            <a:r>
              <a:rPr lang="en-US" sz="2400" dirty="0" smtClean="0"/>
              <a:t>The lens will be made visible only during dragging.</a:t>
            </a:r>
            <a:endParaRPr lang="en-US" sz="2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457200" y="274638"/>
            <a:ext cx="8229600" cy="639762"/>
          </a:xfrm>
        </p:spPr>
        <p:txBody>
          <a:bodyPr/>
          <a:lstStyle/>
          <a:p>
            <a:pPr eaLnBrk="1" hangingPunct="1"/>
            <a:r>
              <a:rPr lang="en-US" sz="3200" dirty="0" smtClean="0">
                <a:solidFill>
                  <a:srgbClr val="FF0000"/>
                </a:solidFill>
              </a:rPr>
              <a:t>Best Practices for Drag and Drop List</a:t>
            </a:r>
          </a:p>
        </p:txBody>
      </p:sp>
      <p:sp>
        <p:nvSpPr>
          <p:cNvPr id="3" name="Content Placeholder 2"/>
          <p:cNvSpPr>
            <a:spLocks noGrp="1"/>
          </p:cNvSpPr>
          <p:nvPr>
            <p:ph idx="1"/>
          </p:nvPr>
        </p:nvSpPr>
        <p:spPr>
          <a:xfrm>
            <a:off x="457200" y="914400"/>
            <a:ext cx="8229600" cy="5211763"/>
          </a:xfrm>
        </p:spPr>
        <p:txBody>
          <a:bodyPr rtlCol="0">
            <a:normAutofit fontScale="85000" lnSpcReduction="20000"/>
          </a:bodyPr>
          <a:lstStyle/>
          <a:p>
            <a:pPr>
              <a:buFont typeface="Wingdings" pitchFamily="2" charset="2"/>
              <a:buChar char="v"/>
            </a:pPr>
            <a:r>
              <a:rPr lang="en-US" dirty="0" smtClean="0"/>
              <a:t>If possible, drag the items in a list in real time using the placeholder target approach.</a:t>
            </a:r>
          </a:p>
          <a:p>
            <a:pPr>
              <a:buFont typeface="Wingdings" pitchFamily="2" charset="2"/>
              <a:buChar char="v"/>
            </a:pPr>
            <a:r>
              <a:rPr lang="en-US" dirty="0" smtClean="0"/>
              <a:t> Use the mouse position for drag target positioning.</a:t>
            </a:r>
          </a:p>
          <a:p>
            <a:pPr>
              <a:buFont typeface="Wingdings" pitchFamily="2" charset="2"/>
              <a:buChar char="v"/>
            </a:pPr>
            <a:r>
              <a:rPr lang="en-US" dirty="0" smtClean="0"/>
              <a:t> If the goal is speed of dragging or if dragged items are large, consider using the insertion target approach, as rendering an insertion bar is inexpensive compared to dynamically rearranging the list.</a:t>
            </a:r>
          </a:p>
          <a:p>
            <a:pPr>
              <a:buFont typeface="Wingdings" pitchFamily="2" charset="2"/>
              <a:buChar char="v"/>
            </a:pPr>
            <a:r>
              <a:rPr lang="en-US" dirty="0" smtClean="0"/>
              <a:t>Since drag and drop in lists is not easily discoverable, consider providing an alternate way to rearrange the list.</a:t>
            </a:r>
          </a:p>
          <a:p>
            <a:pPr>
              <a:buFont typeface="Wingdings" pitchFamily="2" charset="2"/>
              <a:buChar char="v"/>
            </a:pPr>
            <a:r>
              <a:rPr lang="en-US" dirty="0" smtClean="0"/>
              <a:t>When the user rearranges the list with an alternate method, use that moment for a onetime advertisement for drag and drop.</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rtlCol="0">
            <a:normAutofit/>
          </a:bodyPr>
          <a:lstStyle/>
          <a:p>
            <a:pPr eaLnBrk="1" fontAlgn="auto" hangingPunct="1">
              <a:spcAft>
                <a:spcPts val="0"/>
              </a:spcAft>
              <a:defRPr/>
            </a:pPr>
            <a:r>
              <a:rPr lang="en-US" sz="2800" dirty="0" smtClean="0">
                <a:solidFill>
                  <a:srgbClr val="FF0000"/>
                </a:solidFill>
              </a:rPr>
              <a:t>Drag and Drop Object</a:t>
            </a:r>
            <a:endParaRPr lang="en-US" sz="3200" dirty="0" smtClean="0">
              <a:solidFill>
                <a:srgbClr val="FF0000"/>
              </a:solidFill>
            </a:endParaRPr>
          </a:p>
        </p:txBody>
      </p:sp>
      <p:sp>
        <p:nvSpPr>
          <p:cNvPr id="3" name="Content Placeholder 2"/>
          <p:cNvSpPr>
            <a:spLocks noGrp="1"/>
          </p:cNvSpPr>
          <p:nvPr>
            <p:ph idx="1"/>
          </p:nvPr>
        </p:nvSpPr>
        <p:spPr>
          <a:xfrm>
            <a:off x="457200" y="1066800"/>
            <a:ext cx="8229600" cy="5059363"/>
          </a:xfrm>
        </p:spPr>
        <p:txBody>
          <a:bodyPr rtlCol="0">
            <a:normAutofit/>
          </a:bodyPr>
          <a:lstStyle/>
          <a:p>
            <a:r>
              <a:rPr lang="en-US" sz="2800" dirty="0" smtClean="0"/>
              <a:t>Another common use for drag and drop is to change relationships between objects. This is appropriate when the relationships can be represented visually.</a:t>
            </a:r>
          </a:p>
          <a:p>
            <a:r>
              <a:rPr lang="en-US" sz="2800" dirty="0" smtClean="0"/>
              <a:t>Drag and Drop Object is used to rearrange members of the organization</a:t>
            </a:r>
            <a:endParaRPr lang="en-US" sz="2800" dirty="0" smtClean="0">
              <a:solidFill>
                <a:srgbClr val="C00000"/>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3200" dirty="0" smtClean="0">
                <a:solidFill>
                  <a:srgbClr val="FF0000"/>
                </a:solidFill>
              </a:rPr>
              <a:t>Drag and Drop Object</a:t>
            </a:r>
            <a:endParaRPr lang="en-US" sz="3200" dirty="0">
              <a:solidFill>
                <a:srgbClr val="FF0000"/>
              </a:solidFill>
            </a:endParaRPr>
          </a:p>
        </p:txBody>
      </p:sp>
      <p:sp>
        <p:nvSpPr>
          <p:cNvPr id="6" name="Content Placeholder 5"/>
          <p:cNvSpPr>
            <a:spLocks noGrp="1"/>
          </p:cNvSpPr>
          <p:nvPr>
            <p:ph sz="half" idx="2"/>
          </p:nvPr>
        </p:nvSpPr>
        <p:spPr>
          <a:xfrm>
            <a:off x="4648200" y="1219200"/>
            <a:ext cx="4038600" cy="5029200"/>
          </a:xfrm>
        </p:spPr>
        <p:txBody>
          <a:bodyPr/>
          <a:lstStyle/>
          <a:p>
            <a:r>
              <a:rPr lang="en-US" dirty="0" smtClean="0">
                <a:solidFill>
                  <a:srgbClr val="00B0F0"/>
                </a:solidFill>
              </a:rPr>
              <a:t>Normal display state</a:t>
            </a:r>
          </a:p>
          <a:p>
            <a:pPr>
              <a:buNone/>
            </a:pPr>
            <a:r>
              <a:rPr lang="en-US" dirty="0" smtClean="0"/>
              <a:t>	</a:t>
            </a:r>
            <a:r>
              <a:rPr lang="en-US" sz="2400" dirty="0" smtClean="0"/>
              <a:t>An organizational chart visually represents relationships.</a:t>
            </a:r>
          </a:p>
          <a:p>
            <a:pPr>
              <a:buNone/>
            </a:pPr>
            <a:endParaRPr lang="en-US" sz="2400" dirty="0" smtClean="0"/>
          </a:p>
          <a:p>
            <a:r>
              <a:rPr lang="en-US" dirty="0" smtClean="0">
                <a:solidFill>
                  <a:srgbClr val="00B0F0"/>
                </a:solidFill>
              </a:rPr>
              <a:t>Invitation to drag</a:t>
            </a:r>
          </a:p>
          <a:p>
            <a:pPr>
              <a:buNone/>
            </a:pPr>
            <a:r>
              <a:rPr lang="en-US" dirty="0" smtClean="0"/>
              <a:t>	</a:t>
            </a:r>
            <a:r>
              <a:rPr lang="en-US" sz="2400" dirty="0" smtClean="0"/>
              <a:t>When the mouse hovers over a member of the organization, the cursor changes to show </a:t>
            </a:r>
            <a:r>
              <a:rPr lang="en-US" sz="2400" dirty="0" err="1" smtClean="0"/>
              <a:t>draggability</a:t>
            </a:r>
            <a:r>
              <a:rPr lang="en-US" sz="2400" dirty="0" smtClean="0"/>
              <a:t>.</a:t>
            </a:r>
            <a:endParaRPr lang="en-US" sz="2400" dirty="0" smtClean="0">
              <a:solidFill>
                <a:srgbClr val="00B0F0"/>
              </a:solidFill>
            </a:endParaRPr>
          </a:p>
        </p:txBody>
      </p:sp>
      <p:pic>
        <p:nvPicPr>
          <p:cNvPr id="24582" name="Picture 6"/>
          <p:cNvPicPr>
            <a:picLocks noGrp="1" noChangeAspect="1" noChangeArrowheads="1"/>
          </p:cNvPicPr>
          <p:nvPr>
            <p:ph sz="half" idx="1"/>
          </p:nvPr>
        </p:nvPicPr>
        <p:blipFill>
          <a:blip r:embed="rId2"/>
          <a:srcRect/>
          <a:stretch>
            <a:fillRect/>
          </a:stretch>
        </p:blipFill>
        <p:spPr bwMode="auto">
          <a:xfrm>
            <a:off x="762000" y="1371600"/>
            <a:ext cx="3276600" cy="1905000"/>
          </a:xfrm>
          <a:prstGeom prst="rect">
            <a:avLst/>
          </a:prstGeom>
          <a:noFill/>
          <a:ln w="9525">
            <a:noFill/>
            <a:miter lim="800000"/>
            <a:headEnd/>
            <a:tailEnd/>
          </a:ln>
          <a:effectLst/>
        </p:spPr>
      </p:pic>
      <p:pic>
        <p:nvPicPr>
          <p:cNvPr id="59394" name="Picture 2"/>
          <p:cNvPicPr>
            <a:picLocks noChangeAspect="1" noChangeArrowheads="1"/>
          </p:cNvPicPr>
          <p:nvPr/>
        </p:nvPicPr>
        <p:blipFill>
          <a:blip r:embed="rId3"/>
          <a:srcRect/>
          <a:stretch>
            <a:fillRect/>
          </a:stretch>
        </p:blipFill>
        <p:spPr bwMode="auto">
          <a:xfrm>
            <a:off x="1371600" y="3962400"/>
            <a:ext cx="2819400" cy="2590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3200" dirty="0" smtClean="0">
                <a:solidFill>
                  <a:srgbClr val="FF0000"/>
                </a:solidFill>
              </a:rPr>
              <a:t>Drag and Drop Object</a:t>
            </a:r>
            <a:endParaRPr lang="en-US" sz="3200" dirty="0">
              <a:solidFill>
                <a:srgbClr val="FF0000"/>
              </a:solidFill>
            </a:endParaRPr>
          </a:p>
        </p:txBody>
      </p:sp>
      <p:sp>
        <p:nvSpPr>
          <p:cNvPr id="6" name="Content Placeholder 5"/>
          <p:cNvSpPr>
            <a:spLocks noGrp="1"/>
          </p:cNvSpPr>
          <p:nvPr>
            <p:ph sz="half" idx="2"/>
          </p:nvPr>
        </p:nvSpPr>
        <p:spPr>
          <a:xfrm>
            <a:off x="4648200" y="1219200"/>
            <a:ext cx="4038600" cy="5029200"/>
          </a:xfrm>
        </p:spPr>
        <p:txBody>
          <a:bodyPr/>
          <a:lstStyle/>
          <a:p>
            <a:r>
              <a:rPr lang="en-US" dirty="0" smtClean="0">
                <a:solidFill>
                  <a:srgbClr val="00B0F0"/>
                </a:solidFill>
              </a:rPr>
              <a:t>Dragging</a:t>
            </a:r>
          </a:p>
          <a:p>
            <a:pPr>
              <a:buNone/>
            </a:pPr>
            <a:r>
              <a:rPr lang="en-US" dirty="0" smtClean="0"/>
              <a:t>	</a:t>
            </a:r>
            <a:r>
              <a:rPr lang="en-US" sz="2400" dirty="0" smtClean="0"/>
              <a:t>An insertion bar is used to indicate where the</a:t>
            </a:r>
          </a:p>
          <a:p>
            <a:pPr>
              <a:buNone/>
            </a:pPr>
            <a:r>
              <a:rPr lang="en-US" sz="2400" dirty="0" smtClean="0"/>
              <a:t>	member will be inserted when dropped</a:t>
            </a:r>
            <a:r>
              <a:rPr lang="en-US" dirty="0" smtClean="0"/>
              <a:t>.</a:t>
            </a:r>
          </a:p>
          <a:p>
            <a:pPr>
              <a:buNone/>
            </a:pPr>
            <a:r>
              <a:rPr lang="en-US" sz="2400" dirty="0" smtClean="0"/>
              <a:t>	</a:t>
            </a:r>
          </a:p>
          <a:p>
            <a:r>
              <a:rPr lang="en-US" dirty="0" smtClean="0">
                <a:solidFill>
                  <a:srgbClr val="00B0F0"/>
                </a:solidFill>
              </a:rPr>
              <a:t>Dropped</a:t>
            </a:r>
          </a:p>
          <a:p>
            <a:pPr>
              <a:buNone/>
            </a:pPr>
            <a:r>
              <a:rPr lang="en-US" sz="2400" dirty="0" smtClean="0"/>
              <a:t>	When the dragged member is dropped, the chart is rearranged to accommodate the new location.</a:t>
            </a:r>
            <a:endParaRPr lang="en-US" sz="2400" dirty="0"/>
          </a:p>
        </p:txBody>
      </p:sp>
      <p:pic>
        <p:nvPicPr>
          <p:cNvPr id="24582" name="Picture 6"/>
          <p:cNvPicPr>
            <a:picLocks noGrp="1" noChangeAspect="1" noChangeArrowheads="1"/>
          </p:cNvPicPr>
          <p:nvPr>
            <p:ph sz="half" idx="1"/>
          </p:nvPr>
        </p:nvPicPr>
        <p:blipFill>
          <a:blip r:embed="rId2"/>
          <a:srcRect/>
          <a:stretch>
            <a:fillRect/>
          </a:stretch>
        </p:blipFill>
        <p:spPr bwMode="auto">
          <a:xfrm>
            <a:off x="762000" y="1371600"/>
            <a:ext cx="3276600" cy="1905000"/>
          </a:xfrm>
          <a:prstGeom prst="rect">
            <a:avLst/>
          </a:prstGeom>
          <a:noFill/>
          <a:ln w="9525">
            <a:noFill/>
            <a:miter lim="800000"/>
            <a:headEnd/>
            <a:tailEnd/>
          </a:ln>
          <a:effectLst/>
        </p:spPr>
      </p:pic>
      <p:pic>
        <p:nvPicPr>
          <p:cNvPr id="24583" name="Picture 7"/>
          <p:cNvPicPr>
            <a:picLocks noChangeAspect="1" noChangeArrowheads="1"/>
          </p:cNvPicPr>
          <p:nvPr/>
        </p:nvPicPr>
        <p:blipFill>
          <a:blip r:embed="rId3"/>
          <a:srcRect/>
          <a:stretch>
            <a:fillRect/>
          </a:stretch>
        </p:blipFill>
        <p:spPr bwMode="auto">
          <a:xfrm>
            <a:off x="762000" y="4191000"/>
            <a:ext cx="3200400" cy="1676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200" dirty="0" smtClean="0">
                <a:solidFill>
                  <a:srgbClr val="FF0000"/>
                </a:solidFill>
              </a:rPr>
              <a:t>Best Practices for Drag and Drop Object</a:t>
            </a:r>
            <a:endParaRPr lang="en-US" sz="3200" dirty="0">
              <a:solidFill>
                <a:srgbClr val="FF0000"/>
              </a:solidFill>
            </a:endParaRPr>
          </a:p>
        </p:txBody>
      </p:sp>
      <p:sp>
        <p:nvSpPr>
          <p:cNvPr id="5" name="Content Placeholder 4"/>
          <p:cNvSpPr>
            <a:spLocks noGrp="1"/>
          </p:cNvSpPr>
          <p:nvPr>
            <p:ph idx="1"/>
          </p:nvPr>
        </p:nvSpPr>
        <p:spPr/>
        <p:txBody>
          <a:bodyPr/>
          <a:lstStyle/>
          <a:p>
            <a:pPr>
              <a:buFont typeface="Wingdings" pitchFamily="2" charset="2"/>
              <a:buChar char="v"/>
            </a:pPr>
            <a:r>
              <a:rPr lang="en-US" sz="2000" dirty="0" smtClean="0"/>
              <a:t>If objects are represented in a complex visual relationship, use insertion targeting to indicate drop location (minimizes disturbing the page during drag).</a:t>
            </a:r>
          </a:p>
          <a:p>
            <a:pPr>
              <a:buFont typeface="Wingdings" pitchFamily="2" charset="2"/>
              <a:buChar char="v"/>
            </a:pPr>
            <a:r>
              <a:rPr lang="en-US" sz="2000" dirty="0" smtClean="0"/>
              <a:t>For parent/child relationships, highlight the parent as well to indicate drop location.</a:t>
            </a:r>
          </a:p>
          <a:p>
            <a:pPr>
              <a:buFont typeface="Wingdings" pitchFamily="2" charset="2"/>
              <a:buChar char="v"/>
            </a:pPr>
            <a:r>
              <a:rPr lang="en-US" sz="2000" dirty="0" smtClean="0"/>
              <a:t> If possible, reveal drag affordances on mouse hover to indicate </a:t>
            </a:r>
            <a:r>
              <a:rPr lang="en-US" sz="2000" dirty="0" err="1" smtClean="0"/>
              <a:t>draggability</a:t>
            </a:r>
            <a:r>
              <a:rPr lang="en-US" sz="2000" dirty="0" smtClean="0"/>
              <a:t>.</a:t>
            </a:r>
          </a:p>
          <a:p>
            <a:pPr>
              <a:buFont typeface="Wingdings" pitchFamily="2" charset="2"/>
              <a:buChar char="v"/>
            </a:pPr>
            <a:r>
              <a:rPr lang="en-US" sz="2000" dirty="0" smtClean="0"/>
              <a:t> Initiate drag when the mouse is dragged three pixels or if the mouse is held down for at least half a second.</a:t>
            </a:r>
          </a:p>
          <a:p>
            <a:pPr>
              <a:buFont typeface="Wingdings" pitchFamily="2" charset="2"/>
              <a:buChar char="v"/>
            </a:pPr>
            <a:r>
              <a:rPr lang="en-US" sz="2000" dirty="0" smtClean="0"/>
              <a:t> Position dragged objects directly in sync with the cursor. Offsetting will make the drag feel disjointed.</a:t>
            </a:r>
          </a:p>
          <a:p>
            <a:pPr>
              <a:buFont typeface="Wingdings" pitchFamily="2" charset="2"/>
              <a:buChar char="v"/>
            </a:pPr>
            <a:r>
              <a:rPr lang="en-US" sz="2000" dirty="0" smtClean="0"/>
              <a:t> When hovering over a </a:t>
            </a:r>
            <a:r>
              <a:rPr lang="en-US" sz="2000" dirty="0" err="1" smtClean="0"/>
              <a:t>draggable</a:t>
            </a:r>
            <a:r>
              <a:rPr lang="en-US" sz="2000" dirty="0" smtClean="0"/>
              <a:t> object, change the cursor to indicate </a:t>
            </a:r>
            <a:r>
              <a:rPr lang="en-US" sz="2000" dirty="0" err="1" smtClean="0"/>
              <a:t>draggability</a:t>
            </a:r>
            <a:r>
              <a:rPr lang="en-US" sz="2000" dirty="0" smtClean="0"/>
              <a:t>.</a:t>
            </a:r>
            <a:endParaRPr lang="en-US" sz="20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200" dirty="0" smtClean="0">
                <a:solidFill>
                  <a:srgbClr val="FF0000"/>
                </a:solidFill>
              </a:rPr>
              <a:t>Drag and Drop Action</a:t>
            </a:r>
            <a:endParaRPr lang="en-US" sz="3200" dirty="0">
              <a:solidFill>
                <a:srgbClr val="FF0000"/>
              </a:solidFill>
            </a:endParaRPr>
          </a:p>
        </p:txBody>
      </p:sp>
      <p:sp>
        <p:nvSpPr>
          <p:cNvPr id="5" name="Content Placeholder 4"/>
          <p:cNvSpPr>
            <a:spLocks noGrp="1"/>
          </p:cNvSpPr>
          <p:nvPr>
            <p:ph idx="1"/>
          </p:nvPr>
        </p:nvSpPr>
        <p:spPr/>
        <p:txBody>
          <a:bodyPr/>
          <a:lstStyle/>
          <a:p>
            <a:r>
              <a:rPr lang="en-US" sz="2800" dirty="0" smtClean="0"/>
              <a:t>Drag and drop is also useful for invoking an action or actions on a dropped object. </a:t>
            </a:r>
          </a:p>
          <a:p>
            <a:r>
              <a:rPr lang="en-US" sz="2800" dirty="0" smtClean="0"/>
              <a:t>Its most familiar example is dropping an item in the trash to perform the delete action.</a:t>
            </a:r>
            <a:endParaRPr lang="en-US" sz="28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sz="3200" dirty="0" smtClean="0">
                <a:solidFill>
                  <a:srgbClr val="FF0000"/>
                </a:solidFill>
              </a:rPr>
              <a:t>Drag and Drop Action</a:t>
            </a:r>
          </a:p>
        </p:txBody>
      </p:sp>
      <p:sp>
        <p:nvSpPr>
          <p:cNvPr id="9" name="Content Placeholder 8"/>
          <p:cNvSpPr>
            <a:spLocks noGrp="1"/>
          </p:cNvSpPr>
          <p:nvPr>
            <p:ph sz="half" idx="2"/>
          </p:nvPr>
        </p:nvSpPr>
        <p:spPr>
          <a:xfrm>
            <a:off x="4724400" y="1371600"/>
            <a:ext cx="4038600" cy="4754563"/>
          </a:xfrm>
        </p:spPr>
        <p:txBody>
          <a:bodyPr/>
          <a:lstStyle/>
          <a:p>
            <a:r>
              <a:rPr lang="en-US" dirty="0" smtClean="0">
                <a:solidFill>
                  <a:srgbClr val="00B0F0"/>
                </a:solidFill>
              </a:rPr>
              <a:t>Normal display state</a:t>
            </a:r>
          </a:p>
          <a:p>
            <a:pPr>
              <a:buNone/>
            </a:pPr>
            <a:r>
              <a:rPr lang="en-US" sz="2000" dirty="0" smtClean="0"/>
              <a:t>	Route is shown in dark purple.</a:t>
            </a:r>
          </a:p>
          <a:p>
            <a:pPr>
              <a:buNone/>
            </a:pPr>
            <a:endParaRPr lang="en-US" sz="2000" dirty="0" smtClean="0"/>
          </a:p>
          <a:p>
            <a:pPr>
              <a:buNone/>
            </a:pPr>
            <a:endParaRPr lang="en-US" sz="2000" dirty="0" smtClean="0"/>
          </a:p>
          <a:p>
            <a:pPr>
              <a:buNone/>
            </a:pPr>
            <a:endParaRPr lang="en-US" sz="2000" dirty="0" smtClean="0"/>
          </a:p>
          <a:p>
            <a:pPr>
              <a:buNone/>
            </a:pPr>
            <a:endParaRPr lang="en-US" sz="2000" dirty="0" smtClean="0"/>
          </a:p>
          <a:p>
            <a:r>
              <a:rPr lang="en-US" dirty="0" smtClean="0">
                <a:solidFill>
                  <a:srgbClr val="00B0F0"/>
                </a:solidFill>
              </a:rPr>
              <a:t>Invitation to drag</a:t>
            </a:r>
          </a:p>
          <a:p>
            <a:pPr>
              <a:buNone/>
            </a:pPr>
            <a:r>
              <a:rPr lang="en-US" sz="2000" dirty="0" smtClean="0"/>
              <a:t>	Hovering over any part of the route provides a </a:t>
            </a:r>
            <a:r>
              <a:rPr lang="en-US" sz="2000" dirty="0" err="1" smtClean="0"/>
              <a:t>draggable</a:t>
            </a:r>
            <a:r>
              <a:rPr lang="en-US" sz="2000" dirty="0" smtClean="0"/>
              <a:t> circle (route point) with a tool tip saying “Drag to change route”.</a:t>
            </a:r>
            <a:endParaRPr lang="en-US" sz="2000" dirty="0"/>
          </a:p>
        </p:txBody>
      </p:sp>
      <p:pic>
        <p:nvPicPr>
          <p:cNvPr id="27654" name="Picture 6"/>
          <p:cNvPicPr>
            <a:picLocks noGrp="1" noChangeAspect="1" noChangeArrowheads="1"/>
          </p:cNvPicPr>
          <p:nvPr>
            <p:ph sz="half" idx="1"/>
          </p:nvPr>
        </p:nvPicPr>
        <p:blipFill>
          <a:blip r:embed="rId2"/>
          <a:srcRect/>
          <a:stretch>
            <a:fillRect/>
          </a:stretch>
        </p:blipFill>
        <p:spPr bwMode="auto">
          <a:xfrm>
            <a:off x="914400" y="1524000"/>
            <a:ext cx="3657600" cy="1981200"/>
          </a:xfrm>
          <a:prstGeom prst="rect">
            <a:avLst/>
          </a:prstGeom>
          <a:noFill/>
          <a:ln w="9525">
            <a:noFill/>
            <a:miter lim="800000"/>
            <a:headEnd/>
            <a:tailEnd/>
          </a:ln>
          <a:effectLst/>
        </p:spPr>
      </p:pic>
      <p:pic>
        <p:nvPicPr>
          <p:cNvPr id="27655" name="Picture 7"/>
          <p:cNvPicPr>
            <a:picLocks noChangeAspect="1" noChangeArrowheads="1"/>
          </p:cNvPicPr>
          <p:nvPr/>
        </p:nvPicPr>
        <p:blipFill>
          <a:blip r:embed="rId3"/>
          <a:srcRect/>
          <a:stretch>
            <a:fillRect/>
          </a:stretch>
        </p:blipFill>
        <p:spPr bwMode="auto">
          <a:xfrm>
            <a:off x="914400" y="3962400"/>
            <a:ext cx="3733800" cy="2057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sz="3200" dirty="0" smtClean="0">
                <a:solidFill>
                  <a:srgbClr val="FF0000"/>
                </a:solidFill>
              </a:rPr>
              <a:t>Drag and Drop Action</a:t>
            </a:r>
          </a:p>
        </p:txBody>
      </p:sp>
      <p:sp>
        <p:nvSpPr>
          <p:cNvPr id="9" name="Content Placeholder 8"/>
          <p:cNvSpPr>
            <a:spLocks noGrp="1"/>
          </p:cNvSpPr>
          <p:nvPr>
            <p:ph sz="half" idx="2"/>
          </p:nvPr>
        </p:nvSpPr>
        <p:spPr>
          <a:xfrm>
            <a:off x="4648200" y="1371600"/>
            <a:ext cx="4038600" cy="4754563"/>
          </a:xfrm>
        </p:spPr>
        <p:txBody>
          <a:bodyPr/>
          <a:lstStyle/>
          <a:p>
            <a:r>
              <a:rPr lang="en-US" dirty="0" smtClean="0">
                <a:solidFill>
                  <a:srgbClr val="00B0F0"/>
                </a:solidFill>
              </a:rPr>
              <a:t>Dragging</a:t>
            </a:r>
          </a:p>
          <a:p>
            <a:pPr>
              <a:buNone/>
            </a:pPr>
            <a:r>
              <a:rPr lang="en-US" sz="2000" dirty="0" smtClean="0"/>
              <a:t>	We want to stay on the east side of the bay and cross the San Mateo bridge. Dragging the route</a:t>
            </a:r>
          </a:p>
          <a:p>
            <a:pPr>
              <a:buNone/>
            </a:pPr>
            <a:r>
              <a:rPr lang="en-US" sz="2000" dirty="0" smtClean="0"/>
              <a:t>       bubble back over the bridge will reroute our trip.</a:t>
            </a:r>
          </a:p>
          <a:p>
            <a:endParaRPr lang="en-US" sz="2000" dirty="0" smtClean="0"/>
          </a:p>
          <a:p>
            <a:r>
              <a:rPr lang="en-US" dirty="0" smtClean="0">
                <a:solidFill>
                  <a:srgbClr val="00B0F0"/>
                </a:solidFill>
              </a:rPr>
              <a:t>Dropped</a:t>
            </a:r>
          </a:p>
          <a:p>
            <a:pPr>
              <a:buNone/>
            </a:pPr>
            <a:r>
              <a:rPr lang="en-US" sz="2000" dirty="0" smtClean="0"/>
              <a:t>	The route changes as we drag. Dropping completes the rerouting action.</a:t>
            </a:r>
            <a:endParaRPr lang="en-US" sz="2000" dirty="0"/>
          </a:p>
        </p:txBody>
      </p:sp>
      <p:pic>
        <p:nvPicPr>
          <p:cNvPr id="57349" name="Picture 5"/>
          <p:cNvPicPr>
            <a:picLocks noGrp="1" noChangeAspect="1" noChangeArrowheads="1"/>
          </p:cNvPicPr>
          <p:nvPr>
            <p:ph sz="half" idx="1"/>
          </p:nvPr>
        </p:nvPicPr>
        <p:blipFill>
          <a:blip r:embed="rId2"/>
          <a:srcRect/>
          <a:stretch>
            <a:fillRect/>
          </a:stretch>
        </p:blipFill>
        <p:spPr bwMode="auto">
          <a:xfrm>
            <a:off x="1143000" y="1371600"/>
            <a:ext cx="3276600" cy="2057400"/>
          </a:xfrm>
          <a:prstGeom prst="rect">
            <a:avLst/>
          </a:prstGeom>
          <a:noFill/>
          <a:ln w="9525">
            <a:noFill/>
            <a:miter lim="800000"/>
            <a:headEnd/>
            <a:tailEnd/>
          </a:ln>
          <a:effectLst/>
        </p:spPr>
      </p:pic>
      <p:pic>
        <p:nvPicPr>
          <p:cNvPr id="57350" name="Picture 6"/>
          <p:cNvPicPr>
            <a:picLocks noChangeAspect="1" noChangeArrowheads="1"/>
          </p:cNvPicPr>
          <p:nvPr/>
        </p:nvPicPr>
        <p:blipFill>
          <a:blip r:embed="rId3"/>
          <a:srcRect/>
          <a:stretch>
            <a:fillRect/>
          </a:stretch>
        </p:blipFill>
        <p:spPr bwMode="auto">
          <a:xfrm>
            <a:off x="1066800" y="3733800"/>
            <a:ext cx="3429000" cy="2286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457200" y="274638"/>
            <a:ext cx="8229600" cy="715962"/>
          </a:xfrm>
        </p:spPr>
        <p:txBody>
          <a:bodyPr/>
          <a:lstStyle/>
          <a:p>
            <a:pPr eaLnBrk="1" hangingPunct="1"/>
            <a:r>
              <a:rPr lang="en-US" sz="3200" dirty="0" smtClean="0">
                <a:solidFill>
                  <a:srgbClr val="FF0000"/>
                </a:solidFill>
              </a:rPr>
              <a:t>Best Practices for Drag and Drop Action</a:t>
            </a:r>
          </a:p>
        </p:txBody>
      </p:sp>
      <p:sp>
        <p:nvSpPr>
          <p:cNvPr id="5" name="Content Placeholder 4"/>
          <p:cNvSpPr>
            <a:spLocks noGrp="1"/>
          </p:cNvSpPr>
          <p:nvPr>
            <p:ph idx="1"/>
          </p:nvPr>
        </p:nvSpPr>
        <p:spPr>
          <a:xfrm>
            <a:off x="457200" y="1219200"/>
            <a:ext cx="8229600" cy="4724400"/>
          </a:xfrm>
        </p:spPr>
        <p:txBody>
          <a:bodyPr/>
          <a:lstStyle/>
          <a:p>
            <a:pPr>
              <a:buFont typeface="Wingdings" pitchFamily="2" charset="2"/>
              <a:buChar char="v"/>
            </a:pPr>
            <a:r>
              <a:rPr lang="en-US" sz="2400" dirty="0" smtClean="0"/>
              <a:t>Use Drag and Drop Actions sparingly in web interfaces, as they are not as discoverable or expected.</a:t>
            </a:r>
          </a:p>
          <a:p>
            <a:pPr>
              <a:buFont typeface="Wingdings" pitchFamily="2" charset="2"/>
              <a:buChar char="v"/>
            </a:pPr>
            <a:r>
              <a:rPr lang="en-US" sz="2400" dirty="0" smtClean="0"/>
              <a:t>Provide alternate ways to accomplish the action. Use the Drag and Drop Action as a shortcut mechanism.</a:t>
            </a:r>
          </a:p>
          <a:p>
            <a:pPr>
              <a:buFont typeface="Wingdings" pitchFamily="2" charset="2"/>
              <a:buChar char="v"/>
            </a:pPr>
            <a:r>
              <a:rPr lang="en-US" sz="2400" dirty="0" smtClean="0"/>
              <a:t> Don’t use drag and drop for setting simple attributes. Instead use a more direct approach to setting attributes on the object.</a:t>
            </a:r>
          </a:p>
          <a:p>
            <a:pPr>
              <a:buFont typeface="Wingdings" pitchFamily="2" charset="2"/>
              <a:buChar char="v"/>
            </a:pPr>
            <a:r>
              <a:rPr lang="en-US" sz="2400" dirty="0" smtClean="0"/>
              <a:t>Don’t construct an artificial visual representation for the sole purpose of implementing drag and drop. Drag and drop should follow the natural representation of the objects in the interface.</a:t>
            </a:r>
          </a:p>
          <a:p>
            <a:pPr>
              <a:buFont typeface="Wingdings" pitchFamily="2" charset="2"/>
              <a:buChar char="v"/>
            </a:pPr>
            <a:r>
              <a:rPr lang="en-US" sz="2400" dirty="0" smtClean="0"/>
              <a:t>Provide clear invitations on hover to indicate the associated action.</a:t>
            </a:r>
            <a:endParaRPr lang="en-US" sz="24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457200" y="274638"/>
            <a:ext cx="8229600" cy="639762"/>
          </a:xfrm>
        </p:spPr>
        <p:txBody>
          <a:bodyPr/>
          <a:lstStyle/>
          <a:p>
            <a:pPr eaLnBrk="1" hangingPunct="1"/>
            <a:r>
              <a:rPr lang="en-US" sz="3200" dirty="0" smtClean="0">
                <a:solidFill>
                  <a:srgbClr val="FF0000"/>
                </a:solidFill>
              </a:rPr>
              <a:t>Drag and Drop Collection</a:t>
            </a:r>
          </a:p>
        </p:txBody>
      </p:sp>
      <p:sp>
        <p:nvSpPr>
          <p:cNvPr id="4" name="Content Placeholder 3"/>
          <p:cNvSpPr>
            <a:spLocks noGrp="1"/>
          </p:cNvSpPr>
          <p:nvPr>
            <p:ph idx="1"/>
          </p:nvPr>
        </p:nvSpPr>
        <p:spPr/>
        <p:txBody>
          <a:bodyPr/>
          <a:lstStyle/>
          <a:p>
            <a:pPr>
              <a:buFont typeface="Arial" pitchFamily="34" charset="0"/>
              <a:buChar char="•"/>
            </a:pPr>
            <a:r>
              <a:rPr lang="en-US" sz="2400" dirty="0" smtClean="0"/>
              <a:t>A variation on dragging objects is collecting objects for purchase, bookmarking, or saving into a temporary area.</a:t>
            </a:r>
          </a:p>
          <a:p>
            <a:pPr>
              <a:buFont typeface="Arial" pitchFamily="34" charset="0"/>
              <a:buChar char="•"/>
            </a:pPr>
            <a:r>
              <a:rPr lang="en-US" sz="2400" dirty="0" smtClean="0"/>
              <a:t>This type of interaction is called Drag and Drop Collection.</a:t>
            </a:r>
            <a:endParaRPr lang="en-US" sz="24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sz="3200" dirty="0" smtClean="0">
                <a:solidFill>
                  <a:srgbClr val="FF0000"/>
                </a:solidFill>
              </a:rPr>
              <a:t>Drag and Drop Collection</a:t>
            </a:r>
            <a:endParaRPr lang="en-US" sz="3200" dirty="0" smtClean="0"/>
          </a:p>
        </p:txBody>
      </p:sp>
      <p:sp>
        <p:nvSpPr>
          <p:cNvPr id="9" name="Content Placeholder 8"/>
          <p:cNvSpPr>
            <a:spLocks noGrp="1"/>
          </p:cNvSpPr>
          <p:nvPr>
            <p:ph sz="half" idx="2"/>
          </p:nvPr>
        </p:nvSpPr>
        <p:spPr>
          <a:xfrm>
            <a:off x="4648200" y="1371600"/>
            <a:ext cx="4038600" cy="5486400"/>
          </a:xfrm>
        </p:spPr>
        <p:txBody>
          <a:bodyPr/>
          <a:lstStyle/>
          <a:p>
            <a:r>
              <a:rPr lang="en-US" dirty="0" smtClean="0">
                <a:solidFill>
                  <a:srgbClr val="00B0F0"/>
                </a:solidFill>
              </a:rPr>
              <a:t>Normal display state</a:t>
            </a:r>
          </a:p>
          <a:p>
            <a:pPr>
              <a:buNone/>
            </a:pPr>
            <a:r>
              <a:rPr lang="en-US" sz="2400" dirty="0" smtClean="0"/>
              <a:t>	The shopping cart is docked on the right part of the screen.</a:t>
            </a:r>
            <a:endParaRPr lang="en-US" sz="2400" dirty="0" smtClean="0">
              <a:solidFill>
                <a:srgbClr val="00B0F0"/>
              </a:solidFill>
            </a:endParaRPr>
          </a:p>
          <a:p>
            <a:r>
              <a:rPr lang="en-US" dirty="0" smtClean="0">
                <a:solidFill>
                  <a:srgbClr val="00B0F0"/>
                </a:solidFill>
              </a:rPr>
              <a:t>Invitation to drag</a:t>
            </a:r>
          </a:p>
          <a:p>
            <a:pPr>
              <a:buNone/>
            </a:pPr>
            <a:r>
              <a:rPr lang="en-US" sz="2000" dirty="0" smtClean="0"/>
              <a:t>	</a:t>
            </a:r>
            <a:r>
              <a:rPr lang="en-US" sz="2400" dirty="0" smtClean="0"/>
              <a:t>You can add to the cart with the “+ cart” button or you can drag the item to the shopping cart. If you use the button, the item flies to the cart; the cart bumps open and closed briefly to indicate that the item has been entered.</a:t>
            </a:r>
          </a:p>
          <a:p>
            <a:pPr>
              <a:buNone/>
            </a:pPr>
            <a:endParaRPr lang="en-US" sz="2000" dirty="0" smtClean="0"/>
          </a:p>
          <a:p>
            <a:pPr>
              <a:buNone/>
            </a:pPr>
            <a:r>
              <a:rPr lang="en-US" sz="2000" dirty="0" smtClean="0"/>
              <a:t>.</a:t>
            </a:r>
          </a:p>
        </p:txBody>
      </p:sp>
      <p:pic>
        <p:nvPicPr>
          <p:cNvPr id="32774" name="Picture 6"/>
          <p:cNvPicPr>
            <a:picLocks noGrp="1" noChangeAspect="1" noChangeArrowheads="1"/>
          </p:cNvPicPr>
          <p:nvPr>
            <p:ph sz="half" idx="1"/>
          </p:nvPr>
        </p:nvPicPr>
        <p:blipFill>
          <a:blip r:embed="rId2"/>
          <a:srcRect/>
          <a:stretch>
            <a:fillRect/>
          </a:stretch>
        </p:blipFill>
        <p:spPr bwMode="auto">
          <a:xfrm>
            <a:off x="762000" y="1524000"/>
            <a:ext cx="3124200" cy="1905000"/>
          </a:xfrm>
          <a:prstGeom prst="rect">
            <a:avLst/>
          </a:prstGeom>
          <a:noFill/>
          <a:ln w="9525">
            <a:noFill/>
            <a:miter lim="800000"/>
            <a:headEnd/>
            <a:tailEnd/>
          </a:ln>
          <a:effectLst/>
        </p:spPr>
      </p:pic>
      <p:pic>
        <p:nvPicPr>
          <p:cNvPr id="32775" name="Picture 7"/>
          <p:cNvPicPr>
            <a:picLocks noChangeAspect="1" noChangeArrowheads="1"/>
          </p:cNvPicPr>
          <p:nvPr/>
        </p:nvPicPr>
        <p:blipFill>
          <a:blip r:embed="rId3"/>
          <a:srcRect/>
          <a:stretch>
            <a:fillRect/>
          </a:stretch>
        </p:blipFill>
        <p:spPr bwMode="auto">
          <a:xfrm>
            <a:off x="838200" y="3962400"/>
            <a:ext cx="3276600" cy="2057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sz="3200" dirty="0" smtClean="0">
                <a:solidFill>
                  <a:srgbClr val="FF0000"/>
                </a:solidFill>
              </a:rPr>
              <a:t>Drag and Drop Collection</a:t>
            </a:r>
            <a:endParaRPr lang="en-US" sz="3200" dirty="0" smtClean="0"/>
          </a:p>
        </p:txBody>
      </p:sp>
      <p:sp>
        <p:nvSpPr>
          <p:cNvPr id="9" name="Content Placeholder 8"/>
          <p:cNvSpPr>
            <a:spLocks noGrp="1"/>
          </p:cNvSpPr>
          <p:nvPr>
            <p:ph sz="half" idx="2"/>
          </p:nvPr>
        </p:nvSpPr>
        <p:spPr/>
        <p:txBody>
          <a:bodyPr/>
          <a:lstStyle/>
          <a:p>
            <a:r>
              <a:rPr lang="en-US" dirty="0" smtClean="0">
                <a:solidFill>
                  <a:srgbClr val="00B0F0"/>
                </a:solidFill>
              </a:rPr>
              <a:t>Dragging</a:t>
            </a:r>
          </a:p>
          <a:p>
            <a:pPr>
              <a:buNone/>
            </a:pPr>
            <a:r>
              <a:rPr lang="en-US" dirty="0" smtClean="0"/>
              <a:t>	</a:t>
            </a:r>
            <a:r>
              <a:rPr lang="en-US" sz="2400" dirty="0" smtClean="0"/>
              <a:t>The item gets a dragging</a:t>
            </a:r>
          </a:p>
          <a:p>
            <a:pPr>
              <a:buNone/>
            </a:pPr>
            <a:r>
              <a:rPr lang="en-US" sz="2400" dirty="0" smtClean="0"/>
              <a:t>	treatment.</a:t>
            </a:r>
          </a:p>
          <a:p>
            <a:pPr>
              <a:buNone/>
            </a:pPr>
            <a:endParaRPr lang="en-US" sz="2400" dirty="0" smtClean="0"/>
          </a:p>
          <a:p>
            <a:endParaRPr lang="en-US" dirty="0" smtClean="0">
              <a:solidFill>
                <a:srgbClr val="00B0F0"/>
              </a:solidFill>
            </a:endParaRPr>
          </a:p>
          <a:p>
            <a:r>
              <a:rPr lang="en-US" dirty="0" smtClean="0">
                <a:solidFill>
                  <a:srgbClr val="00B0F0"/>
                </a:solidFill>
              </a:rPr>
              <a:t>Dropped</a:t>
            </a:r>
          </a:p>
          <a:p>
            <a:pPr>
              <a:buNone/>
            </a:pPr>
            <a:r>
              <a:rPr lang="en-US" sz="2400" dirty="0" smtClean="0"/>
              <a:t>	The cart is populated with the new item.</a:t>
            </a:r>
            <a:endParaRPr lang="en-US" sz="2400" dirty="0" smtClean="0">
              <a:solidFill>
                <a:srgbClr val="00B0F0"/>
              </a:solidFill>
            </a:endParaRPr>
          </a:p>
        </p:txBody>
      </p:sp>
      <p:pic>
        <p:nvPicPr>
          <p:cNvPr id="58370" name="Picture 2"/>
          <p:cNvPicPr>
            <a:picLocks noGrp="1" noChangeAspect="1" noChangeArrowheads="1"/>
          </p:cNvPicPr>
          <p:nvPr>
            <p:ph sz="half" idx="1"/>
          </p:nvPr>
        </p:nvPicPr>
        <p:blipFill>
          <a:blip r:embed="rId2"/>
          <a:srcRect/>
          <a:stretch>
            <a:fillRect/>
          </a:stretch>
        </p:blipFill>
        <p:spPr bwMode="auto">
          <a:xfrm>
            <a:off x="762000" y="1371600"/>
            <a:ext cx="3200400" cy="1752600"/>
          </a:xfrm>
          <a:prstGeom prst="rect">
            <a:avLst/>
          </a:prstGeom>
          <a:noFill/>
          <a:ln w="9525">
            <a:noFill/>
            <a:miter lim="800000"/>
            <a:headEnd/>
            <a:tailEnd/>
          </a:ln>
          <a:effectLst/>
        </p:spPr>
      </p:pic>
      <p:pic>
        <p:nvPicPr>
          <p:cNvPr id="58371" name="Picture 3"/>
          <p:cNvPicPr>
            <a:picLocks noChangeAspect="1" noChangeArrowheads="1"/>
          </p:cNvPicPr>
          <p:nvPr/>
        </p:nvPicPr>
        <p:blipFill>
          <a:blip r:embed="rId3"/>
          <a:srcRect/>
          <a:stretch>
            <a:fillRect/>
          </a:stretch>
        </p:blipFill>
        <p:spPr bwMode="auto">
          <a:xfrm>
            <a:off x="838200" y="3886200"/>
            <a:ext cx="3352800" cy="1981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457200" y="274638"/>
            <a:ext cx="8229600" cy="715962"/>
          </a:xfrm>
        </p:spPr>
        <p:txBody>
          <a:bodyPr/>
          <a:lstStyle/>
          <a:p>
            <a:pPr eaLnBrk="1" hangingPunct="1"/>
            <a:r>
              <a:rPr lang="en-US" sz="3200" dirty="0" smtClean="0">
                <a:solidFill>
                  <a:srgbClr val="FF0000"/>
                </a:solidFill>
              </a:rPr>
              <a:t>Best Practices for Drag and Drop Collection</a:t>
            </a:r>
          </a:p>
        </p:txBody>
      </p:sp>
      <p:sp>
        <p:nvSpPr>
          <p:cNvPr id="34819" name="Content Placeholder 2"/>
          <p:cNvSpPr>
            <a:spLocks noGrp="1"/>
          </p:cNvSpPr>
          <p:nvPr>
            <p:ph idx="1"/>
          </p:nvPr>
        </p:nvSpPr>
        <p:spPr>
          <a:xfrm>
            <a:off x="457200" y="1219200"/>
            <a:ext cx="8229600" cy="4906963"/>
          </a:xfrm>
        </p:spPr>
        <p:txBody>
          <a:bodyPr/>
          <a:lstStyle/>
          <a:p>
            <a:pPr>
              <a:buFont typeface="Wingdings" pitchFamily="2" charset="2"/>
              <a:buChar char="v"/>
            </a:pPr>
            <a:r>
              <a:rPr lang="en-US" sz="2400" dirty="0" smtClean="0"/>
              <a:t>Use as an alternate way to collect items (e.g., a shopping cart).</a:t>
            </a:r>
          </a:p>
          <a:p>
            <a:pPr>
              <a:buFont typeface="Wingdings" pitchFamily="2" charset="2"/>
              <a:buChar char="v"/>
            </a:pPr>
            <a:r>
              <a:rPr lang="en-US" sz="2400" dirty="0" smtClean="0"/>
              <a:t>When a drag gets initiated, highlight the valid drop area to hint where drop is available.</a:t>
            </a:r>
          </a:p>
          <a:p>
            <a:pPr>
              <a:buFont typeface="Wingdings" pitchFamily="2" charset="2"/>
              <a:buChar char="v"/>
            </a:pPr>
            <a:r>
              <a:rPr lang="en-US" sz="2400" dirty="0" smtClean="0"/>
              <a:t>Provide alternate cues that drag and drop into collections as available.</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457200" y="274638"/>
            <a:ext cx="8229600" cy="487362"/>
          </a:xfrm>
        </p:spPr>
        <p:txBody>
          <a:bodyPr/>
          <a:lstStyle/>
          <a:p>
            <a:pPr eaLnBrk="1" hangingPunct="1"/>
            <a:r>
              <a:rPr lang="en-US" sz="3200" dirty="0" smtClean="0">
                <a:solidFill>
                  <a:srgbClr val="FF0000"/>
                </a:solidFill>
              </a:rPr>
              <a:t>General Best Practices for Drag and Drop</a:t>
            </a:r>
          </a:p>
        </p:txBody>
      </p:sp>
      <p:sp>
        <p:nvSpPr>
          <p:cNvPr id="35843" name="Content Placeholder 2"/>
          <p:cNvSpPr>
            <a:spLocks noGrp="1"/>
          </p:cNvSpPr>
          <p:nvPr>
            <p:ph idx="1"/>
          </p:nvPr>
        </p:nvSpPr>
        <p:spPr>
          <a:xfrm>
            <a:off x="457200" y="990600"/>
            <a:ext cx="8229600" cy="5135563"/>
          </a:xfrm>
        </p:spPr>
        <p:txBody>
          <a:bodyPr/>
          <a:lstStyle/>
          <a:p>
            <a:pPr>
              <a:buFont typeface="Wingdings" pitchFamily="2" charset="2"/>
              <a:buChar char="ü"/>
            </a:pPr>
            <a:r>
              <a:rPr lang="en-US" sz="2400" dirty="0" smtClean="0"/>
              <a:t>Keep page jitter to a minimum while dragging objects.</a:t>
            </a:r>
          </a:p>
          <a:p>
            <a:pPr>
              <a:buFont typeface="Wingdings" pitchFamily="2" charset="2"/>
              <a:buChar char="ü"/>
            </a:pPr>
            <a:r>
              <a:rPr lang="en-US" sz="2400" dirty="0" smtClean="0"/>
              <a:t>Initiate dragging if the user presses the mouse down and moves the mouse three pixels, or if she holds the mouse down for at least half a second.</a:t>
            </a:r>
          </a:p>
          <a:p>
            <a:pPr>
              <a:buFont typeface="Wingdings" pitchFamily="2" charset="2"/>
              <a:buChar char="ü"/>
            </a:pPr>
            <a:r>
              <a:rPr lang="en-US" sz="2400" dirty="0" smtClean="0"/>
              <a:t>Use drag and drop for performing direct actions as an alternate method to more direct mechanisms in the interface.</a:t>
            </a:r>
          </a:p>
          <a:p>
            <a:pPr>
              <a:buFont typeface="Wingdings" pitchFamily="2" charset="2"/>
              <a:buChar char="ü"/>
            </a:pPr>
            <a:r>
              <a:rPr lang="en-US" sz="2400" dirty="0" smtClean="0"/>
              <a:t>Hint at the availability of drag and drop when using alternatives to drag and drop.</a:t>
            </a:r>
          </a:p>
          <a:p>
            <a:pPr>
              <a:buFont typeface="Wingdings" pitchFamily="2" charset="2"/>
              <a:buChar char="ü"/>
            </a:pPr>
            <a:r>
              <a:rPr lang="en-US" sz="2400" dirty="0" smtClean="0"/>
              <a:t>Pay attention to all of the interesting moments during drag and drop. Remember, you must keep the user informed throughout the process.</a:t>
            </a:r>
          </a:p>
          <a:p>
            <a:pPr>
              <a:buFont typeface="Wingdings" pitchFamily="2" charset="2"/>
              <a:buChar char="ü"/>
            </a:pPr>
            <a:r>
              <a:rPr lang="en-US" sz="2400" dirty="0" smtClean="0"/>
              <a:t>Use Invitations to cue the user that drag and drop is available.</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548</TotalTime>
  <Words>1762</Words>
  <Application>Microsoft Office PowerPoint</Application>
  <PresentationFormat>On-screen Show (4:3)</PresentationFormat>
  <Paragraphs>192</Paragraphs>
  <Slides>31</Slides>
  <Notes>1</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WEB UI- DRAG and DROP</vt:lpstr>
      <vt:lpstr>DRAG and DROP </vt:lpstr>
      <vt:lpstr>EVENTS</vt:lpstr>
      <vt:lpstr>EVENTS</vt:lpstr>
      <vt:lpstr>ACTORS</vt:lpstr>
      <vt:lpstr>Interesting Moments Grid</vt:lpstr>
      <vt:lpstr>Interesting Moments Grid </vt:lpstr>
      <vt:lpstr>Purpose of Drag and Drop</vt:lpstr>
      <vt:lpstr>Drag and Drop Module</vt:lpstr>
      <vt:lpstr>Approaches for drop</vt:lpstr>
      <vt:lpstr>Placeholder Target</vt:lpstr>
      <vt:lpstr>Insertion target </vt:lpstr>
      <vt:lpstr>Ghosting</vt:lpstr>
      <vt:lpstr>Best Practices for Drag and Drop Module</vt:lpstr>
      <vt:lpstr>The Drag and Drop List  for rearranging items in a list</vt:lpstr>
      <vt:lpstr>The Drag and Drop List  for rearranging items in a list</vt:lpstr>
      <vt:lpstr>Drag Lens</vt:lpstr>
      <vt:lpstr>Best Practices for Drag and Drop List</vt:lpstr>
      <vt:lpstr>Drag and Drop Object</vt:lpstr>
      <vt:lpstr>Drag and Drop Object</vt:lpstr>
      <vt:lpstr>Drag and Drop Object</vt:lpstr>
      <vt:lpstr>Best Practices for Drag and Drop Object</vt:lpstr>
      <vt:lpstr>Drag and Drop Action</vt:lpstr>
      <vt:lpstr>Drag and Drop Action</vt:lpstr>
      <vt:lpstr>Drag and Drop Action</vt:lpstr>
      <vt:lpstr>Best Practices for Drag and Drop Action</vt:lpstr>
      <vt:lpstr>Drag and Drop Collection</vt:lpstr>
      <vt:lpstr>Drag and Drop Collection</vt:lpstr>
      <vt:lpstr>Drag and Drop Collection</vt:lpstr>
      <vt:lpstr>Best Practices for Drag and Drop Collection</vt:lpstr>
      <vt:lpstr>General Best Practices for Drag and Drop</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Administrator</dc:creator>
  <cp:lastModifiedBy>staff</cp:lastModifiedBy>
  <cp:revision>60</cp:revision>
  <dcterms:created xsi:type="dcterms:W3CDTF">2016-09-28T06:17:43Z</dcterms:created>
  <dcterms:modified xsi:type="dcterms:W3CDTF">2024-09-02T09:29:55Z</dcterms:modified>
</cp:coreProperties>
</file>