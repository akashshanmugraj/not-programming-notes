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Lobster"/>
      <p:regular r:id="rId18"/>
    </p:embeddedFont>
    <p:embeddedFont>
      <p:font typeface="Montserrat"/>
      <p:regular r:id="rId19"/>
      <p:bold r:id="rId20"/>
      <p:italic r:id="rId21"/>
      <p:boldItalic r:id="rId22"/>
    </p:embeddedFont>
    <p:embeddedFont>
      <p:font typeface="Lato"/>
      <p:regular r:id="rId23"/>
      <p:bold r:id="rId24"/>
      <p:italic r:id="rId25"/>
      <p:boldItalic r:id="rId26"/>
    </p:embeddedFont>
    <p:embeddedFont>
      <p:font typeface="Lexend"/>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28" Type="http://schemas.openxmlformats.org/officeDocument/2006/relationships/font" Target="fonts/Lexend-bold.fntdata"/><Relationship Id="rId27" Type="http://schemas.openxmlformats.org/officeDocument/2006/relationships/font" Target="fonts/Lexen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regular.fntdata"/><Relationship Id="rId18" Type="http://schemas.openxmlformats.org/officeDocument/2006/relationships/font" Target="fonts/Lobst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6f889893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6f8898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c6f889893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c6f88989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c6f889893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c6f88989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6f889893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6f88989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c6f889893_0_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c6f88989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5dd099537_0_1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5dd099537_0_1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5dd099537_0_1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5dd099537_0_1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5dd099537_0_1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5dd099537_0_1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5dd099537_0_1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5dd099537_0_1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a249f94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a249f94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a249f94d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a249f94d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5dd099537_0_1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5dd099537_0_1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2147675" y="547175"/>
            <a:ext cx="7017600" cy="2093100"/>
          </a:xfrm>
          <a:prstGeom prst="rect">
            <a:avLst/>
          </a:prstGeom>
        </p:spPr>
        <p:txBody>
          <a:bodyPr anchorCtr="0" anchor="t" bIns="91425" lIns="91425" spcFirstLastPara="1" rIns="91425" wrap="square" tIns="91425">
            <a:normAutofit/>
          </a:bodyPr>
          <a:lstStyle/>
          <a:p>
            <a:pPr indent="0" lvl="0" marL="457200" rtl="0" algn="ctr">
              <a:lnSpc>
                <a:spcPct val="115000"/>
              </a:lnSpc>
              <a:spcBef>
                <a:spcPts val="0"/>
              </a:spcBef>
              <a:spcAft>
                <a:spcPts val="0"/>
              </a:spcAft>
              <a:buNone/>
            </a:pPr>
            <a:r>
              <a:rPr b="1" lang="en" sz="2500">
                <a:latin typeface="Lato"/>
                <a:ea typeface="Lato"/>
                <a:cs typeface="Lato"/>
                <a:sym typeface="Lato"/>
              </a:rPr>
              <a:t>Accounting system (Describe the functions of the presentation tier, application tier, and data tier.)</a:t>
            </a:r>
            <a:endParaRPr b="1" sz="2500">
              <a:latin typeface="Lato"/>
              <a:ea typeface="Lato"/>
              <a:cs typeface="Lato"/>
              <a:sym typeface="Lato"/>
            </a:endParaRPr>
          </a:p>
        </p:txBody>
      </p:sp>
      <p:sp>
        <p:nvSpPr>
          <p:cNvPr id="135" name="Google Shape;135;p13"/>
          <p:cNvSpPr txBox="1"/>
          <p:nvPr>
            <p:ph idx="1" type="subTitle"/>
          </p:nvPr>
        </p:nvSpPr>
        <p:spPr>
          <a:xfrm>
            <a:off x="5293975" y="2503350"/>
            <a:ext cx="3461100" cy="19308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23Z464   -   SIBI M</a:t>
            </a:r>
            <a:endParaRPr sz="19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23Z465   -   SRIRAM  R</a:t>
            </a:r>
            <a:endParaRPr sz="19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23Z466   -   THARUN D</a:t>
            </a:r>
            <a:endParaRPr sz="19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23Z467   -   VARUN PRASAD S</a:t>
            </a:r>
            <a:endParaRPr sz="19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22Z301   -    AARAV CHHABRA</a:t>
            </a:r>
            <a:endParaRPr sz="1900">
              <a:latin typeface="Times New Roman"/>
              <a:ea typeface="Times New Roman"/>
              <a:cs typeface="Times New Roman"/>
              <a:sym typeface="Times New Roman"/>
            </a:endParaRPr>
          </a:p>
        </p:txBody>
      </p:sp>
      <p:sp>
        <p:nvSpPr>
          <p:cNvPr id="136" name="Google Shape;136;p13"/>
          <p:cNvSpPr txBox="1"/>
          <p:nvPr/>
        </p:nvSpPr>
        <p:spPr>
          <a:xfrm>
            <a:off x="3064225" y="3707150"/>
            <a:ext cx="610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324875" y="339050"/>
            <a:ext cx="7038900" cy="741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600">
                <a:latin typeface="Arial"/>
                <a:ea typeface="Arial"/>
                <a:cs typeface="Arial"/>
                <a:sym typeface="Arial"/>
              </a:rPr>
              <a:t>    </a:t>
            </a:r>
            <a:r>
              <a:rPr b="1" lang="en" sz="3122">
                <a:latin typeface="Arial"/>
                <a:ea typeface="Arial"/>
                <a:cs typeface="Arial"/>
                <a:sym typeface="Arial"/>
              </a:rPr>
              <a:t>  Introduction to Accounting Systems</a:t>
            </a:r>
            <a:endParaRPr b="1" sz="3122">
              <a:latin typeface="Arial"/>
              <a:ea typeface="Arial"/>
              <a:cs typeface="Arial"/>
              <a:sym typeface="Arial"/>
            </a:endParaRPr>
          </a:p>
        </p:txBody>
      </p:sp>
      <p:sp>
        <p:nvSpPr>
          <p:cNvPr id="142" name="Google Shape;142;p14"/>
          <p:cNvSpPr txBox="1"/>
          <p:nvPr>
            <p:ph idx="1" type="body"/>
          </p:nvPr>
        </p:nvSpPr>
        <p:spPr>
          <a:xfrm>
            <a:off x="1053325" y="998600"/>
            <a:ext cx="7906800" cy="3679800"/>
          </a:xfrm>
          <a:prstGeom prst="rect">
            <a:avLst/>
          </a:prstGeom>
        </p:spPr>
        <p:txBody>
          <a:bodyPr anchorCtr="0" anchor="t" bIns="91425" lIns="91425" spcFirstLastPara="1" rIns="91425" wrap="square" tIns="91425">
            <a:normAutofit fontScale="25000" lnSpcReduction="20000"/>
          </a:bodyPr>
          <a:lstStyle/>
          <a:p>
            <a:pPr indent="0" lvl="0" marL="0" rtl="0" algn="l">
              <a:lnSpc>
                <a:spcPct val="150000"/>
              </a:lnSpc>
              <a:spcBef>
                <a:spcPts val="1200"/>
              </a:spcBef>
              <a:spcAft>
                <a:spcPts val="0"/>
              </a:spcAft>
              <a:buNone/>
            </a:pPr>
            <a:r>
              <a:rPr lang="en" sz="6744">
                <a:latin typeface="Arial"/>
                <a:ea typeface="Arial"/>
                <a:cs typeface="Arial"/>
                <a:sym typeface="Arial"/>
              </a:rPr>
              <a:t>An accounting system is a system used by organizations to record, process, and manage financial transactions such as sales, purchases, expenses, and payments. It helps businesses keep accurate financial records and monitor their financial performance.</a:t>
            </a:r>
            <a:endParaRPr sz="6744">
              <a:latin typeface="Arial"/>
              <a:ea typeface="Arial"/>
              <a:cs typeface="Arial"/>
              <a:sym typeface="Arial"/>
            </a:endParaRPr>
          </a:p>
          <a:p>
            <a:pPr indent="0" lvl="0" marL="0" rtl="0" algn="l">
              <a:lnSpc>
                <a:spcPct val="100000"/>
              </a:lnSpc>
              <a:spcBef>
                <a:spcPts val="1200"/>
              </a:spcBef>
              <a:spcAft>
                <a:spcPts val="0"/>
              </a:spcAft>
              <a:buNone/>
            </a:pPr>
            <a:r>
              <a:rPr lang="en" sz="6744">
                <a:latin typeface="Arial"/>
                <a:ea typeface="Arial"/>
                <a:cs typeface="Arial"/>
                <a:sym typeface="Arial"/>
              </a:rPr>
              <a:t>It helps businesses:</a:t>
            </a:r>
            <a:endParaRPr sz="6744">
              <a:latin typeface="Arial"/>
              <a:ea typeface="Arial"/>
              <a:cs typeface="Arial"/>
              <a:sym typeface="Arial"/>
            </a:endParaRPr>
          </a:p>
          <a:p>
            <a:pPr indent="-335663" lvl="0" marL="457200" rtl="0" algn="l">
              <a:lnSpc>
                <a:spcPct val="100000"/>
              </a:lnSpc>
              <a:spcBef>
                <a:spcPts val="1200"/>
              </a:spcBef>
              <a:spcAft>
                <a:spcPts val="0"/>
              </a:spcAft>
              <a:buClr>
                <a:schemeClr val="lt1"/>
              </a:buClr>
              <a:buSzPct val="100000"/>
              <a:buFont typeface="Arial"/>
              <a:buChar char="●"/>
            </a:pPr>
            <a:r>
              <a:rPr lang="en" sz="6744">
                <a:latin typeface="Arial"/>
                <a:ea typeface="Arial"/>
                <a:cs typeface="Arial"/>
                <a:sym typeface="Arial"/>
              </a:rPr>
              <a:t>Track income and expenses</a:t>
            </a:r>
            <a:br>
              <a:rPr lang="en" sz="6744">
                <a:latin typeface="Arial"/>
                <a:ea typeface="Arial"/>
                <a:cs typeface="Arial"/>
                <a:sym typeface="Arial"/>
              </a:rPr>
            </a:br>
            <a:endParaRPr sz="6744">
              <a:latin typeface="Arial"/>
              <a:ea typeface="Arial"/>
              <a:cs typeface="Arial"/>
              <a:sym typeface="Arial"/>
            </a:endParaRPr>
          </a:p>
          <a:p>
            <a:pPr indent="-335663" lvl="0" marL="457200" rtl="0" algn="l">
              <a:lnSpc>
                <a:spcPct val="100000"/>
              </a:lnSpc>
              <a:spcBef>
                <a:spcPts val="0"/>
              </a:spcBef>
              <a:spcAft>
                <a:spcPts val="0"/>
              </a:spcAft>
              <a:buClr>
                <a:schemeClr val="lt1"/>
              </a:buClr>
              <a:buSzPct val="100000"/>
              <a:buFont typeface="Arial"/>
              <a:buChar char="●"/>
            </a:pPr>
            <a:r>
              <a:rPr lang="en" sz="6744">
                <a:latin typeface="Arial"/>
                <a:ea typeface="Arial"/>
                <a:cs typeface="Arial"/>
                <a:sym typeface="Arial"/>
              </a:rPr>
              <a:t>Maintain financial records</a:t>
            </a:r>
            <a:br>
              <a:rPr lang="en" sz="6744">
                <a:latin typeface="Arial"/>
                <a:ea typeface="Arial"/>
                <a:cs typeface="Arial"/>
                <a:sym typeface="Arial"/>
              </a:rPr>
            </a:br>
            <a:endParaRPr sz="6744">
              <a:latin typeface="Arial"/>
              <a:ea typeface="Arial"/>
              <a:cs typeface="Arial"/>
              <a:sym typeface="Arial"/>
            </a:endParaRPr>
          </a:p>
          <a:p>
            <a:pPr indent="-335663" lvl="0" marL="457200" rtl="0" algn="l">
              <a:lnSpc>
                <a:spcPct val="100000"/>
              </a:lnSpc>
              <a:spcBef>
                <a:spcPts val="0"/>
              </a:spcBef>
              <a:spcAft>
                <a:spcPts val="0"/>
              </a:spcAft>
              <a:buClr>
                <a:schemeClr val="lt1"/>
              </a:buClr>
              <a:buSzPct val="100000"/>
              <a:buFont typeface="Arial"/>
              <a:buChar char="●"/>
            </a:pPr>
            <a:r>
              <a:rPr lang="en" sz="6744">
                <a:latin typeface="Arial"/>
                <a:ea typeface="Arial"/>
                <a:cs typeface="Arial"/>
                <a:sym typeface="Arial"/>
              </a:rPr>
              <a:t>Generate financial reports</a:t>
            </a:r>
            <a:br>
              <a:rPr lang="en" sz="6744">
                <a:latin typeface="Arial"/>
                <a:ea typeface="Arial"/>
                <a:cs typeface="Arial"/>
                <a:sym typeface="Arial"/>
              </a:rPr>
            </a:br>
            <a:endParaRPr sz="6744">
              <a:latin typeface="Arial"/>
              <a:ea typeface="Arial"/>
              <a:cs typeface="Arial"/>
              <a:sym typeface="Arial"/>
            </a:endParaRPr>
          </a:p>
          <a:p>
            <a:pPr indent="-335663" lvl="0" marL="457200" rtl="0" algn="l">
              <a:lnSpc>
                <a:spcPct val="100000"/>
              </a:lnSpc>
              <a:spcBef>
                <a:spcPts val="0"/>
              </a:spcBef>
              <a:spcAft>
                <a:spcPts val="0"/>
              </a:spcAft>
              <a:buClr>
                <a:schemeClr val="lt1"/>
              </a:buClr>
              <a:buSzPct val="100000"/>
              <a:buFont typeface="Arial"/>
              <a:buChar char="●"/>
            </a:pPr>
            <a:r>
              <a:rPr lang="en" sz="6744">
                <a:latin typeface="Arial"/>
                <a:ea typeface="Arial"/>
                <a:cs typeface="Arial"/>
                <a:sym typeface="Arial"/>
              </a:rPr>
              <a:t>Support decision making</a:t>
            </a:r>
            <a:endParaRPr sz="6744">
              <a:latin typeface="Arial"/>
              <a:ea typeface="Arial"/>
              <a:cs typeface="Arial"/>
              <a:sym typeface="Arial"/>
            </a:endParaRPr>
          </a:p>
          <a:p>
            <a:pPr indent="0" lvl="0" marL="0" rtl="0" algn="l">
              <a:lnSpc>
                <a:spcPct val="150000"/>
              </a:lnSpc>
              <a:spcBef>
                <a:spcPts val="1200"/>
              </a:spcBef>
              <a:spcAft>
                <a:spcPts val="0"/>
              </a:spcAft>
              <a:buNone/>
            </a:pPr>
            <a:r>
              <a:t/>
            </a:r>
            <a:endParaRPr sz="1700">
              <a:latin typeface="Arial"/>
              <a:ea typeface="Arial"/>
              <a:cs typeface="Arial"/>
              <a:sym typeface="Arial"/>
            </a:endParaRPr>
          </a:p>
          <a:p>
            <a:pPr indent="0" lvl="0" marL="0" rtl="0" algn="l">
              <a:lnSpc>
                <a:spcPct val="150000"/>
              </a:lnSpc>
              <a:spcBef>
                <a:spcPts val="1200"/>
              </a:spcBef>
              <a:spcAft>
                <a:spcPts val="0"/>
              </a:spcAft>
              <a:buNone/>
            </a:pPr>
            <a:r>
              <a:t/>
            </a:r>
            <a:endParaRPr sz="1700">
              <a:latin typeface="Arial"/>
              <a:ea typeface="Arial"/>
              <a:cs typeface="Arial"/>
              <a:sym typeface="Arial"/>
            </a:endParaRPr>
          </a:p>
          <a:p>
            <a:pPr indent="0" lvl="0" marL="0" rtl="0" algn="l">
              <a:spcBef>
                <a:spcPts val="1200"/>
              </a:spcBef>
              <a:spcAft>
                <a:spcPts val="1200"/>
              </a:spcAft>
              <a:buNone/>
            </a:pPr>
            <a:r>
              <a:t/>
            </a:r>
            <a:endParaRPr sz="12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idx="4294967295" type="title"/>
          </p:nvPr>
        </p:nvSpPr>
        <p:spPr>
          <a:xfrm>
            <a:off x="387900" y="191525"/>
            <a:ext cx="8368200" cy="72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600">
                <a:latin typeface="Arial"/>
                <a:ea typeface="Arial"/>
                <a:cs typeface="Arial"/>
                <a:sym typeface="Arial"/>
              </a:rPr>
              <a:t>                    </a:t>
            </a:r>
            <a:r>
              <a:rPr b="1" lang="en" sz="2900">
                <a:latin typeface="Arial"/>
                <a:ea typeface="Arial"/>
                <a:cs typeface="Arial"/>
                <a:sym typeface="Arial"/>
              </a:rPr>
              <a:t>Three-Tier Architecture</a:t>
            </a:r>
            <a:endParaRPr b="1" sz="2900">
              <a:latin typeface="Arial"/>
              <a:ea typeface="Arial"/>
              <a:cs typeface="Arial"/>
              <a:sym typeface="Arial"/>
            </a:endParaRPr>
          </a:p>
        </p:txBody>
      </p:sp>
      <p:sp>
        <p:nvSpPr>
          <p:cNvPr id="148" name="Google Shape;148;p15"/>
          <p:cNvSpPr txBox="1"/>
          <p:nvPr/>
        </p:nvSpPr>
        <p:spPr>
          <a:xfrm>
            <a:off x="615575" y="848125"/>
            <a:ext cx="7838400" cy="417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50">
                <a:solidFill>
                  <a:schemeClr val="lt1"/>
                </a:solidFill>
              </a:rPr>
              <a:t>Three-tier architecture divides the system into three independent layers.</a:t>
            </a:r>
            <a:endParaRPr sz="1650">
              <a:solidFill>
                <a:schemeClr val="lt1"/>
              </a:solidFill>
            </a:endParaRPr>
          </a:p>
          <a:p>
            <a:pPr indent="0" lvl="0" marL="0" rtl="0" algn="l">
              <a:lnSpc>
                <a:spcPct val="115000"/>
              </a:lnSpc>
              <a:spcBef>
                <a:spcPts val="1400"/>
              </a:spcBef>
              <a:spcAft>
                <a:spcPts val="0"/>
              </a:spcAft>
              <a:buNone/>
            </a:pPr>
            <a:r>
              <a:rPr lang="en" sz="1650">
                <a:solidFill>
                  <a:schemeClr val="lt1"/>
                </a:solidFill>
              </a:rPr>
              <a:t>Layers of the Architecture</a:t>
            </a:r>
            <a:endParaRPr sz="1650">
              <a:solidFill>
                <a:schemeClr val="lt1"/>
              </a:solidFill>
            </a:endParaRPr>
          </a:p>
          <a:p>
            <a:pPr indent="-333375" lvl="0" marL="457200" rtl="0" algn="l">
              <a:lnSpc>
                <a:spcPct val="115000"/>
              </a:lnSpc>
              <a:spcBef>
                <a:spcPts val="1200"/>
              </a:spcBef>
              <a:spcAft>
                <a:spcPts val="0"/>
              </a:spcAft>
              <a:buClr>
                <a:schemeClr val="lt1"/>
              </a:buClr>
              <a:buSzPts val="1650"/>
              <a:buAutoNum type="arabicPeriod"/>
            </a:pPr>
            <a:r>
              <a:rPr lang="en" sz="1650">
                <a:solidFill>
                  <a:schemeClr val="lt1"/>
                </a:solidFill>
              </a:rPr>
              <a:t>Presentation Tier (User Interface Layer)</a:t>
            </a:r>
            <a:endParaRPr sz="1650">
              <a:solidFill>
                <a:schemeClr val="lt1"/>
              </a:solidFill>
            </a:endParaRPr>
          </a:p>
          <a:p>
            <a:pPr indent="-333375" lvl="0" marL="457200" rtl="0" algn="l">
              <a:lnSpc>
                <a:spcPct val="115000"/>
              </a:lnSpc>
              <a:spcBef>
                <a:spcPts val="0"/>
              </a:spcBef>
              <a:spcAft>
                <a:spcPts val="0"/>
              </a:spcAft>
              <a:buClr>
                <a:schemeClr val="lt1"/>
              </a:buClr>
              <a:buSzPts val="1650"/>
              <a:buAutoNum type="arabicPeriod"/>
            </a:pPr>
            <a:r>
              <a:rPr lang="en" sz="1650">
                <a:solidFill>
                  <a:schemeClr val="lt1"/>
                </a:solidFill>
              </a:rPr>
              <a:t>Application Tier (Business Logic Layer)</a:t>
            </a:r>
            <a:endParaRPr sz="1650">
              <a:solidFill>
                <a:schemeClr val="lt1"/>
              </a:solidFill>
            </a:endParaRPr>
          </a:p>
          <a:p>
            <a:pPr indent="-333375" lvl="0" marL="457200" rtl="0" algn="l">
              <a:lnSpc>
                <a:spcPct val="115000"/>
              </a:lnSpc>
              <a:spcBef>
                <a:spcPts val="0"/>
              </a:spcBef>
              <a:spcAft>
                <a:spcPts val="0"/>
              </a:spcAft>
              <a:buClr>
                <a:schemeClr val="lt1"/>
              </a:buClr>
              <a:buSzPts val="1650"/>
              <a:buAutoNum type="arabicPeriod"/>
            </a:pPr>
            <a:r>
              <a:rPr lang="en" sz="1650">
                <a:solidFill>
                  <a:schemeClr val="lt1"/>
                </a:solidFill>
              </a:rPr>
              <a:t>Data Tier (Database Layer)</a:t>
            </a:r>
            <a:endParaRPr sz="1650">
              <a:solidFill>
                <a:schemeClr val="lt1"/>
              </a:solidFill>
            </a:endParaRPr>
          </a:p>
          <a:p>
            <a:pPr indent="0" lvl="0" marL="0" rtl="0" algn="l">
              <a:lnSpc>
                <a:spcPct val="115000"/>
              </a:lnSpc>
              <a:spcBef>
                <a:spcPts val="1200"/>
              </a:spcBef>
              <a:spcAft>
                <a:spcPts val="0"/>
              </a:spcAft>
              <a:buNone/>
            </a:pPr>
            <a:r>
              <a:rPr b="1" lang="en" sz="1650">
                <a:solidFill>
                  <a:schemeClr val="lt1"/>
                </a:solidFill>
              </a:rPr>
              <a:t>Advantages</a:t>
            </a:r>
            <a:endParaRPr b="1" sz="1650">
              <a:solidFill>
                <a:schemeClr val="lt1"/>
              </a:solidFill>
            </a:endParaRPr>
          </a:p>
          <a:p>
            <a:pPr indent="-333375" lvl="0" marL="457200" rtl="0" algn="l">
              <a:lnSpc>
                <a:spcPct val="115000"/>
              </a:lnSpc>
              <a:spcBef>
                <a:spcPts val="1200"/>
              </a:spcBef>
              <a:spcAft>
                <a:spcPts val="0"/>
              </a:spcAft>
              <a:buClr>
                <a:schemeClr val="lt1"/>
              </a:buClr>
              <a:buSzPts val="1650"/>
              <a:buChar char="●"/>
            </a:pPr>
            <a:r>
              <a:rPr lang="en" sz="1650">
                <a:solidFill>
                  <a:schemeClr val="lt1"/>
                </a:solidFill>
              </a:rPr>
              <a:t>Better system organization</a:t>
            </a:r>
            <a:endParaRPr sz="1650">
              <a:solidFill>
                <a:schemeClr val="lt1"/>
              </a:solidFill>
            </a:endParaRPr>
          </a:p>
          <a:p>
            <a:pPr indent="-333375" lvl="0" marL="457200" rtl="0" algn="l">
              <a:lnSpc>
                <a:spcPct val="115000"/>
              </a:lnSpc>
              <a:spcBef>
                <a:spcPts val="0"/>
              </a:spcBef>
              <a:spcAft>
                <a:spcPts val="0"/>
              </a:spcAft>
              <a:buClr>
                <a:schemeClr val="lt1"/>
              </a:buClr>
              <a:buSzPts val="1650"/>
              <a:buChar char="●"/>
            </a:pPr>
            <a:r>
              <a:rPr lang="en" sz="1650">
                <a:solidFill>
                  <a:schemeClr val="lt1"/>
                </a:solidFill>
              </a:rPr>
              <a:t>Improved security</a:t>
            </a:r>
            <a:endParaRPr sz="1650">
              <a:solidFill>
                <a:schemeClr val="lt1"/>
              </a:solidFill>
            </a:endParaRPr>
          </a:p>
          <a:p>
            <a:pPr indent="-333375" lvl="0" marL="457200" rtl="0" algn="l">
              <a:lnSpc>
                <a:spcPct val="115000"/>
              </a:lnSpc>
              <a:spcBef>
                <a:spcPts val="0"/>
              </a:spcBef>
              <a:spcAft>
                <a:spcPts val="0"/>
              </a:spcAft>
              <a:buClr>
                <a:schemeClr val="lt1"/>
              </a:buClr>
              <a:buSzPts val="1650"/>
              <a:buChar char="●"/>
            </a:pPr>
            <a:r>
              <a:rPr lang="en" sz="1650">
                <a:solidFill>
                  <a:schemeClr val="lt1"/>
                </a:solidFill>
              </a:rPr>
              <a:t>Easy maintenance and updates</a:t>
            </a:r>
            <a:endParaRPr sz="1650">
              <a:solidFill>
                <a:schemeClr val="lt1"/>
              </a:solidFill>
            </a:endParaRPr>
          </a:p>
          <a:p>
            <a:pPr indent="-333375" lvl="0" marL="457200" rtl="0" algn="l">
              <a:lnSpc>
                <a:spcPct val="115000"/>
              </a:lnSpc>
              <a:spcBef>
                <a:spcPts val="0"/>
              </a:spcBef>
              <a:spcAft>
                <a:spcPts val="0"/>
              </a:spcAft>
              <a:buClr>
                <a:schemeClr val="lt1"/>
              </a:buClr>
              <a:buSzPts val="1650"/>
              <a:buChar char="●"/>
            </a:pPr>
            <a:r>
              <a:rPr lang="en" sz="1650">
                <a:solidFill>
                  <a:schemeClr val="lt1"/>
                </a:solidFill>
              </a:rPr>
              <a:t>Better scalability</a:t>
            </a:r>
            <a:endParaRPr sz="1650">
              <a:solidFill>
                <a:schemeClr val="lt1"/>
              </a:solidFill>
            </a:endParaRPr>
          </a:p>
          <a:p>
            <a:pPr indent="0" lvl="0" marL="0" rtl="0" algn="l">
              <a:lnSpc>
                <a:spcPct val="115000"/>
              </a:lnSpc>
              <a:spcBef>
                <a:spcPts val="1200"/>
              </a:spcBef>
              <a:spcAft>
                <a:spcPts val="0"/>
              </a:spcAft>
              <a:buNone/>
            </a:pPr>
            <a:r>
              <a:t/>
            </a:r>
            <a:endParaRPr sz="11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83825" y="284300"/>
            <a:ext cx="7038900" cy="9879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en" sz="3133">
                <a:latin typeface="Arial"/>
                <a:ea typeface="Arial"/>
                <a:cs typeface="Arial"/>
                <a:sym typeface="Arial"/>
              </a:rPr>
              <a:t>      </a:t>
            </a:r>
            <a:r>
              <a:rPr b="1" lang="en" sz="3311">
                <a:latin typeface="Arial"/>
                <a:ea typeface="Arial"/>
                <a:cs typeface="Arial"/>
                <a:sym typeface="Arial"/>
              </a:rPr>
              <a:t>Presentation Tier Overview</a:t>
            </a:r>
            <a:endParaRPr b="1" sz="3311">
              <a:latin typeface="Arial"/>
              <a:ea typeface="Arial"/>
              <a:cs typeface="Arial"/>
              <a:sym typeface="Arial"/>
            </a:endParaRPr>
          </a:p>
          <a:p>
            <a:pPr indent="0" lvl="0" marL="0" rtl="0" algn="l">
              <a:spcBef>
                <a:spcPts val="400"/>
              </a:spcBef>
              <a:spcAft>
                <a:spcPts val="0"/>
              </a:spcAft>
              <a:buNone/>
            </a:pPr>
            <a:r>
              <a:t/>
            </a:r>
            <a:endParaRPr sz="3311"/>
          </a:p>
        </p:txBody>
      </p:sp>
      <p:sp>
        <p:nvSpPr>
          <p:cNvPr id="154" name="Google Shape;154;p16"/>
          <p:cNvSpPr txBox="1"/>
          <p:nvPr>
            <p:ph idx="1" type="body"/>
          </p:nvPr>
        </p:nvSpPr>
        <p:spPr>
          <a:xfrm>
            <a:off x="342000" y="1354275"/>
            <a:ext cx="8604300" cy="3488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700">
                <a:latin typeface="Arial"/>
                <a:ea typeface="Arial"/>
                <a:cs typeface="Arial"/>
                <a:sym typeface="Arial"/>
              </a:rPr>
              <a:t>The </a:t>
            </a:r>
            <a:r>
              <a:rPr b="1" lang="en" sz="1700">
                <a:latin typeface="Arial"/>
                <a:ea typeface="Arial"/>
                <a:cs typeface="Arial"/>
                <a:sym typeface="Arial"/>
              </a:rPr>
              <a:t>Presentation Tier</a:t>
            </a:r>
            <a:r>
              <a:rPr lang="en" sz="1700">
                <a:latin typeface="Arial"/>
                <a:ea typeface="Arial"/>
                <a:cs typeface="Arial"/>
                <a:sym typeface="Arial"/>
              </a:rPr>
              <a:t> is the top layer of the accounting system where users interact with the application. It provides the user interface that allows users to enter financial data and view information such as reports and account details.</a:t>
            </a:r>
            <a:endParaRPr sz="1700">
              <a:latin typeface="Arial"/>
              <a:ea typeface="Arial"/>
              <a:cs typeface="Arial"/>
              <a:sym typeface="Arial"/>
            </a:endParaRPr>
          </a:p>
          <a:p>
            <a:pPr indent="0" lvl="0" marL="0" rtl="0" algn="l">
              <a:lnSpc>
                <a:spcPct val="100000"/>
              </a:lnSpc>
              <a:spcBef>
                <a:spcPts val="1400"/>
              </a:spcBef>
              <a:spcAft>
                <a:spcPts val="0"/>
              </a:spcAft>
              <a:buNone/>
            </a:pPr>
            <a:r>
              <a:rPr b="1" lang="en" sz="1650">
                <a:latin typeface="Arial"/>
                <a:ea typeface="Arial"/>
                <a:cs typeface="Arial"/>
                <a:sym typeface="Arial"/>
              </a:rPr>
              <a:t>Users of this layer</a:t>
            </a:r>
            <a:endParaRPr b="1" sz="1650">
              <a:latin typeface="Arial"/>
              <a:ea typeface="Arial"/>
              <a:cs typeface="Arial"/>
              <a:sym typeface="Arial"/>
            </a:endParaRPr>
          </a:p>
          <a:p>
            <a:pPr indent="-333375" lvl="0" marL="457200" rtl="0" algn="l">
              <a:lnSpc>
                <a:spcPct val="115000"/>
              </a:lnSpc>
              <a:spcBef>
                <a:spcPts val="1200"/>
              </a:spcBef>
              <a:spcAft>
                <a:spcPts val="0"/>
              </a:spcAft>
              <a:buClr>
                <a:schemeClr val="lt1"/>
              </a:buClr>
              <a:buSzPts val="1650"/>
              <a:buFont typeface="Arial"/>
              <a:buChar char="●"/>
            </a:pPr>
            <a:r>
              <a:rPr lang="en" sz="1650">
                <a:latin typeface="Arial"/>
                <a:ea typeface="Arial"/>
                <a:cs typeface="Arial"/>
                <a:sym typeface="Arial"/>
              </a:rPr>
              <a:t>Accountants</a:t>
            </a:r>
            <a:endParaRPr sz="1650">
              <a:latin typeface="Arial"/>
              <a:ea typeface="Arial"/>
              <a:cs typeface="Arial"/>
              <a:sym typeface="Arial"/>
            </a:endParaRPr>
          </a:p>
          <a:p>
            <a:pPr indent="-333375" lvl="0" marL="457200" rtl="0" algn="l">
              <a:lnSpc>
                <a:spcPct val="115000"/>
              </a:lnSpc>
              <a:spcBef>
                <a:spcPts val="0"/>
              </a:spcBef>
              <a:spcAft>
                <a:spcPts val="0"/>
              </a:spcAft>
              <a:buClr>
                <a:schemeClr val="lt1"/>
              </a:buClr>
              <a:buSzPts val="1650"/>
              <a:buFont typeface="Arial"/>
              <a:buChar char="●"/>
            </a:pPr>
            <a:r>
              <a:rPr lang="en" sz="1650">
                <a:latin typeface="Arial"/>
                <a:ea typeface="Arial"/>
                <a:cs typeface="Arial"/>
                <a:sym typeface="Arial"/>
              </a:rPr>
              <a:t>Financial managers</a:t>
            </a:r>
            <a:endParaRPr sz="1650">
              <a:latin typeface="Arial"/>
              <a:ea typeface="Arial"/>
              <a:cs typeface="Arial"/>
              <a:sym typeface="Arial"/>
            </a:endParaRPr>
          </a:p>
          <a:p>
            <a:pPr indent="-333375" lvl="0" marL="457200" rtl="0" algn="l">
              <a:lnSpc>
                <a:spcPct val="115000"/>
              </a:lnSpc>
              <a:spcBef>
                <a:spcPts val="0"/>
              </a:spcBef>
              <a:spcAft>
                <a:spcPts val="0"/>
              </a:spcAft>
              <a:buClr>
                <a:schemeClr val="lt1"/>
              </a:buClr>
              <a:buSzPts val="1650"/>
              <a:buFont typeface="Arial"/>
              <a:buChar char="●"/>
            </a:pPr>
            <a:r>
              <a:rPr lang="en" sz="1650">
                <a:latin typeface="Arial"/>
                <a:ea typeface="Arial"/>
                <a:cs typeface="Arial"/>
                <a:sym typeface="Arial"/>
              </a:rPr>
              <a:t>Employees</a:t>
            </a:r>
            <a:endParaRPr sz="1650">
              <a:latin typeface="Arial"/>
              <a:ea typeface="Arial"/>
              <a:cs typeface="Arial"/>
              <a:sym typeface="Arial"/>
            </a:endParaRPr>
          </a:p>
          <a:p>
            <a:pPr indent="-333375" lvl="0" marL="457200" rtl="0" algn="l">
              <a:lnSpc>
                <a:spcPct val="115000"/>
              </a:lnSpc>
              <a:spcBef>
                <a:spcPts val="0"/>
              </a:spcBef>
              <a:spcAft>
                <a:spcPts val="0"/>
              </a:spcAft>
              <a:buClr>
                <a:schemeClr val="lt1"/>
              </a:buClr>
              <a:buSzPts val="1650"/>
              <a:buFont typeface="Arial"/>
              <a:buChar char="●"/>
            </a:pPr>
            <a:r>
              <a:rPr lang="en" sz="1650">
                <a:latin typeface="Arial"/>
                <a:ea typeface="Arial"/>
                <a:cs typeface="Arial"/>
                <a:sym typeface="Arial"/>
              </a:rPr>
              <a:t>Administrators</a:t>
            </a:r>
            <a:endParaRPr sz="1650">
              <a:latin typeface="Arial"/>
              <a:ea typeface="Arial"/>
              <a:cs typeface="Arial"/>
              <a:sym typeface="Arial"/>
            </a:endParaRPr>
          </a:p>
          <a:p>
            <a:pPr indent="0" lvl="0" marL="0" rtl="0" algn="l">
              <a:spcBef>
                <a:spcPts val="1400"/>
              </a:spcBef>
              <a:spcAft>
                <a:spcPts val="0"/>
              </a:spcAft>
              <a:buNone/>
            </a:pPr>
            <a:r>
              <a:rPr lang="en" sz="1100">
                <a:solidFill>
                  <a:schemeClr val="dk1"/>
                </a:solidFill>
                <a:latin typeface="Arial"/>
                <a:ea typeface="Arial"/>
                <a:cs typeface="Arial"/>
                <a:sym typeface="Arial"/>
              </a:rPr>
              <a:t>Financial managers</a:t>
            </a:r>
            <a:br>
              <a:rPr lang="en"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0" lvl="0" marL="0" rtl="0" algn="l">
              <a:spcBef>
                <a:spcPts val="1200"/>
              </a:spcBef>
              <a:spcAft>
                <a:spcPts val="0"/>
              </a:spcAft>
              <a:buNone/>
            </a:pPr>
            <a:r>
              <a:t/>
            </a:r>
            <a:endParaRPr sz="1100">
              <a:solidFill>
                <a:schemeClr val="dk1"/>
              </a:solidFill>
              <a:latin typeface="Arial"/>
              <a:ea typeface="Arial"/>
              <a:cs typeface="Arial"/>
              <a:sym typeface="Arial"/>
            </a:endParaRPr>
          </a:p>
          <a:p>
            <a:pPr indent="0" lvl="0" marL="0" rtl="0" algn="l">
              <a:lnSpc>
                <a:spcPct val="150000"/>
              </a:lnSpc>
              <a:spcBef>
                <a:spcPts val="1200"/>
              </a:spcBef>
              <a:spcAft>
                <a:spcPts val="0"/>
              </a:spcAft>
              <a:buNone/>
            </a:pPr>
            <a:r>
              <a:t/>
            </a:r>
            <a:endParaRPr sz="1700">
              <a:latin typeface="Arial"/>
              <a:ea typeface="Arial"/>
              <a:cs typeface="Arial"/>
              <a:sym typeface="Arial"/>
            </a:endParaRPr>
          </a:p>
          <a:p>
            <a:pPr indent="0" lvl="0" marL="0" rtl="0" algn="l">
              <a:lnSpc>
                <a:spcPct val="150000"/>
              </a:lnSpc>
              <a:spcBef>
                <a:spcPts val="1200"/>
              </a:spcBef>
              <a:spcAft>
                <a:spcPts val="1200"/>
              </a:spcAft>
              <a:buNone/>
            </a:pPr>
            <a:r>
              <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nvSpPr>
        <p:spPr>
          <a:xfrm>
            <a:off x="1395300" y="123125"/>
            <a:ext cx="6624000" cy="7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lt1"/>
                </a:solidFill>
              </a:rPr>
              <a:t>          </a:t>
            </a:r>
            <a:r>
              <a:rPr b="1" lang="en" sz="2900">
                <a:solidFill>
                  <a:schemeClr val="lt1"/>
                </a:solidFill>
              </a:rPr>
              <a:t>Functions of Presentation Tier</a:t>
            </a:r>
            <a:endParaRPr b="1" sz="2900">
              <a:solidFill>
                <a:schemeClr val="lt1"/>
              </a:solidFill>
            </a:endParaRPr>
          </a:p>
        </p:txBody>
      </p:sp>
      <p:sp>
        <p:nvSpPr>
          <p:cNvPr id="160" name="Google Shape;160;p17"/>
          <p:cNvSpPr txBox="1"/>
          <p:nvPr/>
        </p:nvSpPr>
        <p:spPr>
          <a:xfrm>
            <a:off x="1614175" y="889175"/>
            <a:ext cx="7551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161" name="Google Shape;161;p17"/>
          <p:cNvSpPr txBox="1"/>
          <p:nvPr/>
        </p:nvSpPr>
        <p:spPr>
          <a:xfrm>
            <a:off x="1039950" y="738700"/>
            <a:ext cx="7920000" cy="4158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600">
                <a:solidFill>
                  <a:schemeClr val="lt1"/>
                </a:solidFill>
              </a:rPr>
              <a:t>1. User Interaction</a:t>
            </a:r>
            <a:endParaRPr b="1"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Allows users to </a:t>
            </a:r>
            <a:r>
              <a:rPr b="1" lang="en" sz="1600">
                <a:solidFill>
                  <a:schemeClr val="lt1"/>
                </a:solidFill>
              </a:rPr>
              <a:t>enter financial data</a:t>
            </a:r>
            <a:r>
              <a:rPr lang="en" sz="1600">
                <a:solidFill>
                  <a:schemeClr val="lt1"/>
                </a:solidFill>
              </a:rPr>
              <a:t> such as invoices, expenses, and payments.</a:t>
            </a:r>
            <a:endParaRPr sz="1600">
              <a:solidFill>
                <a:schemeClr val="lt1"/>
              </a:solidFill>
            </a:endParaRPr>
          </a:p>
          <a:p>
            <a:pPr indent="0" lvl="0" marL="0" rtl="0" algn="l">
              <a:lnSpc>
                <a:spcPct val="150000"/>
              </a:lnSpc>
              <a:spcBef>
                <a:spcPts val="0"/>
              </a:spcBef>
              <a:spcAft>
                <a:spcPts val="0"/>
              </a:spcAft>
              <a:buNone/>
            </a:pPr>
            <a:r>
              <a:rPr b="1" lang="en" sz="1600">
                <a:solidFill>
                  <a:schemeClr val="lt1"/>
                </a:solidFill>
              </a:rPr>
              <a:t>2. Data Display</a:t>
            </a:r>
            <a:endParaRPr b="1"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Displays information like:</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Account balances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Transaction history</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Financial report</a:t>
            </a:r>
            <a:r>
              <a:rPr lang="en" sz="1600">
                <a:solidFill>
                  <a:schemeClr val="lt1"/>
                </a:solidFill>
              </a:rPr>
              <a:t>s</a:t>
            </a:r>
            <a:endParaRPr sz="1600">
              <a:solidFill>
                <a:schemeClr val="lt1"/>
              </a:solidFill>
            </a:endParaRPr>
          </a:p>
          <a:p>
            <a:pPr indent="0" lvl="0" marL="0" rtl="0" algn="l">
              <a:lnSpc>
                <a:spcPct val="150000"/>
              </a:lnSpc>
              <a:spcBef>
                <a:spcPts val="0"/>
              </a:spcBef>
              <a:spcAft>
                <a:spcPts val="0"/>
              </a:spcAft>
              <a:buNone/>
            </a:pPr>
            <a:r>
              <a:rPr b="1" lang="en" sz="1600">
                <a:solidFill>
                  <a:schemeClr val="lt1"/>
                </a:solidFill>
              </a:rPr>
              <a:t>3. Input Validation</a:t>
            </a:r>
            <a:endParaRPr b="1"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Performs basic validation of user input before sending it to the application tier.</a:t>
            </a:r>
            <a:endParaRPr sz="1600">
              <a:solidFill>
                <a:schemeClr val="lt1"/>
              </a:solidFill>
            </a:endParaRPr>
          </a:p>
          <a:p>
            <a:pPr indent="0" lvl="0" marL="0" rtl="0" algn="l">
              <a:lnSpc>
                <a:spcPct val="150000"/>
              </a:lnSpc>
              <a:spcBef>
                <a:spcPts val="0"/>
              </a:spcBef>
              <a:spcAft>
                <a:spcPts val="0"/>
              </a:spcAft>
              <a:buNone/>
            </a:pPr>
            <a:r>
              <a:rPr b="1" lang="en" sz="1600">
                <a:solidFill>
                  <a:schemeClr val="lt1"/>
                </a:solidFill>
              </a:rPr>
              <a:t>4. Communication with Application Tier</a:t>
            </a:r>
            <a:endParaRPr b="1" sz="1600">
              <a:solidFill>
                <a:schemeClr val="lt1"/>
              </a:solidFill>
            </a:endParaRPr>
          </a:p>
          <a:p>
            <a:pPr indent="-330200" lvl="0" marL="457200" rtl="0" algn="l">
              <a:lnSpc>
                <a:spcPct val="150000"/>
              </a:lnSpc>
              <a:spcBef>
                <a:spcPts val="1000"/>
              </a:spcBef>
              <a:spcAft>
                <a:spcPts val="0"/>
              </a:spcAft>
              <a:buClr>
                <a:schemeClr val="lt1"/>
              </a:buClr>
              <a:buSzPts val="1600"/>
              <a:buChar char="●"/>
            </a:pPr>
            <a:r>
              <a:rPr lang="en" sz="1600">
                <a:solidFill>
                  <a:schemeClr val="lt1"/>
                </a:solidFill>
              </a:rPr>
              <a:t>Sends user requests to</a:t>
            </a:r>
            <a:r>
              <a:rPr b="1" lang="en" sz="1600">
                <a:solidFill>
                  <a:schemeClr val="lt1"/>
                </a:solidFill>
              </a:rPr>
              <a:t> </a:t>
            </a:r>
            <a:r>
              <a:rPr lang="en" sz="1600">
                <a:solidFill>
                  <a:schemeClr val="lt1"/>
                </a:solidFill>
              </a:rPr>
              <a:t>the application layer and receives processed results</a:t>
            </a:r>
            <a:endParaRPr sz="1600">
              <a:solidFill>
                <a:schemeClr val="lt1"/>
              </a:solidFill>
            </a:endParaRPr>
          </a:p>
          <a:p>
            <a:pPr indent="0" lvl="0" marL="0" rtl="0" algn="l">
              <a:lnSpc>
                <a:spcPct val="115000"/>
              </a:lnSpc>
              <a:spcBef>
                <a:spcPts val="1000"/>
              </a:spcBef>
              <a:spcAft>
                <a:spcPts val="0"/>
              </a:spcAft>
              <a:buNone/>
            </a:pPr>
            <a:r>
              <a:t/>
            </a:r>
            <a:endParaRPr sz="13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nvSpPr>
        <p:spPr>
          <a:xfrm>
            <a:off x="1313250" y="314625"/>
            <a:ext cx="6990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rPr>
              <a:t>              </a:t>
            </a:r>
            <a:r>
              <a:rPr b="1" lang="en" sz="2800">
                <a:solidFill>
                  <a:schemeClr val="lt1"/>
                </a:solidFill>
              </a:rPr>
              <a:t>Application Tier Overview</a:t>
            </a:r>
            <a:endParaRPr b="1" sz="2800">
              <a:solidFill>
                <a:schemeClr val="lt1"/>
              </a:solidFill>
            </a:endParaRPr>
          </a:p>
        </p:txBody>
      </p:sp>
      <p:sp>
        <p:nvSpPr>
          <p:cNvPr id="167" name="Google Shape;167;p18"/>
          <p:cNvSpPr txBox="1"/>
          <p:nvPr/>
        </p:nvSpPr>
        <p:spPr>
          <a:xfrm>
            <a:off x="1108050" y="1039650"/>
            <a:ext cx="7783800" cy="3666000"/>
          </a:xfrm>
          <a:prstGeom prst="rect">
            <a:avLst/>
          </a:prstGeom>
          <a:noFill/>
          <a:ln>
            <a:noFill/>
          </a:ln>
        </p:spPr>
        <p:txBody>
          <a:bodyPr anchorCtr="0" anchor="t" bIns="91425" lIns="91425" spcFirstLastPara="1" rIns="91425" wrap="square" tIns="91425">
            <a:noAutofit/>
          </a:bodyPr>
          <a:lstStyle/>
          <a:p>
            <a:pPr indent="-339725" lvl="0" marL="457200" rtl="0" algn="l">
              <a:lnSpc>
                <a:spcPct val="150000"/>
              </a:lnSpc>
              <a:spcBef>
                <a:spcPts val="0"/>
              </a:spcBef>
              <a:spcAft>
                <a:spcPts val="0"/>
              </a:spcAft>
              <a:buClr>
                <a:schemeClr val="lt1"/>
              </a:buClr>
              <a:buSzPts val="1750"/>
              <a:buChar char="●"/>
            </a:pPr>
            <a:r>
              <a:rPr lang="en" sz="1750">
                <a:solidFill>
                  <a:schemeClr val="lt1"/>
                </a:solidFill>
              </a:rPr>
              <a:t>The </a:t>
            </a:r>
            <a:r>
              <a:rPr b="1" lang="en" sz="1750">
                <a:solidFill>
                  <a:schemeClr val="lt1"/>
                </a:solidFill>
              </a:rPr>
              <a:t>Application Tier</a:t>
            </a:r>
            <a:r>
              <a:rPr lang="en" sz="1750">
                <a:solidFill>
                  <a:schemeClr val="lt1"/>
                </a:solidFill>
              </a:rPr>
              <a:t> is the middle layer of the accounting system that handles the </a:t>
            </a:r>
            <a:r>
              <a:rPr b="1" lang="en" sz="1750">
                <a:solidFill>
                  <a:schemeClr val="lt1"/>
                </a:solidFill>
              </a:rPr>
              <a:t>business logic and processing of user requests</a:t>
            </a:r>
            <a:r>
              <a:rPr lang="en" sz="1750">
                <a:solidFill>
                  <a:schemeClr val="lt1"/>
                </a:solidFill>
              </a:rPr>
              <a:t>. It receives data from the presentation tier and processes it according to accounting rules and system operations.</a:t>
            </a:r>
            <a:endParaRPr sz="1750">
              <a:solidFill>
                <a:schemeClr val="lt1"/>
              </a:solidFill>
            </a:endParaRPr>
          </a:p>
          <a:p>
            <a:pPr indent="-339725" lvl="0" marL="457200" rtl="0" algn="l">
              <a:lnSpc>
                <a:spcPct val="150000"/>
              </a:lnSpc>
              <a:spcBef>
                <a:spcPts val="0"/>
              </a:spcBef>
              <a:spcAft>
                <a:spcPts val="0"/>
              </a:spcAft>
              <a:buClr>
                <a:schemeClr val="lt1"/>
              </a:buClr>
              <a:buSzPts val="1750"/>
              <a:buChar char="●"/>
            </a:pPr>
            <a:r>
              <a:rPr lang="en" sz="1750">
                <a:solidFill>
                  <a:schemeClr val="lt1"/>
                </a:solidFill>
              </a:rPr>
              <a:t> This layer performs tasks such as calculations, transaction processing, and data validation. It also communicates with the </a:t>
            </a:r>
            <a:r>
              <a:rPr b="1" lang="en" sz="1750">
                <a:solidFill>
                  <a:schemeClr val="lt1"/>
                </a:solidFill>
              </a:rPr>
              <a:t>data tier</a:t>
            </a:r>
            <a:r>
              <a:rPr lang="en" sz="1750">
                <a:solidFill>
                  <a:schemeClr val="lt1"/>
                </a:solidFill>
              </a:rPr>
              <a:t> to store or retrieve financial information.</a:t>
            </a:r>
            <a:endParaRPr sz="1750">
              <a:solidFill>
                <a:schemeClr val="lt1"/>
              </a:solidFill>
            </a:endParaRPr>
          </a:p>
          <a:p>
            <a:pPr indent="-339725" lvl="0" marL="457200" rtl="0" algn="l">
              <a:lnSpc>
                <a:spcPct val="150000"/>
              </a:lnSpc>
              <a:spcBef>
                <a:spcPts val="0"/>
              </a:spcBef>
              <a:spcAft>
                <a:spcPts val="0"/>
              </a:spcAft>
              <a:buClr>
                <a:schemeClr val="lt1"/>
              </a:buClr>
              <a:buSzPts val="1750"/>
              <a:buChar char="●"/>
            </a:pPr>
            <a:r>
              <a:rPr lang="en" sz="1750">
                <a:solidFill>
                  <a:schemeClr val="lt1"/>
                </a:solidFill>
              </a:rPr>
              <a:t>It acts as a bridge between the presentation layer and the data layer.</a:t>
            </a:r>
            <a:endParaRPr sz="175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txBox="1"/>
          <p:nvPr/>
        </p:nvSpPr>
        <p:spPr>
          <a:xfrm>
            <a:off x="1135400" y="656625"/>
            <a:ext cx="7646700" cy="4391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600">
                <a:solidFill>
                  <a:schemeClr val="lt1"/>
                </a:solidFill>
              </a:rPr>
              <a:t>1. Business Logic Processing</a:t>
            </a:r>
            <a:endParaRPr b="1" sz="1600">
              <a:solidFill>
                <a:schemeClr val="lt1"/>
              </a:solidFill>
            </a:endParaRPr>
          </a:p>
          <a:p>
            <a:pPr indent="0" lvl="0" marL="0" rtl="0" algn="l">
              <a:lnSpc>
                <a:spcPct val="150000"/>
              </a:lnSpc>
              <a:spcBef>
                <a:spcPts val="0"/>
              </a:spcBef>
              <a:spcAft>
                <a:spcPts val="0"/>
              </a:spcAft>
              <a:buNone/>
            </a:pPr>
            <a:r>
              <a:rPr lang="en" sz="1600">
                <a:solidFill>
                  <a:schemeClr val="lt1"/>
                </a:solidFill>
              </a:rPr>
              <a:t>Implements accounting rules such as: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Tax calculations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Profit and loss calculations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Balance sheet generatio</a:t>
            </a:r>
            <a:r>
              <a:rPr lang="en" sz="1600">
                <a:solidFill>
                  <a:schemeClr val="lt1"/>
                </a:solidFill>
              </a:rPr>
              <a:t>n</a:t>
            </a:r>
            <a:endParaRPr sz="1600">
              <a:solidFill>
                <a:schemeClr val="lt1"/>
              </a:solidFill>
            </a:endParaRPr>
          </a:p>
          <a:p>
            <a:pPr indent="0" lvl="0" marL="0" rtl="0" algn="l">
              <a:lnSpc>
                <a:spcPct val="150000"/>
              </a:lnSpc>
              <a:spcBef>
                <a:spcPts val="0"/>
              </a:spcBef>
              <a:spcAft>
                <a:spcPts val="0"/>
              </a:spcAft>
              <a:buNone/>
            </a:pPr>
            <a:r>
              <a:rPr b="1" lang="en" sz="1600">
                <a:solidFill>
                  <a:schemeClr val="lt1"/>
                </a:solidFill>
              </a:rPr>
              <a:t>2. Transaction Processing</a:t>
            </a:r>
            <a:endParaRPr b="1" sz="1600">
              <a:solidFill>
                <a:schemeClr val="lt1"/>
              </a:solidFill>
            </a:endParaRPr>
          </a:p>
          <a:p>
            <a:pPr indent="0" lvl="0" marL="0" rtl="0" algn="l">
              <a:lnSpc>
                <a:spcPct val="150000"/>
              </a:lnSpc>
              <a:spcBef>
                <a:spcPts val="0"/>
              </a:spcBef>
              <a:spcAft>
                <a:spcPts val="0"/>
              </a:spcAft>
              <a:buNone/>
            </a:pPr>
            <a:r>
              <a:rPr lang="en" sz="1600">
                <a:solidFill>
                  <a:schemeClr val="lt1"/>
                </a:solidFill>
              </a:rPr>
              <a:t>Handles financial transactions like:</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Sales entries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Purchase entries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Payroll calculations</a:t>
            </a:r>
            <a:endParaRPr sz="1600">
              <a:solidFill>
                <a:schemeClr val="lt1"/>
              </a:solidFill>
            </a:endParaRPr>
          </a:p>
          <a:p>
            <a:pPr indent="0" lvl="0" marL="0" rtl="0" algn="l">
              <a:lnSpc>
                <a:spcPct val="150000"/>
              </a:lnSpc>
              <a:spcBef>
                <a:spcPts val="0"/>
              </a:spcBef>
              <a:spcAft>
                <a:spcPts val="0"/>
              </a:spcAft>
              <a:buNone/>
            </a:pPr>
            <a:r>
              <a:rPr b="1" lang="en" sz="1600">
                <a:solidFill>
                  <a:schemeClr val="lt1"/>
                </a:solidFill>
              </a:rPr>
              <a:t>3. Data Validation</a:t>
            </a:r>
            <a:endParaRPr b="1" sz="1600">
              <a:solidFill>
                <a:schemeClr val="lt1"/>
              </a:solidFill>
            </a:endParaRPr>
          </a:p>
          <a:p>
            <a:pPr indent="0" lvl="0" marL="0" rtl="0" algn="l">
              <a:lnSpc>
                <a:spcPct val="150000"/>
              </a:lnSpc>
              <a:spcBef>
                <a:spcPts val="0"/>
              </a:spcBef>
              <a:spcAft>
                <a:spcPts val="0"/>
              </a:spcAft>
              <a:buNone/>
            </a:pPr>
            <a:r>
              <a:rPr lang="en" sz="1600">
                <a:solidFill>
                  <a:schemeClr val="lt1"/>
                </a:solidFill>
              </a:rPr>
              <a:t>Ensures that financial data follows accounting standards and rules.</a:t>
            </a:r>
            <a:endParaRPr sz="1600">
              <a:solidFill>
                <a:schemeClr val="lt1"/>
              </a:solidFill>
            </a:endParaRPr>
          </a:p>
          <a:p>
            <a:pPr indent="0" lvl="0" marL="0" rtl="0" algn="l">
              <a:lnSpc>
                <a:spcPct val="100000"/>
              </a:lnSpc>
              <a:spcBef>
                <a:spcPts val="0"/>
              </a:spcBef>
              <a:spcAft>
                <a:spcPts val="0"/>
              </a:spcAft>
              <a:buNone/>
            </a:pPr>
            <a:r>
              <a:t/>
            </a:r>
            <a:endParaRPr sz="1500">
              <a:solidFill>
                <a:schemeClr val="lt1"/>
              </a:solidFill>
              <a:latin typeface="Lato"/>
              <a:ea typeface="Lato"/>
              <a:cs typeface="Lato"/>
              <a:sym typeface="Lato"/>
            </a:endParaRPr>
          </a:p>
        </p:txBody>
      </p:sp>
      <p:sp>
        <p:nvSpPr>
          <p:cNvPr id="173" name="Google Shape;173;p19"/>
          <p:cNvSpPr txBox="1"/>
          <p:nvPr/>
        </p:nvSpPr>
        <p:spPr>
          <a:xfrm>
            <a:off x="1135400" y="136800"/>
            <a:ext cx="6128400" cy="8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Lato"/>
                <a:ea typeface="Lato"/>
                <a:cs typeface="Lato"/>
                <a:sym typeface="Lato"/>
              </a:rPr>
              <a:t>                            </a:t>
            </a:r>
            <a:r>
              <a:rPr b="1" lang="en" sz="2800">
                <a:solidFill>
                  <a:schemeClr val="lt1"/>
                </a:solidFill>
              </a:rPr>
              <a:t>Functions of Application Tier</a:t>
            </a:r>
            <a:endParaRPr b="1" sz="28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nvSpPr>
        <p:spPr>
          <a:xfrm>
            <a:off x="1381625" y="355675"/>
            <a:ext cx="6921900" cy="9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lt1"/>
                </a:solidFill>
              </a:rPr>
              <a:t>                     </a:t>
            </a:r>
            <a:r>
              <a:rPr b="1" lang="en" sz="2900">
                <a:solidFill>
                  <a:schemeClr val="lt1"/>
                </a:solidFill>
              </a:rPr>
              <a:t>Data Tier Overview</a:t>
            </a:r>
            <a:endParaRPr b="1" sz="2900">
              <a:solidFill>
                <a:schemeClr val="lt1"/>
              </a:solidFill>
            </a:endParaRPr>
          </a:p>
        </p:txBody>
      </p:sp>
      <p:sp>
        <p:nvSpPr>
          <p:cNvPr id="179" name="Google Shape;179;p20"/>
          <p:cNvSpPr txBox="1"/>
          <p:nvPr/>
        </p:nvSpPr>
        <p:spPr>
          <a:xfrm>
            <a:off x="1067000" y="1217475"/>
            <a:ext cx="7838400" cy="3488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lt1"/>
              </a:buClr>
              <a:buSzPts val="1800"/>
              <a:buChar char="●"/>
            </a:pPr>
            <a:r>
              <a:rPr lang="en" sz="1800">
                <a:solidFill>
                  <a:schemeClr val="lt1"/>
                </a:solidFill>
              </a:rPr>
              <a:t>The </a:t>
            </a:r>
            <a:r>
              <a:rPr b="1" lang="en" sz="1800">
                <a:solidFill>
                  <a:schemeClr val="lt1"/>
                </a:solidFill>
              </a:rPr>
              <a:t>Data Tier</a:t>
            </a:r>
            <a:r>
              <a:rPr lang="en" sz="1800">
                <a:solidFill>
                  <a:schemeClr val="lt1"/>
                </a:solidFill>
              </a:rPr>
              <a:t> is the bottom layer of the accounting system that is responsible for </a:t>
            </a:r>
            <a:r>
              <a:rPr b="1" lang="en" sz="1800">
                <a:solidFill>
                  <a:schemeClr val="lt1"/>
                </a:solidFill>
              </a:rPr>
              <a:t>storing and managing all financial data</a:t>
            </a:r>
            <a:r>
              <a:rPr lang="en" sz="1800">
                <a:solidFill>
                  <a:schemeClr val="lt1"/>
                </a:solidFill>
              </a:rPr>
              <a:t>. It uses databases to keep records such as transactions, customer details, and financial reports. </a:t>
            </a:r>
            <a:endParaRPr sz="1800">
              <a:solidFill>
                <a:schemeClr val="lt1"/>
              </a:solidFill>
            </a:endParaRPr>
          </a:p>
          <a:p>
            <a:pPr indent="-317500" lvl="0" marL="457200" rtl="0" algn="l">
              <a:lnSpc>
                <a:spcPct val="150000"/>
              </a:lnSpc>
              <a:spcBef>
                <a:spcPts val="0"/>
              </a:spcBef>
              <a:spcAft>
                <a:spcPts val="0"/>
              </a:spcAft>
              <a:buClr>
                <a:schemeClr val="lt1"/>
              </a:buClr>
              <a:buSzPts val="1400"/>
              <a:buChar char="●"/>
            </a:pPr>
            <a:r>
              <a:rPr lang="en" sz="1800">
                <a:solidFill>
                  <a:schemeClr val="lt1"/>
                </a:solidFill>
              </a:rPr>
              <a:t>This layer ensures that data is stored securely and can be retrieved when needed. It communicates with the </a:t>
            </a:r>
            <a:r>
              <a:rPr b="1" lang="en" sz="1800">
                <a:solidFill>
                  <a:schemeClr val="lt1"/>
                </a:solidFill>
              </a:rPr>
              <a:t>application tier</a:t>
            </a:r>
            <a:r>
              <a:rPr lang="en" sz="1800">
                <a:solidFill>
                  <a:schemeClr val="lt1"/>
                </a:solidFill>
              </a:rPr>
              <a:t> to provide or store information</a:t>
            </a:r>
            <a:r>
              <a:rPr lang="en" sz="1200">
                <a:solidFill>
                  <a:schemeClr val="lt1"/>
                </a:solidFill>
              </a:rPr>
              <a:t>.</a:t>
            </a:r>
            <a:endParaRPr>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nvSpPr>
        <p:spPr>
          <a:xfrm>
            <a:off x="1135400" y="314625"/>
            <a:ext cx="7523700" cy="6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lt1"/>
                </a:solidFill>
              </a:rPr>
              <a:t>                    </a:t>
            </a:r>
            <a:r>
              <a:rPr b="1" lang="en" sz="2900">
                <a:solidFill>
                  <a:schemeClr val="lt1"/>
                </a:solidFill>
              </a:rPr>
              <a:t>Functions of Data Tier</a:t>
            </a:r>
            <a:endParaRPr b="1" sz="2900">
              <a:solidFill>
                <a:schemeClr val="lt1"/>
              </a:solidFill>
            </a:endParaRPr>
          </a:p>
        </p:txBody>
      </p:sp>
      <p:sp>
        <p:nvSpPr>
          <p:cNvPr id="185" name="Google Shape;185;p21"/>
          <p:cNvSpPr txBox="1"/>
          <p:nvPr/>
        </p:nvSpPr>
        <p:spPr>
          <a:xfrm>
            <a:off x="1135400" y="971250"/>
            <a:ext cx="7605900" cy="4254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600">
                <a:solidFill>
                  <a:schemeClr val="lt1"/>
                </a:solidFill>
              </a:rPr>
              <a:t>1. Data Storage</a:t>
            </a:r>
            <a:endParaRPr b="1" sz="1600">
              <a:solidFill>
                <a:schemeClr val="lt1"/>
              </a:solidFill>
            </a:endParaRPr>
          </a:p>
          <a:p>
            <a:pPr indent="0" lvl="0" marL="0" rtl="0" algn="l">
              <a:lnSpc>
                <a:spcPct val="150000"/>
              </a:lnSpc>
              <a:spcBef>
                <a:spcPts val="0"/>
              </a:spcBef>
              <a:spcAft>
                <a:spcPts val="0"/>
              </a:spcAft>
              <a:buNone/>
            </a:pPr>
            <a:r>
              <a:rPr lang="en" sz="1600">
                <a:solidFill>
                  <a:schemeClr val="lt1"/>
                </a:solidFill>
              </a:rPr>
              <a:t>Stores important financial information such as: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Transactions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Customer details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Vendor records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Financial reports</a:t>
            </a:r>
            <a:endParaRPr sz="1600">
              <a:solidFill>
                <a:schemeClr val="lt1"/>
              </a:solidFill>
            </a:endParaRPr>
          </a:p>
          <a:p>
            <a:pPr indent="0" lvl="0" marL="0" rtl="0" algn="l">
              <a:lnSpc>
                <a:spcPct val="150000"/>
              </a:lnSpc>
              <a:spcBef>
                <a:spcPts val="0"/>
              </a:spcBef>
              <a:spcAft>
                <a:spcPts val="0"/>
              </a:spcAft>
              <a:buNone/>
            </a:pPr>
            <a:r>
              <a:rPr b="1" lang="en" sz="1600">
                <a:solidFill>
                  <a:schemeClr val="lt1"/>
                </a:solidFill>
              </a:rPr>
              <a:t>2. Data Retrieval</a:t>
            </a:r>
            <a:endParaRPr b="1"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Provides requested data to the application tier when needed.</a:t>
            </a:r>
            <a:endParaRPr sz="1600">
              <a:solidFill>
                <a:schemeClr val="lt1"/>
              </a:solidFill>
            </a:endParaRPr>
          </a:p>
          <a:p>
            <a:pPr indent="0" lvl="0" marL="0" rtl="0" algn="l">
              <a:lnSpc>
                <a:spcPct val="150000"/>
              </a:lnSpc>
              <a:spcBef>
                <a:spcPts val="0"/>
              </a:spcBef>
              <a:spcAft>
                <a:spcPts val="0"/>
              </a:spcAft>
              <a:buNone/>
            </a:pPr>
            <a:r>
              <a:rPr b="1" lang="en" sz="1600">
                <a:solidFill>
                  <a:schemeClr val="lt1"/>
                </a:solidFill>
              </a:rPr>
              <a:t>3. Data Integrity</a:t>
            </a:r>
            <a:endParaRPr b="1"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Ensures accuracy and consistency of financial records.</a:t>
            </a:r>
            <a:endParaRPr sz="1600">
              <a:solidFill>
                <a:schemeClr val="lt1"/>
              </a:solidFill>
            </a:endParaRPr>
          </a:p>
          <a:p>
            <a:pPr indent="0" lvl="0" marL="0" rtl="0" algn="l">
              <a:lnSpc>
                <a:spcPct val="150000"/>
              </a:lnSpc>
              <a:spcBef>
                <a:spcPts val="0"/>
              </a:spcBef>
              <a:spcAft>
                <a:spcPts val="0"/>
              </a:spcAft>
              <a:buNone/>
            </a:pPr>
            <a:r>
              <a:t/>
            </a:r>
            <a:endParaRPr sz="16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1058250" y="375675"/>
            <a:ext cx="7270200" cy="9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latin typeface="Arial"/>
                <a:ea typeface="Arial"/>
                <a:cs typeface="Arial"/>
                <a:sym typeface="Arial"/>
              </a:rPr>
              <a:t>Real-Life Example of Three-Tier Architecture</a:t>
            </a:r>
            <a:endParaRPr b="1" sz="2800">
              <a:latin typeface="Arial"/>
              <a:ea typeface="Arial"/>
              <a:cs typeface="Arial"/>
              <a:sym typeface="Arial"/>
            </a:endParaRPr>
          </a:p>
        </p:txBody>
      </p:sp>
      <p:sp>
        <p:nvSpPr>
          <p:cNvPr id="191" name="Google Shape;191;p22"/>
          <p:cNvSpPr txBox="1"/>
          <p:nvPr>
            <p:ph idx="2" type="body"/>
          </p:nvPr>
        </p:nvSpPr>
        <p:spPr>
          <a:xfrm>
            <a:off x="1058250" y="1371375"/>
            <a:ext cx="7270200" cy="3249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b="1" lang="en" sz="1625">
                <a:latin typeface="Arial"/>
                <a:ea typeface="Arial"/>
                <a:cs typeface="Arial"/>
                <a:sym typeface="Arial"/>
              </a:rPr>
              <a:t>Online Accounting Software(Tally):</a:t>
            </a:r>
            <a:endParaRPr b="1" sz="1625">
              <a:latin typeface="Arial"/>
              <a:ea typeface="Arial"/>
              <a:cs typeface="Arial"/>
              <a:sym typeface="Arial"/>
            </a:endParaRPr>
          </a:p>
          <a:p>
            <a:pPr indent="0" lvl="0" marL="0" rtl="0" algn="l">
              <a:lnSpc>
                <a:spcPct val="95000"/>
              </a:lnSpc>
              <a:spcBef>
                <a:spcPts val="1200"/>
              </a:spcBef>
              <a:spcAft>
                <a:spcPts val="0"/>
              </a:spcAft>
              <a:buSzPts val="275"/>
              <a:buNone/>
            </a:pPr>
            <a:r>
              <a:t/>
            </a:r>
            <a:endParaRPr sz="1625">
              <a:latin typeface="Arial"/>
              <a:ea typeface="Arial"/>
              <a:cs typeface="Arial"/>
              <a:sym typeface="Arial"/>
            </a:endParaRPr>
          </a:p>
          <a:p>
            <a:pPr indent="0" lvl="0" marL="0" rtl="0" algn="l">
              <a:lnSpc>
                <a:spcPct val="95000"/>
              </a:lnSpc>
              <a:spcBef>
                <a:spcPts val="1200"/>
              </a:spcBef>
              <a:spcAft>
                <a:spcPts val="0"/>
              </a:spcAft>
              <a:buSzPts val="275"/>
              <a:buNone/>
            </a:pPr>
            <a:r>
              <a:rPr b="1" lang="en" sz="1625">
                <a:latin typeface="Arial"/>
                <a:ea typeface="Arial"/>
                <a:cs typeface="Arial"/>
                <a:sym typeface="Arial"/>
              </a:rPr>
              <a:t>Presentation Tier (UI):</a:t>
            </a:r>
            <a:endParaRPr b="1" sz="1625">
              <a:latin typeface="Arial"/>
              <a:ea typeface="Arial"/>
              <a:cs typeface="Arial"/>
              <a:sym typeface="Arial"/>
            </a:endParaRPr>
          </a:p>
          <a:p>
            <a:pPr indent="0" lvl="0" marL="0" rtl="0" algn="l">
              <a:lnSpc>
                <a:spcPct val="95000"/>
              </a:lnSpc>
              <a:spcBef>
                <a:spcPts val="1200"/>
              </a:spcBef>
              <a:spcAft>
                <a:spcPts val="0"/>
              </a:spcAft>
              <a:buSzPts val="275"/>
              <a:buNone/>
            </a:pPr>
            <a:r>
              <a:rPr lang="en" sz="1625">
                <a:latin typeface="Arial"/>
                <a:ea typeface="Arial"/>
                <a:cs typeface="Arial"/>
                <a:sym typeface="Arial"/>
              </a:rPr>
              <a:t>Accountant enters:</a:t>
            </a:r>
            <a:endParaRPr sz="1625">
              <a:latin typeface="Arial"/>
              <a:ea typeface="Arial"/>
              <a:cs typeface="Arial"/>
              <a:sym typeface="Arial"/>
            </a:endParaRPr>
          </a:p>
          <a:p>
            <a:pPr indent="-328612" lvl="0" marL="457200" rtl="0" algn="l">
              <a:lnSpc>
                <a:spcPct val="95000"/>
              </a:lnSpc>
              <a:spcBef>
                <a:spcPts val="1200"/>
              </a:spcBef>
              <a:spcAft>
                <a:spcPts val="0"/>
              </a:spcAft>
              <a:buSzPts val="1575"/>
              <a:buFont typeface="Arial"/>
              <a:buChar char="●"/>
            </a:pPr>
            <a:r>
              <a:rPr lang="en" sz="1625">
                <a:latin typeface="Arial"/>
                <a:ea typeface="Arial"/>
                <a:cs typeface="Arial"/>
                <a:sym typeface="Arial"/>
              </a:rPr>
              <a:t>Customer name</a:t>
            </a:r>
            <a:endParaRPr sz="1625">
              <a:latin typeface="Arial"/>
              <a:ea typeface="Arial"/>
              <a:cs typeface="Arial"/>
              <a:sym typeface="Arial"/>
            </a:endParaRPr>
          </a:p>
          <a:p>
            <a:pPr indent="-328612" lvl="0" marL="457200" rtl="0" algn="l">
              <a:lnSpc>
                <a:spcPct val="95000"/>
              </a:lnSpc>
              <a:spcBef>
                <a:spcPts val="0"/>
              </a:spcBef>
              <a:spcAft>
                <a:spcPts val="0"/>
              </a:spcAft>
              <a:buSzPts val="1575"/>
              <a:buFont typeface="Arial"/>
              <a:buChar char="●"/>
            </a:pPr>
            <a:r>
              <a:rPr lang="en" sz="1625">
                <a:latin typeface="Arial"/>
                <a:ea typeface="Arial"/>
                <a:cs typeface="Arial"/>
                <a:sym typeface="Arial"/>
              </a:rPr>
              <a:t>Product details</a:t>
            </a:r>
            <a:endParaRPr sz="1625">
              <a:latin typeface="Arial"/>
              <a:ea typeface="Arial"/>
              <a:cs typeface="Arial"/>
              <a:sym typeface="Arial"/>
            </a:endParaRPr>
          </a:p>
          <a:p>
            <a:pPr indent="-328612" lvl="0" marL="457200" rtl="0" algn="l">
              <a:lnSpc>
                <a:spcPct val="95000"/>
              </a:lnSpc>
              <a:spcBef>
                <a:spcPts val="0"/>
              </a:spcBef>
              <a:spcAft>
                <a:spcPts val="0"/>
              </a:spcAft>
              <a:buSzPts val="1575"/>
              <a:buFont typeface="Arial"/>
              <a:buChar char="●"/>
            </a:pPr>
            <a:r>
              <a:rPr lang="en" sz="1625">
                <a:latin typeface="Arial"/>
                <a:ea typeface="Arial"/>
                <a:cs typeface="Arial"/>
                <a:sym typeface="Arial"/>
              </a:rPr>
              <a:t>Amount</a:t>
            </a:r>
            <a:endParaRPr sz="1625">
              <a:latin typeface="Arial"/>
              <a:ea typeface="Arial"/>
              <a:cs typeface="Arial"/>
              <a:sym typeface="Arial"/>
            </a:endParaRPr>
          </a:p>
          <a:p>
            <a:pPr indent="0" lvl="0" marL="0" rtl="0" algn="l">
              <a:lnSpc>
                <a:spcPct val="95000"/>
              </a:lnSpc>
              <a:spcBef>
                <a:spcPts val="1200"/>
              </a:spcBef>
              <a:spcAft>
                <a:spcPts val="0"/>
              </a:spcAft>
              <a:buSzPts val="275"/>
              <a:buNone/>
            </a:pPr>
            <a:r>
              <a:rPr lang="en" sz="1625">
                <a:latin typeface="Arial"/>
                <a:ea typeface="Arial"/>
                <a:cs typeface="Arial"/>
                <a:sym typeface="Arial"/>
              </a:rPr>
              <a:t>Done via desktop app or web interface</a:t>
            </a:r>
            <a:endParaRPr sz="1625">
              <a:latin typeface="Arial"/>
              <a:ea typeface="Arial"/>
              <a:cs typeface="Arial"/>
              <a:sym typeface="Arial"/>
            </a:endParaRPr>
          </a:p>
          <a:p>
            <a:pPr indent="0" lvl="0" marL="0" rtl="0" algn="l">
              <a:lnSpc>
                <a:spcPct val="95000"/>
              </a:lnSpc>
              <a:spcBef>
                <a:spcPts val="0"/>
              </a:spcBef>
              <a:spcAft>
                <a:spcPts val="1200"/>
              </a:spcAft>
              <a:buSzPts val="275"/>
              <a:buNone/>
            </a:pPr>
            <a:r>
              <a:t/>
            </a:r>
            <a:endParaRPr sz="1625">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3"/>
          <p:cNvSpPr txBox="1"/>
          <p:nvPr>
            <p:ph idx="2" type="body"/>
          </p:nvPr>
        </p:nvSpPr>
        <p:spPr>
          <a:xfrm>
            <a:off x="1229475" y="29525"/>
            <a:ext cx="7077900" cy="5077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rgbClr val="000000"/>
              </a:buClr>
              <a:buSzPts val="275"/>
              <a:buFont typeface="Arial"/>
              <a:buNone/>
            </a:pPr>
            <a:r>
              <a:rPr b="1" lang="en" sz="1600">
                <a:latin typeface="Arial"/>
                <a:ea typeface="Arial"/>
                <a:cs typeface="Arial"/>
                <a:sym typeface="Arial"/>
              </a:rPr>
              <a:t>Application Tier (Logic):</a:t>
            </a:r>
            <a:endParaRPr b="1" sz="1600">
              <a:latin typeface="Arial"/>
              <a:ea typeface="Arial"/>
              <a:cs typeface="Arial"/>
              <a:sym typeface="Arial"/>
            </a:endParaRPr>
          </a:p>
          <a:p>
            <a:pPr indent="0" lvl="0" marL="0" rtl="0" algn="l">
              <a:lnSpc>
                <a:spcPct val="95000"/>
              </a:lnSpc>
              <a:spcBef>
                <a:spcPts val="0"/>
              </a:spcBef>
              <a:spcAft>
                <a:spcPts val="0"/>
              </a:spcAft>
              <a:buClr>
                <a:srgbClr val="000000"/>
              </a:buClr>
              <a:buSzPts val="275"/>
              <a:buFont typeface="Arial"/>
              <a:buNone/>
            </a:pPr>
            <a:r>
              <a:rPr lang="en" sz="1600">
                <a:latin typeface="Arial"/>
                <a:ea typeface="Arial"/>
                <a:cs typeface="Arial"/>
                <a:sym typeface="Arial"/>
              </a:rPr>
              <a:t>Calculates:</a:t>
            </a:r>
            <a:endParaRPr sz="1600">
              <a:latin typeface="Arial"/>
              <a:ea typeface="Arial"/>
              <a:cs typeface="Arial"/>
              <a:sym typeface="Arial"/>
            </a:endParaRPr>
          </a:p>
          <a:p>
            <a:pPr indent="-330200" lvl="0" marL="457200" rtl="0" algn="l">
              <a:lnSpc>
                <a:spcPct val="95000"/>
              </a:lnSpc>
              <a:spcBef>
                <a:spcPts val="1200"/>
              </a:spcBef>
              <a:spcAft>
                <a:spcPts val="0"/>
              </a:spcAft>
              <a:buSzPts val="1600"/>
              <a:buFont typeface="Arial"/>
              <a:buChar char="●"/>
            </a:pPr>
            <a:r>
              <a:rPr lang="en" sz="1600">
                <a:latin typeface="Arial"/>
                <a:ea typeface="Arial"/>
                <a:cs typeface="Arial"/>
                <a:sym typeface="Arial"/>
              </a:rPr>
              <a:t>GST / tax</a:t>
            </a:r>
            <a:endParaRPr sz="1600">
              <a:latin typeface="Arial"/>
              <a:ea typeface="Arial"/>
              <a:cs typeface="Arial"/>
              <a:sym typeface="Arial"/>
            </a:endParaRPr>
          </a:p>
          <a:p>
            <a:pPr indent="-330200" lvl="0" marL="457200" rtl="0" algn="l">
              <a:lnSpc>
                <a:spcPct val="95000"/>
              </a:lnSpc>
              <a:spcBef>
                <a:spcPts val="0"/>
              </a:spcBef>
              <a:spcAft>
                <a:spcPts val="0"/>
              </a:spcAft>
              <a:buSzPts val="1600"/>
              <a:buFont typeface="Arial"/>
              <a:buChar char="●"/>
            </a:pPr>
            <a:r>
              <a:rPr lang="en" sz="1600">
                <a:latin typeface="Arial"/>
                <a:ea typeface="Arial"/>
                <a:cs typeface="Arial"/>
                <a:sym typeface="Arial"/>
              </a:rPr>
              <a:t>Total amount</a:t>
            </a:r>
            <a:endParaRPr sz="1600">
              <a:latin typeface="Arial"/>
              <a:ea typeface="Arial"/>
              <a:cs typeface="Arial"/>
              <a:sym typeface="Arial"/>
            </a:endParaRPr>
          </a:p>
          <a:p>
            <a:pPr indent="0" lvl="0" marL="0" rtl="0" algn="l">
              <a:lnSpc>
                <a:spcPct val="95000"/>
              </a:lnSpc>
              <a:spcBef>
                <a:spcPts val="1200"/>
              </a:spcBef>
              <a:spcAft>
                <a:spcPts val="0"/>
              </a:spcAft>
              <a:buClr>
                <a:srgbClr val="000000"/>
              </a:buClr>
              <a:buSzPts val="275"/>
              <a:buFont typeface="Arial"/>
              <a:buNone/>
            </a:pPr>
            <a:r>
              <a:rPr lang="en" sz="1600">
                <a:latin typeface="Arial"/>
                <a:ea typeface="Arial"/>
                <a:cs typeface="Arial"/>
                <a:sym typeface="Arial"/>
              </a:rPr>
              <a:t>Validates:</a:t>
            </a:r>
            <a:endParaRPr sz="1600">
              <a:latin typeface="Arial"/>
              <a:ea typeface="Arial"/>
              <a:cs typeface="Arial"/>
              <a:sym typeface="Arial"/>
            </a:endParaRPr>
          </a:p>
          <a:p>
            <a:pPr indent="-330200" lvl="0" marL="457200" rtl="0" algn="l">
              <a:lnSpc>
                <a:spcPct val="95000"/>
              </a:lnSpc>
              <a:spcBef>
                <a:spcPts val="1200"/>
              </a:spcBef>
              <a:spcAft>
                <a:spcPts val="0"/>
              </a:spcAft>
              <a:buSzPts val="1600"/>
              <a:buFont typeface="Arial"/>
              <a:buChar char="●"/>
            </a:pPr>
            <a:r>
              <a:rPr lang="en" sz="1600">
                <a:latin typeface="Arial"/>
                <a:ea typeface="Arial"/>
                <a:cs typeface="Arial"/>
                <a:sym typeface="Arial"/>
              </a:rPr>
              <a:t>Required fields filled</a:t>
            </a:r>
            <a:endParaRPr sz="1600">
              <a:latin typeface="Arial"/>
              <a:ea typeface="Arial"/>
              <a:cs typeface="Arial"/>
              <a:sym typeface="Arial"/>
            </a:endParaRPr>
          </a:p>
          <a:p>
            <a:pPr indent="-330200" lvl="0" marL="457200" rtl="0" algn="l">
              <a:lnSpc>
                <a:spcPct val="95000"/>
              </a:lnSpc>
              <a:spcBef>
                <a:spcPts val="0"/>
              </a:spcBef>
              <a:spcAft>
                <a:spcPts val="0"/>
              </a:spcAft>
              <a:buSzPts val="1600"/>
              <a:buFont typeface="Arial"/>
              <a:buChar char="●"/>
            </a:pPr>
            <a:r>
              <a:rPr lang="en" sz="1600">
                <a:latin typeface="Arial"/>
                <a:ea typeface="Arial"/>
                <a:cs typeface="Arial"/>
                <a:sym typeface="Arial"/>
              </a:rPr>
              <a:t>Correct data format</a:t>
            </a:r>
            <a:endParaRPr sz="1600">
              <a:latin typeface="Arial"/>
              <a:ea typeface="Arial"/>
              <a:cs typeface="Arial"/>
              <a:sym typeface="Arial"/>
            </a:endParaRPr>
          </a:p>
          <a:p>
            <a:pPr indent="0" lvl="0" marL="0" rtl="0" algn="l">
              <a:lnSpc>
                <a:spcPct val="95000"/>
              </a:lnSpc>
              <a:spcBef>
                <a:spcPts val="1200"/>
              </a:spcBef>
              <a:spcAft>
                <a:spcPts val="0"/>
              </a:spcAft>
              <a:buClr>
                <a:srgbClr val="000000"/>
              </a:buClr>
              <a:buSzPts val="275"/>
              <a:buFont typeface="Arial"/>
              <a:buNone/>
            </a:pPr>
            <a:r>
              <a:rPr lang="en" sz="1600">
                <a:latin typeface="Arial"/>
                <a:ea typeface="Arial"/>
                <a:cs typeface="Arial"/>
                <a:sym typeface="Arial"/>
              </a:rPr>
              <a:t>Applies accounting rules:</a:t>
            </a:r>
            <a:endParaRPr sz="1600">
              <a:latin typeface="Arial"/>
              <a:ea typeface="Arial"/>
              <a:cs typeface="Arial"/>
              <a:sym typeface="Arial"/>
            </a:endParaRPr>
          </a:p>
          <a:p>
            <a:pPr indent="-330200" lvl="0" marL="457200" rtl="0" algn="l">
              <a:lnSpc>
                <a:spcPct val="95000"/>
              </a:lnSpc>
              <a:spcBef>
                <a:spcPts val="1200"/>
              </a:spcBef>
              <a:spcAft>
                <a:spcPts val="0"/>
              </a:spcAft>
              <a:buSzPts val="1600"/>
              <a:buFont typeface="Arial"/>
              <a:buChar char="●"/>
            </a:pPr>
            <a:r>
              <a:rPr lang="en" sz="1600">
                <a:latin typeface="Arial"/>
                <a:ea typeface="Arial"/>
                <a:cs typeface="Arial"/>
                <a:sym typeface="Arial"/>
              </a:rPr>
              <a:t>Debit/Credit entries</a:t>
            </a:r>
            <a:endParaRPr sz="1600">
              <a:latin typeface="Arial"/>
              <a:ea typeface="Arial"/>
              <a:cs typeface="Arial"/>
              <a:sym typeface="Arial"/>
            </a:endParaRPr>
          </a:p>
          <a:p>
            <a:pPr indent="0" lvl="0" marL="0" rtl="0" algn="l">
              <a:lnSpc>
                <a:spcPct val="95000"/>
              </a:lnSpc>
              <a:spcBef>
                <a:spcPts val="1200"/>
              </a:spcBef>
              <a:spcAft>
                <a:spcPts val="0"/>
              </a:spcAft>
              <a:buClr>
                <a:srgbClr val="000000"/>
              </a:buClr>
              <a:buSzPts val="275"/>
              <a:buFont typeface="Arial"/>
              <a:buNone/>
            </a:pPr>
            <a:r>
              <a:rPr b="1" lang="en" sz="1600">
                <a:latin typeface="Arial"/>
                <a:ea typeface="Arial"/>
                <a:cs typeface="Arial"/>
                <a:sym typeface="Arial"/>
              </a:rPr>
              <a:t>Data Tier (Database)</a:t>
            </a:r>
            <a:endParaRPr b="1" sz="1600">
              <a:latin typeface="Arial"/>
              <a:ea typeface="Arial"/>
              <a:cs typeface="Arial"/>
              <a:sym typeface="Arial"/>
            </a:endParaRPr>
          </a:p>
          <a:p>
            <a:pPr indent="0" lvl="0" marL="0" rtl="0" algn="l">
              <a:lnSpc>
                <a:spcPct val="95000"/>
              </a:lnSpc>
              <a:spcBef>
                <a:spcPts val="1200"/>
              </a:spcBef>
              <a:spcAft>
                <a:spcPts val="0"/>
              </a:spcAft>
              <a:buClr>
                <a:srgbClr val="000000"/>
              </a:buClr>
              <a:buSzPts val="275"/>
              <a:buFont typeface="Arial"/>
              <a:buNone/>
            </a:pPr>
            <a:r>
              <a:rPr lang="en" sz="1600">
                <a:latin typeface="Arial"/>
                <a:ea typeface="Arial"/>
                <a:cs typeface="Arial"/>
                <a:sym typeface="Arial"/>
              </a:rPr>
              <a:t>Stores:</a:t>
            </a:r>
            <a:endParaRPr sz="1600">
              <a:latin typeface="Arial"/>
              <a:ea typeface="Arial"/>
              <a:cs typeface="Arial"/>
              <a:sym typeface="Arial"/>
            </a:endParaRPr>
          </a:p>
          <a:p>
            <a:pPr indent="-330200" lvl="0" marL="457200" rtl="0" algn="l">
              <a:lnSpc>
                <a:spcPct val="95000"/>
              </a:lnSpc>
              <a:spcBef>
                <a:spcPts val="1200"/>
              </a:spcBef>
              <a:spcAft>
                <a:spcPts val="0"/>
              </a:spcAft>
              <a:buSzPts val="1600"/>
              <a:buFont typeface="Arial"/>
              <a:buChar char="●"/>
            </a:pPr>
            <a:r>
              <a:rPr lang="en" sz="1600">
                <a:latin typeface="Arial"/>
                <a:ea typeface="Arial"/>
                <a:cs typeface="Arial"/>
                <a:sym typeface="Arial"/>
              </a:rPr>
              <a:t>Invoice</a:t>
            </a:r>
            <a:endParaRPr sz="1600">
              <a:latin typeface="Arial"/>
              <a:ea typeface="Arial"/>
              <a:cs typeface="Arial"/>
              <a:sym typeface="Arial"/>
            </a:endParaRPr>
          </a:p>
          <a:p>
            <a:pPr indent="-330200" lvl="0" marL="457200" rtl="0" algn="l">
              <a:lnSpc>
                <a:spcPct val="95000"/>
              </a:lnSpc>
              <a:spcBef>
                <a:spcPts val="0"/>
              </a:spcBef>
              <a:spcAft>
                <a:spcPts val="0"/>
              </a:spcAft>
              <a:buSzPts val="1600"/>
              <a:buFont typeface="Arial"/>
              <a:buChar char="●"/>
            </a:pPr>
            <a:r>
              <a:rPr lang="en" sz="1600">
                <a:latin typeface="Arial"/>
                <a:ea typeface="Arial"/>
                <a:cs typeface="Arial"/>
                <a:sym typeface="Arial"/>
              </a:rPr>
              <a:t>Customer details</a:t>
            </a:r>
            <a:endParaRPr sz="1600">
              <a:latin typeface="Arial"/>
              <a:ea typeface="Arial"/>
              <a:cs typeface="Arial"/>
              <a:sym typeface="Arial"/>
            </a:endParaRPr>
          </a:p>
          <a:p>
            <a:pPr indent="-330200" lvl="0" marL="457200" rtl="0" algn="l">
              <a:lnSpc>
                <a:spcPct val="95000"/>
              </a:lnSpc>
              <a:spcBef>
                <a:spcPts val="0"/>
              </a:spcBef>
              <a:spcAft>
                <a:spcPts val="0"/>
              </a:spcAft>
              <a:buSzPts val="1600"/>
              <a:buFont typeface="Arial"/>
              <a:buChar char="●"/>
            </a:pPr>
            <a:r>
              <a:rPr lang="en" sz="1600">
                <a:latin typeface="Arial"/>
                <a:ea typeface="Arial"/>
                <a:cs typeface="Arial"/>
                <a:sym typeface="Arial"/>
              </a:rPr>
              <a:t>Transaction records</a:t>
            </a:r>
            <a:endParaRPr sz="1600">
              <a:latin typeface="Arial"/>
              <a:ea typeface="Arial"/>
              <a:cs typeface="Arial"/>
              <a:sym typeface="Arial"/>
            </a:endParaRPr>
          </a:p>
          <a:p>
            <a:pPr indent="0" lvl="0" marL="0" rtl="0" algn="l">
              <a:lnSpc>
                <a:spcPct val="95000"/>
              </a:lnSpc>
              <a:spcBef>
                <a:spcPts val="1200"/>
              </a:spcBef>
              <a:spcAft>
                <a:spcPts val="0"/>
              </a:spcAft>
              <a:buClr>
                <a:srgbClr val="000000"/>
              </a:buClr>
              <a:buSzPts val="275"/>
              <a:buFont typeface="Arial"/>
              <a:buNone/>
            </a:pPr>
            <a:r>
              <a:rPr lang="en" sz="1600">
                <a:latin typeface="Arial"/>
                <a:ea typeface="Arial"/>
                <a:cs typeface="Arial"/>
                <a:sym typeface="Arial"/>
              </a:rPr>
              <a:t>Retrieves data when reports are generated</a:t>
            </a:r>
            <a:endParaRPr sz="1600">
              <a:latin typeface="Arial"/>
              <a:ea typeface="Arial"/>
              <a:cs typeface="Arial"/>
              <a:sym typeface="Arial"/>
            </a:endParaRPr>
          </a:p>
          <a:p>
            <a:pPr indent="0" lvl="0" marL="0" rtl="0" algn="l">
              <a:lnSpc>
                <a:spcPct val="95000"/>
              </a:lnSpc>
              <a:spcBef>
                <a:spcPts val="0"/>
              </a:spcBef>
              <a:spcAft>
                <a:spcPts val="0"/>
              </a:spcAft>
              <a:buClr>
                <a:srgbClr val="000000"/>
              </a:buClr>
              <a:buSzPts val="275"/>
              <a:buFont typeface="Arial"/>
              <a:buNone/>
            </a:pPr>
            <a:r>
              <a:t/>
            </a:r>
            <a:endParaRPr sz="1600">
              <a:latin typeface="Arial"/>
              <a:ea typeface="Arial"/>
              <a:cs typeface="Arial"/>
              <a:sym typeface="Arial"/>
            </a:endParaRPr>
          </a:p>
          <a:p>
            <a:pPr indent="0" lvl="0" marL="0" rtl="0" algn="l">
              <a:spcBef>
                <a:spcPts val="1200"/>
              </a:spcBef>
              <a:spcAft>
                <a:spcPts val="1200"/>
              </a:spcAft>
              <a:buNone/>
            </a:pPr>
            <a:r>
              <a:t/>
            </a:r>
            <a:endParaRPr sz="16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txBox="1"/>
          <p:nvPr/>
        </p:nvSpPr>
        <p:spPr>
          <a:xfrm>
            <a:off x="533500" y="2092975"/>
            <a:ext cx="8084700" cy="9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700">
                <a:solidFill>
                  <a:schemeClr val="lt1"/>
                </a:solidFill>
                <a:latin typeface="Lexend"/>
                <a:ea typeface="Lexend"/>
                <a:cs typeface="Lexend"/>
                <a:sym typeface="Lexend"/>
              </a:rPr>
              <a:t>      </a:t>
            </a:r>
            <a:r>
              <a:rPr lang="en" sz="6700">
                <a:solidFill>
                  <a:schemeClr val="lt1"/>
                </a:solidFill>
                <a:latin typeface="Lobster"/>
                <a:ea typeface="Lobster"/>
                <a:cs typeface="Lobster"/>
                <a:sym typeface="Lobster"/>
              </a:rPr>
              <a:t>THANK YOU</a:t>
            </a:r>
            <a:endParaRPr sz="6700">
              <a:solidFill>
                <a:schemeClr val="lt1"/>
              </a:solidFill>
              <a:latin typeface="Lobster"/>
              <a:ea typeface="Lobster"/>
              <a:cs typeface="Lobster"/>
              <a:sym typeface="Lobs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