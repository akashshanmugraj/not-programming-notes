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Proxima Nova Bold" charset="1" panose="02000506030000020004"/>
      <p:regular r:id="rId29"/>
    </p:embeddedFont>
    <p:embeddedFont>
      <p:font typeface="Poppins" charset="1" panose="00000500000000000000"/>
      <p:regular r:id="rId30"/>
    </p:embeddedFont>
    <p:embeddedFont>
      <p:font typeface="Poppins Bold" charset="1" panose="00000800000000000000"/>
      <p:regular r:id="rId31"/>
    </p:embeddedFont>
    <p:embeddedFont>
      <p:font typeface="Open Sans" charset="1" panose="020B0606030504020204"/>
      <p:regular r:id="rId32"/>
    </p:embeddedFont>
    <p:embeddedFont>
      <p:font typeface="Open Sans Bold" charset="1" panose="020B080603050402020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13616292" y="6377799"/>
            <a:ext cx="8126677" cy="8126677"/>
          </a:xfrm>
          <a:custGeom>
            <a:avLst/>
            <a:gdLst/>
            <a:ahLst/>
            <a:cxnLst/>
            <a:rect r="r" b="b" t="t" l="l"/>
            <a:pathLst>
              <a:path h="8126677" w="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0137" y="-17429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4970" y="-1387826"/>
            <a:ext cx="3404467" cy="3404467"/>
          </a:xfrm>
          <a:custGeom>
            <a:avLst/>
            <a:gdLst/>
            <a:ahLst/>
            <a:cxnLst/>
            <a:rect r="r" b="b" t="t" l="l"/>
            <a:pathLst>
              <a:path h="3404467" w="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561092" y="7079249"/>
            <a:ext cx="6723778" cy="6723778"/>
          </a:xfrm>
          <a:custGeom>
            <a:avLst/>
            <a:gdLst/>
            <a:ahLst/>
            <a:cxnLst/>
            <a:rect r="r" b="b" t="t" l="l"/>
            <a:pathLst>
              <a:path h="6723778" w="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540587" y="8058743"/>
            <a:ext cx="4764788" cy="476478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99020" y="-891876"/>
            <a:ext cx="2412567" cy="241256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994970" y="2379808"/>
            <a:ext cx="20400931" cy="1723600"/>
          </a:xfrm>
          <a:prstGeom prst="rect">
            <a:avLst/>
          </a:prstGeom>
        </p:spPr>
        <p:txBody>
          <a:bodyPr anchor="t" rtlCol="false" tIns="0" lIns="0" bIns="0" rIns="0">
            <a:spAutoFit/>
          </a:bodyPr>
          <a:lstStyle/>
          <a:p>
            <a:pPr algn="ctr">
              <a:lnSpc>
                <a:spcPts val="14198"/>
              </a:lnSpc>
            </a:pPr>
            <a:r>
              <a:rPr lang="en-US" b="true" sz="10141">
                <a:solidFill>
                  <a:srgbClr val="000000"/>
                </a:solidFill>
                <a:latin typeface="Proxima Nova Bold"/>
                <a:ea typeface="Proxima Nova Bold"/>
                <a:cs typeface="Proxima Nova Bold"/>
                <a:sym typeface="Proxima Nova Bold"/>
              </a:rPr>
              <a:t>SAL</a:t>
            </a:r>
            <a:r>
              <a:rPr lang="en-US" b="true" sz="10141">
                <a:solidFill>
                  <a:srgbClr val="000000"/>
                </a:solidFill>
                <a:latin typeface="Proxima Nova Bold"/>
                <a:ea typeface="Proxima Nova Bold"/>
                <a:cs typeface="Proxima Nova Bold"/>
                <a:sym typeface="Proxima Nova Bold"/>
              </a:rPr>
              <a:t>ES AUTOMATION SYSTEM</a:t>
            </a:r>
          </a:p>
        </p:txBody>
      </p:sp>
      <p:sp>
        <p:nvSpPr>
          <p:cNvPr name="TextBox 13" id="13"/>
          <p:cNvSpPr txBox="true"/>
          <p:nvPr/>
        </p:nvSpPr>
        <p:spPr>
          <a:xfrm rot="0">
            <a:off x="7377536" y="5476875"/>
            <a:ext cx="9881764" cy="4810125"/>
          </a:xfrm>
          <a:prstGeom prst="rect">
            <a:avLst/>
          </a:prstGeom>
        </p:spPr>
        <p:txBody>
          <a:bodyPr anchor="t" rtlCol="false" tIns="0" lIns="0" bIns="0" rIns="0">
            <a:spAutoFit/>
          </a:bodyPr>
          <a:lstStyle/>
          <a:p>
            <a:pPr algn="l">
              <a:lnSpc>
                <a:spcPts val="6299"/>
              </a:lnSpc>
            </a:pPr>
            <a:r>
              <a:rPr lang="en-US" sz="4500">
                <a:solidFill>
                  <a:srgbClr val="000000"/>
                </a:solidFill>
                <a:latin typeface="Poppins"/>
                <a:ea typeface="Poppins"/>
                <a:cs typeface="Poppins"/>
                <a:sym typeface="Poppins"/>
              </a:rPr>
              <a:t>22Z329 - Jansirani A S</a:t>
            </a:r>
          </a:p>
          <a:p>
            <a:pPr algn="l">
              <a:lnSpc>
                <a:spcPts val="6299"/>
              </a:lnSpc>
            </a:pPr>
            <a:r>
              <a:rPr lang="en-US" sz="4500">
                <a:solidFill>
                  <a:srgbClr val="000000"/>
                </a:solidFill>
                <a:latin typeface="Poppins"/>
                <a:ea typeface="Poppins"/>
                <a:cs typeface="Poppins"/>
                <a:sym typeface="Poppins"/>
              </a:rPr>
              <a:t>22Z346 - Neha</a:t>
            </a:r>
          </a:p>
          <a:p>
            <a:pPr algn="l">
              <a:lnSpc>
                <a:spcPts val="6299"/>
              </a:lnSpc>
            </a:pPr>
            <a:r>
              <a:rPr lang="en-US" sz="4500">
                <a:solidFill>
                  <a:srgbClr val="000000"/>
                </a:solidFill>
                <a:latin typeface="Poppins"/>
                <a:ea typeface="Poppins"/>
                <a:cs typeface="Poppins"/>
                <a:sym typeface="Poppins"/>
              </a:rPr>
              <a:t>22Z349 - Srujana N</a:t>
            </a:r>
          </a:p>
          <a:p>
            <a:pPr algn="l">
              <a:lnSpc>
                <a:spcPts val="6299"/>
              </a:lnSpc>
            </a:pPr>
            <a:r>
              <a:rPr lang="en-US" sz="4500">
                <a:solidFill>
                  <a:srgbClr val="000000"/>
                </a:solidFill>
                <a:latin typeface="Poppins"/>
                <a:ea typeface="Poppins"/>
                <a:cs typeface="Poppins"/>
                <a:sym typeface="Poppins"/>
              </a:rPr>
              <a:t>22Z366 - Srinithi R B</a:t>
            </a:r>
          </a:p>
          <a:p>
            <a:pPr algn="l">
              <a:lnSpc>
                <a:spcPts val="6299"/>
              </a:lnSpc>
            </a:pPr>
            <a:r>
              <a:rPr lang="en-US" sz="4500">
                <a:solidFill>
                  <a:srgbClr val="000000"/>
                </a:solidFill>
                <a:latin typeface="Poppins"/>
                <a:ea typeface="Poppins"/>
                <a:cs typeface="Poppins"/>
                <a:sym typeface="Poppins"/>
              </a:rPr>
              <a:t>22Z370 - Thirisha P</a:t>
            </a:r>
          </a:p>
          <a:p>
            <a:pPr algn="l">
              <a:lnSpc>
                <a:spcPts val="629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868448" y="768817"/>
            <a:ext cx="11931574" cy="1318887"/>
          </a:xfrm>
          <a:prstGeom prst="rect">
            <a:avLst/>
          </a:prstGeom>
        </p:spPr>
        <p:txBody>
          <a:bodyPr anchor="t" rtlCol="false" tIns="0" lIns="0" bIns="0" rIns="0">
            <a:spAutoFit/>
          </a:bodyPr>
          <a:lstStyle/>
          <a:p>
            <a:pPr algn="ctr">
              <a:lnSpc>
                <a:spcPts val="10780"/>
              </a:lnSpc>
            </a:pPr>
            <a:r>
              <a:rPr lang="en-US" b="true" sz="7700">
                <a:solidFill>
                  <a:srgbClr val="000000"/>
                </a:solidFill>
                <a:latin typeface="Proxima Nova Bold"/>
                <a:ea typeface="Proxima Nova Bold"/>
                <a:cs typeface="Proxima Nova Bold"/>
                <a:sym typeface="Proxima Nova Bold"/>
              </a:rPr>
              <a:t>INTRODUCTION</a:t>
            </a:r>
          </a:p>
        </p:txBody>
      </p:sp>
      <p:sp>
        <p:nvSpPr>
          <p:cNvPr name="TextBox 15" id="15"/>
          <p:cNvSpPr txBox="true"/>
          <p:nvPr/>
        </p:nvSpPr>
        <p:spPr>
          <a:xfrm rot="0">
            <a:off x="1702233" y="2601485"/>
            <a:ext cx="15859249" cy="6331832"/>
          </a:xfrm>
          <a:prstGeom prst="rect">
            <a:avLst/>
          </a:prstGeom>
        </p:spPr>
        <p:txBody>
          <a:bodyPr anchor="t" rtlCol="false" tIns="0" lIns="0" bIns="0" rIns="0">
            <a:spAutoFit/>
          </a:bodyPr>
          <a:lstStyle/>
          <a:p>
            <a:pPr algn="l">
              <a:lnSpc>
                <a:spcPts val="5011"/>
              </a:lnSpc>
            </a:pPr>
            <a:r>
              <a:rPr lang="en-US" sz="3579">
                <a:solidFill>
                  <a:srgbClr val="000000"/>
                </a:solidFill>
                <a:latin typeface="Poppins"/>
                <a:ea typeface="Poppins"/>
                <a:cs typeface="Poppins"/>
                <a:sym typeface="Poppins"/>
              </a:rPr>
              <a:t> A Sales Automation System is a software system used to manage and automate sales activities in an organization. It helps businesses store customer information, track sales, and manage orders easily.</a:t>
            </a:r>
          </a:p>
          <a:p>
            <a:pPr algn="l">
              <a:lnSpc>
                <a:spcPts val="5011"/>
              </a:lnSpc>
            </a:pPr>
            <a:r>
              <a:rPr lang="en-US" sz="3579">
                <a:solidFill>
                  <a:srgbClr val="000000"/>
                </a:solidFill>
                <a:latin typeface="Poppins"/>
                <a:ea typeface="Poppins"/>
                <a:cs typeface="Poppins"/>
                <a:sym typeface="Poppins"/>
              </a:rPr>
              <a:t>In the past, many sales activities were done manually, such as maintaining customer records and preparing reports. This process was slow and could lead to mistakes. A Sales Automation System solves this problem by storing all sales data digitally and automating many tasks.</a:t>
            </a:r>
          </a:p>
          <a:p>
            <a:pPr algn="l">
              <a:lnSpc>
                <a:spcPts val="5011"/>
              </a:lnSpc>
            </a:pPr>
            <a:r>
              <a:rPr lang="en-US" sz="3579">
                <a:solidFill>
                  <a:srgbClr val="000000"/>
                </a:solidFill>
                <a:latin typeface="Poppins"/>
                <a:ea typeface="Poppins"/>
                <a:cs typeface="Poppins"/>
                <a:sym typeface="Poppins"/>
              </a:rPr>
              <a:t> </a:t>
            </a:r>
          </a:p>
          <a:p>
            <a:pPr algn="l">
              <a:lnSpc>
                <a:spcPts val="501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585030" y="684137"/>
            <a:ext cx="9944504" cy="2221758"/>
          </a:xfrm>
          <a:prstGeom prst="rect">
            <a:avLst/>
          </a:prstGeom>
        </p:spPr>
        <p:txBody>
          <a:bodyPr anchor="t" rtlCol="false" tIns="0" lIns="0" bIns="0" rIns="0">
            <a:spAutoFit/>
          </a:bodyPr>
          <a:lstStyle/>
          <a:p>
            <a:pPr algn="ctr">
              <a:lnSpc>
                <a:spcPts val="8985"/>
              </a:lnSpc>
            </a:pPr>
            <a:r>
              <a:rPr lang="en-US" b="true" sz="6417">
                <a:solidFill>
                  <a:srgbClr val="000000"/>
                </a:solidFill>
                <a:latin typeface="Proxima Nova Bold"/>
                <a:ea typeface="Proxima Nova Bold"/>
                <a:cs typeface="Proxima Nova Bold"/>
                <a:sym typeface="Proxima Nova Bold"/>
              </a:rPr>
              <a:t>NEED FOR SALES AUTOMATION SYSTEM</a:t>
            </a:r>
          </a:p>
        </p:txBody>
      </p:sp>
      <p:sp>
        <p:nvSpPr>
          <p:cNvPr name="TextBox 15" id="15"/>
          <p:cNvSpPr txBox="true"/>
          <p:nvPr/>
        </p:nvSpPr>
        <p:spPr>
          <a:xfrm rot="0">
            <a:off x="1028700" y="3475300"/>
            <a:ext cx="15440287" cy="5542696"/>
          </a:xfrm>
          <a:prstGeom prst="rect">
            <a:avLst/>
          </a:prstGeom>
        </p:spPr>
        <p:txBody>
          <a:bodyPr anchor="t" rtlCol="false" tIns="0" lIns="0" bIns="0" rIns="0">
            <a:spAutoFit/>
          </a:bodyPr>
          <a:lstStyle/>
          <a:p>
            <a:pPr algn="l">
              <a:lnSpc>
                <a:spcPts val="4879"/>
              </a:lnSpc>
            </a:pPr>
          </a:p>
          <a:p>
            <a:pPr algn="l" marL="752445" indent="-376223" lvl="1">
              <a:lnSpc>
                <a:spcPts val="4879"/>
              </a:lnSpc>
              <a:buFont typeface="Arial"/>
              <a:buChar char="•"/>
            </a:pPr>
            <a:r>
              <a:rPr lang="en-US" sz="3485">
                <a:solidFill>
                  <a:srgbClr val="000000"/>
                </a:solidFill>
                <a:latin typeface="Poppins"/>
                <a:ea typeface="Poppins"/>
                <a:cs typeface="Poppins"/>
                <a:sym typeface="Poppins"/>
              </a:rPr>
              <a:t>Helps businesses manage large amounts of sales data easily.</a:t>
            </a:r>
          </a:p>
          <a:p>
            <a:pPr algn="l" marL="752445" indent="-376223" lvl="1">
              <a:lnSpc>
                <a:spcPts val="4879"/>
              </a:lnSpc>
              <a:buFont typeface="Arial"/>
              <a:buChar char="•"/>
            </a:pPr>
            <a:r>
              <a:rPr lang="en-US" sz="3485">
                <a:solidFill>
                  <a:srgbClr val="000000"/>
                </a:solidFill>
                <a:latin typeface="Poppins"/>
                <a:ea typeface="Poppins"/>
                <a:cs typeface="Poppins"/>
                <a:sym typeface="Poppins"/>
              </a:rPr>
              <a:t>Reduces manual work involved in maintaining customer records and sales information.</a:t>
            </a:r>
          </a:p>
          <a:p>
            <a:pPr algn="l" marL="752445" indent="-376223" lvl="1">
              <a:lnSpc>
                <a:spcPts val="4879"/>
              </a:lnSpc>
              <a:buFont typeface="Arial"/>
              <a:buChar char="•"/>
            </a:pPr>
            <a:r>
              <a:rPr lang="en-US" sz="3485">
                <a:solidFill>
                  <a:srgbClr val="000000"/>
                </a:solidFill>
                <a:latin typeface="Poppins"/>
                <a:ea typeface="Poppins"/>
                <a:cs typeface="Poppins"/>
                <a:sym typeface="Poppins"/>
              </a:rPr>
              <a:t>Improves accuracy of data and reduces human errors.</a:t>
            </a:r>
          </a:p>
          <a:p>
            <a:pPr algn="l" marL="752445" indent="-376223" lvl="1">
              <a:lnSpc>
                <a:spcPts val="4879"/>
              </a:lnSpc>
              <a:buFont typeface="Arial"/>
              <a:buChar char="•"/>
            </a:pPr>
            <a:r>
              <a:rPr lang="en-US" sz="3485">
                <a:solidFill>
                  <a:srgbClr val="000000"/>
                </a:solidFill>
                <a:latin typeface="Poppins"/>
                <a:ea typeface="Poppins"/>
                <a:cs typeface="Poppins"/>
                <a:sym typeface="Poppins"/>
              </a:rPr>
              <a:t>Allows sales teams to track customer interactions and follow-ups.</a:t>
            </a:r>
          </a:p>
          <a:p>
            <a:pPr algn="l" marL="752445" indent="-376223" lvl="1">
              <a:lnSpc>
                <a:spcPts val="4879"/>
              </a:lnSpc>
              <a:buFont typeface="Arial"/>
              <a:buChar char="•"/>
            </a:pPr>
            <a:r>
              <a:rPr lang="en-US" sz="3485">
                <a:solidFill>
                  <a:srgbClr val="000000"/>
                </a:solidFill>
                <a:latin typeface="Poppins"/>
                <a:ea typeface="Poppins"/>
                <a:cs typeface="Poppins"/>
                <a:sym typeface="Poppins"/>
              </a:rPr>
              <a:t>Helps in managing customer orders and sales transactions efficiently.</a:t>
            </a:r>
          </a:p>
          <a:p>
            <a:pPr algn="l">
              <a:lnSpc>
                <a:spcPts val="48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585030" y="937635"/>
            <a:ext cx="9944504" cy="2221758"/>
          </a:xfrm>
          <a:prstGeom prst="rect">
            <a:avLst/>
          </a:prstGeom>
        </p:spPr>
        <p:txBody>
          <a:bodyPr anchor="t" rtlCol="false" tIns="0" lIns="0" bIns="0" rIns="0">
            <a:spAutoFit/>
          </a:bodyPr>
          <a:lstStyle/>
          <a:p>
            <a:pPr algn="ctr">
              <a:lnSpc>
                <a:spcPts val="8985"/>
              </a:lnSpc>
            </a:pPr>
            <a:r>
              <a:rPr lang="en-US" b="true" sz="6417">
                <a:solidFill>
                  <a:srgbClr val="000000"/>
                </a:solidFill>
                <a:latin typeface="Proxima Nova Bold"/>
                <a:ea typeface="Proxima Nova Bold"/>
                <a:cs typeface="Proxima Nova Bold"/>
                <a:sym typeface="Proxima Nova Bold"/>
              </a:rPr>
              <a:t>FEATURES OF SALES AUTOMATION SYSTEM</a:t>
            </a:r>
          </a:p>
        </p:txBody>
      </p:sp>
      <p:sp>
        <p:nvSpPr>
          <p:cNvPr name="TextBox 15" id="15"/>
          <p:cNvSpPr txBox="true"/>
          <p:nvPr/>
        </p:nvSpPr>
        <p:spPr>
          <a:xfrm rot="0">
            <a:off x="1028700" y="3612201"/>
            <a:ext cx="15440287" cy="6157804"/>
          </a:xfrm>
          <a:prstGeom prst="rect">
            <a:avLst/>
          </a:prstGeom>
        </p:spPr>
        <p:txBody>
          <a:bodyPr anchor="t" rtlCol="false" tIns="0" lIns="0" bIns="0" rIns="0">
            <a:spAutoFit/>
          </a:bodyPr>
          <a:lstStyle/>
          <a:p>
            <a:pPr algn="l">
              <a:lnSpc>
                <a:spcPts val="4879"/>
              </a:lnSpc>
            </a:pPr>
          </a:p>
          <a:p>
            <a:pPr algn="l" marL="752445" indent="-376223" lvl="1">
              <a:lnSpc>
                <a:spcPts val="4879"/>
              </a:lnSpc>
              <a:buFont typeface="Arial"/>
              <a:buChar char="•"/>
            </a:pPr>
            <a:r>
              <a:rPr lang="en-US" sz="3485">
                <a:solidFill>
                  <a:srgbClr val="000000"/>
                </a:solidFill>
                <a:latin typeface="Poppins"/>
                <a:ea typeface="Poppins"/>
                <a:cs typeface="Poppins"/>
                <a:sym typeface="Poppins"/>
              </a:rPr>
              <a:t>Customer Management: Stores customer details and purchase history.</a:t>
            </a:r>
          </a:p>
          <a:p>
            <a:pPr algn="l" marL="752445" indent="-376223" lvl="1">
              <a:lnSpc>
                <a:spcPts val="4879"/>
              </a:lnSpc>
              <a:buFont typeface="Arial"/>
              <a:buChar char="•"/>
            </a:pPr>
            <a:r>
              <a:rPr lang="en-US" sz="3485">
                <a:solidFill>
                  <a:srgbClr val="000000"/>
                </a:solidFill>
                <a:latin typeface="Poppins"/>
                <a:ea typeface="Poppins"/>
                <a:cs typeface="Poppins"/>
                <a:sym typeface="Poppins"/>
              </a:rPr>
              <a:t>Sales Tracking: Keeps records of sales activities and transactions.</a:t>
            </a:r>
          </a:p>
          <a:p>
            <a:pPr algn="l" marL="752445" indent="-376223" lvl="1">
              <a:lnSpc>
                <a:spcPts val="4879"/>
              </a:lnSpc>
              <a:buFont typeface="Arial"/>
              <a:buChar char="•"/>
            </a:pPr>
            <a:r>
              <a:rPr lang="en-US" sz="3485">
                <a:solidFill>
                  <a:srgbClr val="000000"/>
                </a:solidFill>
                <a:latin typeface="Poppins"/>
                <a:ea typeface="Poppins"/>
                <a:cs typeface="Poppins"/>
                <a:sym typeface="Poppins"/>
              </a:rPr>
              <a:t>Lead Management: Helps track potential customers and follow up with them.</a:t>
            </a:r>
          </a:p>
          <a:p>
            <a:pPr algn="l" marL="752445" indent="-376223" lvl="1">
              <a:lnSpc>
                <a:spcPts val="4879"/>
              </a:lnSpc>
              <a:buFont typeface="Arial"/>
              <a:buChar char="•"/>
            </a:pPr>
            <a:r>
              <a:rPr lang="en-US" sz="3485">
                <a:solidFill>
                  <a:srgbClr val="000000"/>
                </a:solidFill>
                <a:latin typeface="Poppins"/>
                <a:ea typeface="Poppins"/>
                <a:cs typeface="Poppins"/>
                <a:sym typeface="Poppins"/>
              </a:rPr>
              <a:t>Order Management: Records customer orders and monitors their status.</a:t>
            </a:r>
          </a:p>
          <a:p>
            <a:pPr algn="l">
              <a:lnSpc>
                <a:spcPts val="4879"/>
              </a:lnSpc>
            </a:pPr>
          </a:p>
          <a:p>
            <a:pPr algn="l">
              <a:lnSpc>
                <a:spcPts val="487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470367" y="-122700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15200" y="-903796"/>
            <a:ext cx="3404467" cy="3404467"/>
          </a:xfrm>
          <a:custGeom>
            <a:avLst/>
            <a:gdLst/>
            <a:ahLst/>
            <a:cxnLst/>
            <a:rect r="r" b="b" t="t" l="l"/>
            <a:pathLst>
              <a:path h="3404467" w="3404467">
                <a:moveTo>
                  <a:pt x="0" y="0"/>
                </a:moveTo>
                <a:lnTo>
                  <a:pt x="3404467" y="0"/>
                </a:lnTo>
                <a:lnTo>
                  <a:pt x="3404467"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585767"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881954"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3697597" y="9359969"/>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7259300" y="7969033"/>
            <a:ext cx="2578533" cy="2578533"/>
          </a:xfrm>
          <a:custGeom>
            <a:avLst/>
            <a:gdLst/>
            <a:ahLst/>
            <a:cxnLst/>
            <a:rect r="r" b="b" t="t" l="l"/>
            <a:pathLst>
              <a:path h="2578533" w="2578533">
                <a:moveTo>
                  <a:pt x="0" y="0"/>
                </a:moveTo>
                <a:lnTo>
                  <a:pt x="2578533" y="0"/>
                </a:lnTo>
                <a:lnTo>
                  <a:pt x="2578533"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02233" y="-458868"/>
            <a:ext cx="2578533" cy="2578533"/>
          </a:xfrm>
          <a:custGeom>
            <a:avLst/>
            <a:gdLst/>
            <a:ahLst/>
            <a:cxnLst/>
            <a:rect r="r" b="b" t="t" l="l"/>
            <a:pathLst>
              <a:path h="2578533" w="2578533">
                <a:moveTo>
                  <a:pt x="0" y="0"/>
                </a:moveTo>
                <a:lnTo>
                  <a:pt x="2578533" y="0"/>
                </a:lnTo>
                <a:lnTo>
                  <a:pt x="2578533" y="2578533"/>
                </a:lnTo>
                <a:lnTo>
                  <a:pt x="0" y="2578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876300" y="-2782393"/>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735158" y="240966"/>
            <a:ext cx="12817685" cy="2105015"/>
          </a:xfrm>
          <a:prstGeom prst="rect">
            <a:avLst/>
          </a:prstGeom>
        </p:spPr>
        <p:txBody>
          <a:bodyPr anchor="t" rtlCol="false" tIns="0" lIns="0" bIns="0" rIns="0">
            <a:spAutoFit/>
          </a:bodyPr>
          <a:lstStyle/>
          <a:p>
            <a:pPr algn="ctr">
              <a:lnSpc>
                <a:spcPts val="8400"/>
              </a:lnSpc>
            </a:pPr>
            <a:r>
              <a:rPr lang="en-US" b="true" sz="6000">
                <a:solidFill>
                  <a:srgbClr val="000000"/>
                </a:solidFill>
                <a:latin typeface="Proxima Nova Bold"/>
                <a:ea typeface="Proxima Nova Bold"/>
                <a:cs typeface="Proxima Nova Bold"/>
                <a:sym typeface="Proxima Nova Bold"/>
              </a:rPr>
              <a:t>OVERVIEW OF THREE-TIER ARCHITECTURE</a:t>
            </a:r>
          </a:p>
        </p:txBody>
      </p:sp>
      <p:sp>
        <p:nvSpPr>
          <p:cNvPr name="TextBox 15" id="15"/>
          <p:cNvSpPr txBox="true"/>
          <p:nvPr/>
        </p:nvSpPr>
        <p:spPr>
          <a:xfrm rot="0">
            <a:off x="1489827" y="2603380"/>
            <a:ext cx="14766754" cy="6887499"/>
          </a:xfrm>
          <a:prstGeom prst="rect">
            <a:avLst/>
          </a:prstGeom>
        </p:spPr>
        <p:txBody>
          <a:bodyPr anchor="t" rtlCol="false" tIns="0" lIns="0" bIns="0" rIns="0">
            <a:spAutoFit/>
          </a:bodyPr>
          <a:lstStyle/>
          <a:p>
            <a:pPr algn="l">
              <a:lnSpc>
                <a:spcPts val="4940"/>
              </a:lnSpc>
            </a:pPr>
            <a:r>
              <a:rPr lang="en-US" sz="3529">
                <a:solidFill>
                  <a:srgbClr val="000000"/>
                </a:solidFill>
                <a:latin typeface="Poppins"/>
                <a:ea typeface="Poppins"/>
                <a:cs typeface="Poppins"/>
                <a:sym typeface="Poppins"/>
              </a:rPr>
              <a:t>Three-Tier Architecture is a software design model where an application is divided into three separate layers (tiers).</a:t>
            </a:r>
          </a:p>
          <a:p>
            <a:pPr algn="l">
              <a:lnSpc>
                <a:spcPts val="4940"/>
              </a:lnSpc>
            </a:pPr>
            <a:r>
              <a:rPr lang="en-US" sz="3529">
                <a:solidFill>
                  <a:srgbClr val="000000"/>
                </a:solidFill>
                <a:latin typeface="Poppins"/>
                <a:ea typeface="Poppins"/>
                <a:cs typeface="Poppins"/>
                <a:sym typeface="Poppins"/>
              </a:rPr>
              <a:t>Purpose:</a:t>
            </a:r>
          </a:p>
          <a:p>
            <a:pPr algn="l" marL="761952" indent="-380976" lvl="1">
              <a:lnSpc>
                <a:spcPts val="4940"/>
              </a:lnSpc>
              <a:buFont typeface="Arial"/>
              <a:buChar char="•"/>
            </a:pPr>
            <a:r>
              <a:rPr lang="en-US" sz="3529">
                <a:solidFill>
                  <a:srgbClr val="000000"/>
                </a:solidFill>
                <a:latin typeface="Poppins"/>
                <a:ea typeface="Poppins"/>
                <a:cs typeface="Poppins"/>
                <a:sym typeface="Poppins"/>
              </a:rPr>
              <a:t>Improves scalability, security, and maintainability</a:t>
            </a:r>
          </a:p>
          <a:p>
            <a:pPr algn="l" marL="761952" indent="-380976" lvl="1">
              <a:lnSpc>
                <a:spcPts val="4940"/>
              </a:lnSpc>
              <a:buFont typeface="Arial"/>
              <a:buChar char="•"/>
            </a:pPr>
            <a:r>
              <a:rPr lang="en-US" sz="3529">
                <a:solidFill>
                  <a:srgbClr val="000000"/>
                </a:solidFill>
                <a:latin typeface="Poppins"/>
                <a:ea typeface="Poppins"/>
                <a:cs typeface="Poppins"/>
                <a:sym typeface="Poppins"/>
              </a:rPr>
              <a:t>Each layer performs a specific function</a:t>
            </a:r>
          </a:p>
          <a:p>
            <a:pPr algn="l" marL="761952" indent="-380976" lvl="1">
              <a:lnSpc>
                <a:spcPts val="4940"/>
              </a:lnSpc>
              <a:buFont typeface="Arial"/>
              <a:buChar char="•"/>
            </a:pPr>
            <a:r>
              <a:rPr lang="en-US" sz="3529">
                <a:solidFill>
                  <a:srgbClr val="000000"/>
                </a:solidFill>
                <a:latin typeface="Poppins"/>
                <a:ea typeface="Poppins"/>
                <a:cs typeface="Poppins"/>
                <a:sym typeface="Poppins"/>
              </a:rPr>
              <a:t>Changes in one layer do not affect the others</a:t>
            </a:r>
          </a:p>
          <a:p>
            <a:pPr algn="l">
              <a:lnSpc>
                <a:spcPts val="4940"/>
              </a:lnSpc>
            </a:pPr>
            <a:r>
              <a:rPr lang="en-US" sz="3529">
                <a:solidFill>
                  <a:srgbClr val="000000"/>
                </a:solidFill>
                <a:latin typeface="Poppins"/>
                <a:ea typeface="Poppins"/>
                <a:cs typeface="Poppins"/>
                <a:sym typeface="Poppins"/>
              </a:rPr>
              <a:t>In a Sales Automation System:</a:t>
            </a:r>
          </a:p>
          <a:p>
            <a:pPr algn="l" marL="761952" indent="-380976" lvl="1">
              <a:lnSpc>
                <a:spcPts val="4940"/>
              </a:lnSpc>
              <a:buFont typeface="Arial"/>
              <a:buChar char="•"/>
            </a:pPr>
            <a:r>
              <a:rPr lang="en-US" sz="3529">
                <a:solidFill>
                  <a:srgbClr val="000000"/>
                </a:solidFill>
                <a:latin typeface="Poppins"/>
                <a:ea typeface="Poppins"/>
                <a:cs typeface="Poppins"/>
                <a:sym typeface="Poppins"/>
              </a:rPr>
              <a:t>Helps manage customer data, sales tracking, and reporting</a:t>
            </a:r>
          </a:p>
          <a:p>
            <a:pPr algn="l" marL="761952" indent="-380976" lvl="1">
              <a:lnSpc>
                <a:spcPts val="4940"/>
              </a:lnSpc>
              <a:buFont typeface="Arial"/>
              <a:buChar char="•"/>
            </a:pPr>
            <a:r>
              <a:rPr lang="en-US" sz="3529">
                <a:solidFill>
                  <a:srgbClr val="000000"/>
                </a:solidFill>
                <a:latin typeface="Poppins"/>
                <a:ea typeface="Poppins"/>
                <a:cs typeface="Poppins"/>
                <a:sym typeface="Poppins"/>
              </a:rPr>
              <a:t>Ensures smooth communication between users, business logic, and databases</a:t>
            </a:r>
          </a:p>
          <a:p>
            <a:pPr algn="l">
              <a:lnSpc>
                <a:spcPts val="49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470367" y="-122700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15200" y="-903796"/>
            <a:ext cx="3404467" cy="3404467"/>
          </a:xfrm>
          <a:custGeom>
            <a:avLst/>
            <a:gdLst/>
            <a:ahLst/>
            <a:cxnLst/>
            <a:rect r="r" b="b" t="t" l="l"/>
            <a:pathLst>
              <a:path h="3404467" w="3404467">
                <a:moveTo>
                  <a:pt x="0" y="0"/>
                </a:moveTo>
                <a:lnTo>
                  <a:pt x="3404467" y="0"/>
                </a:lnTo>
                <a:lnTo>
                  <a:pt x="3404467"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585767"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881954"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376537" y="9359969"/>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7259300" y="7969033"/>
            <a:ext cx="2578533" cy="2578533"/>
          </a:xfrm>
          <a:custGeom>
            <a:avLst/>
            <a:gdLst/>
            <a:ahLst/>
            <a:cxnLst/>
            <a:rect r="r" b="b" t="t" l="l"/>
            <a:pathLst>
              <a:path h="2578533" w="2578533">
                <a:moveTo>
                  <a:pt x="0" y="0"/>
                </a:moveTo>
                <a:lnTo>
                  <a:pt x="2578533" y="0"/>
                </a:lnTo>
                <a:lnTo>
                  <a:pt x="2578533"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02233" y="-458868"/>
            <a:ext cx="2578533" cy="2578533"/>
          </a:xfrm>
          <a:custGeom>
            <a:avLst/>
            <a:gdLst/>
            <a:ahLst/>
            <a:cxnLst/>
            <a:rect r="r" b="b" t="t" l="l"/>
            <a:pathLst>
              <a:path h="2578533" w="2578533">
                <a:moveTo>
                  <a:pt x="0" y="0"/>
                </a:moveTo>
                <a:lnTo>
                  <a:pt x="2578533" y="0"/>
                </a:lnTo>
                <a:lnTo>
                  <a:pt x="2578533" y="2578533"/>
                </a:lnTo>
                <a:lnTo>
                  <a:pt x="0" y="2578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876300" y="-2782393"/>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735158" y="240966"/>
            <a:ext cx="12817685" cy="2105015"/>
          </a:xfrm>
          <a:prstGeom prst="rect">
            <a:avLst/>
          </a:prstGeom>
        </p:spPr>
        <p:txBody>
          <a:bodyPr anchor="t" rtlCol="false" tIns="0" lIns="0" bIns="0" rIns="0">
            <a:spAutoFit/>
          </a:bodyPr>
          <a:lstStyle/>
          <a:p>
            <a:pPr algn="ctr">
              <a:lnSpc>
                <a:spcPts val="8400"/>
              </a:lnSpc>
            </a:pPr>
            <a:r>
              <a:rPr lang="en-US" b="true" sz="6000">
                <a:solidFill>
                  <a:srgbClr val="000000"/>
                </a:solidFill>
                <a:latin typeface="Proxima Nova Bold"/>
                <a:ea typeface="Proxima Nova Bold"/>
                <a:cs typeface="Proxima Nova Bold"/>
                <a:sym typeface="Proxima Nova Bold"/>
              </a:rPr>
              <a:t>STRUCTURE OF THREE-TIER ARCHITECTURE</a:t>
            </a:r>
          </a:p>
        </p:txBody>
      </p:sp>
      <p:sp>
        <p:nvSpPr>
          <p:cNvPr name="TextBox 15" id="15"/>
          <p:cNvSpPr txBox="true"/>
          <p:nvPr/>
        </p:nvSpPr>
        <p:spPr>
          <a:xfrm rot="0">
            <a:off x="1899023" y="2405420"/>
            <a:ext cx="14432154" cy="7750068"/>
          </a:xfrm>
          <a:prstGeom prst="rect">
            <a:avLst/>
          </a:prstGeom>
        </p:spPr>
        <p:txBody>
          <a:bodyPr anchor="t" rtlCol="false" tIns="0" lIns="0" bIns="0" rIns="0">
            <a:spAutoFit/>
          </a:bodyPr>
          <a:lstStyle/>
          <a:p>
            <a:pPr algn="l">
              <a:lnSpc>
                <a:spcPts val="4380"/>
              </a:lnSpc>
            </a:pPr>
            <a:r>
              <a:rPr lang="en-US" sz="3129">
                <a:solidFill>
                  <a:srgbClr val="000000"/>
                </a:solidFill>
                <a:latin typeface="Poppins"/>
                <a:ea typeface="Poppins"/>
                <a:cs typeface="Poppins"/>
                <a:sym typeface="Poppins"/>
              </a:rPr>
              <a:t>A Sales Automation System typically consists of three layers:</a:t>
            </a:r>
          </a:p>
          <a:p>
            <a:pPr algn="l" marL="675593" indent="-337797" lvl="1">
              <a:lnSpc>
                <a:spcPts val="4380"/>
              </a:lnSpc>
              <a:buAutoNum type="arabicPeriod" startAt="1"/>
            </a:pPr>
            <a:r>
              <a:rPr lang="en-US" sz="3129">
                <a:solidFill>
                  <a:srgbClr val="000000"/>
                </a:solidFill>
                <a:latin typeface="Poppins"/>
                <a:ea typeface="Poppins"/>
                <a:cs typeface="Poppins"/>
                <a:sym typeface="Poppins"/>
              </a:rPr>
              <a:t>Presentation Tier (User Interface Layer)</a:t>
            </a:r>
          </a:p>
          <a:p>
            <a:pPr algn="l" marL="1351186" indent="-450395" lvl="2">
              <a:lnSpc>
                <a:spcPts val="4380"/>
              </a:lnSpc>
              <a:buFont typeface="Arial"/>
              <a:buChar char="⚬"/>
            </a:pPr>
            <a:r>
              <a:rPr lang="en-US" sz="3129">
                <a:solidFill>
                  <a:srgbClr val="000000"/>
                </a:solidFill>
                <a:latin typeface="Poppins"/>
                <a:ea typeface="Poppins"/>
                <a:cs typeface="Poppins"/>
                <a:sym typeface="Poppins"/>
              </a:rPr>
              <a:t>The front-end where </a:t>
            </a:r>
            <a:r>
              <a:rPr lang="en-US" sz="3129">
                <a:solidFill>
                  <a:srgbClr val="000000"/>
                </a:solidFill>
                <a:latin typeface="Poppins"/>
                <a:ea typeface="Poppins"/>
                <a:cs typeface="Poppins"/>
                <a:sym typeface="Poppins"/>
              </a:rPr>
              <a:t>users interact with the system</a:t>
            </a:r>
          </a:p>
          <a:p>
            <a:pPr algn="l" marL="1351186" indent="-450395" lvl="2">
              <a:lnSpc>
                <a:spcPts val="4380"/>
              </a:lnSpc>
              <a:buFont typeface="Arial"/>
              <a:buChar char="⚬"/>
            </a:pPr>
            <a:r>
              <a:rPr lang="en-US" sz="3129">
                <a:solidFill>
                  <a:srgbClr val="000000"/>
                </a:solidFill>
                <a:latin typeface="Poppins"/>
                <a:ea typeface="Poppins"/>
                <a:cs typeface="Poppins"/>
                <a:sym typeface="Poppins"/>
              </a:rPr>
              <a:t>Displays information and collects user input</a:t>
            </a:r>
          </a:p>
          <a:p>
            <a:pPr algn="l" marL="675593" indent="-337797" lvl="1">
              <a:lnSpc>
                <a:spcPts val="4380"/>
              </a:lnSpc>
              <a:buAutoNum type="arabicPeriod" startAt="1"/>
            </a:pPr>
            <a:r>
              <a:rPr lang="en-US" sz="3129">
                <a:solidFill>
                  <a:srgbClr val="000000"/>
                </a:solidFill>
                <a:latin typeface="Poppins"/>
                <a:ea typeface="Poppins"/>
                <a:cs typeface="Poppins"/>
                <a:sym typeface="Poppins"/>
              </a:rPr>
              <a:t>Application Tier (Business Logic Layer)</a:t>
            </a:r>
          </a:p>
          <a:p>
            <a:pPr algn="l" marL="1351186" indent="-450395" lvl="2">
              <a:lnSpc>
                <a:spcPts val="4380"/>
              </a:lnSpc>
              <a:buFont typeface="Arial"/>
              <a:buChar char="⚬"/>
            </a:pPr>
            <a:r>
              <a:rPr lang="en-US" sz="3129">
                <a:solidFill>
                  <a:srgbClr val="000000"/>
                </a:solidFill>
                <a:latin typeface="Poppins"/>
                <a:ea typeface="Poppins"/>
                <a:cs typeface="Poppins"/>
                <a:sym typeface="Poppins"/>
              </a:rPr>
              <a:t>Processes the user requests</a:t>
            </a:r>
          </a:p>
          <a:p>
            <a:pPr algn="l" marL="1351186" indent="-450395" lvl="2">
              <a:lnSpc>
                <a:spcPts val="4380"/>
              </a:lnSpc>
              <a:buFont typeface="Arial"/>
              <a:buChar char="⚬"/>
            </a:pPr>
            <a:r>
              <a:rPr lang="en-US" sz="3129">
                <a:solidFill>
                  <a:srgbClr val="000000"/>
                </a:solidFill>
                <a:latin typeface="Poppins"/>
                <a:ea typeface="Poppins"/>
                <a:cs typeface="Poppins"/>
                <a:sym typeface="Poppins"/>
              </a:rPr>
              <a:t>Applies</a:t>
            </a:r>
            <a:r>
              <a:rPr lang="en-US" sz="3129">
                <a:solidFill>
                  <a:srgbClr val="000000"/>
                </a:solidFill>
                <a:latin typeface="Poppins"/>
                <a:ea typeface="Poppins"/>
                <a:cs typeface="Poppins"/>
                <a:sym typeface="Poppins"/>
              </a:rPr>
              <a:t> business rules and workflows</a:t>
            </a:r>
          </a:p>
          <a:p>
            <a:pPr algn="l" marL="675593" indent="-337797" lvl="1">
              <a:lnSpc>
                <a:spcPts val="4380"/>
              </a:lnSpc>
              <a:buAutoNum type="arabicPeriod" startAt="1"/>
            </a:pPr>
            <a:r>
              <a:rPr lang="en-US" sz="3129">
                <a:solidFill>
                  <a:srgbClr val="000000"/>
                </a:solidFill>
                <a:latin typeface="Poppins"/>
                <a:ea typeface="Poppins"/>
                <a:cs typeface="Poppins"/>
                <a:sym typeface="Poppins"/>
              </a:rPr>
              <a:t>Data Tier (Database Layer)</a:t>
            </a:r>
          </a:p>
          <a:p>
            <a:pPr algn="l" marL="1351186" indent="-450395" lvl="2">
              <a:lnSpc>
                <a:spcPts val="4380"/>
              </a:lnSpc>
              <a:buFont typeface="Arial"/>
              <a:buChar char="⚬"/>
            </a:pPr>
            <a:r>
              <a:rPr lang="en-US" sz="3129">
                <a:solidFill>
                  <a:srgbClr val="000000"/>
                </a:solidFill>
                <a:latin typeface="Poppins"/>
                <a:ea typeface="Poppins"/>
                <a:cs typeface="Poppins"/>
                <a:sym typeface="Poppins"/>
              </a:rPr>
              <a:t>Stor</a:t>
            </a:r>
            <a:r>
              <a:rPr lang="en-US" sz="3129">
                <a:solidFill>
                  <a:srgbClr val="000000"/>
                </a:solidFill>
                <a:latin typeface="Poppins"/>
                <a:ea typeface="Poppins"/>
                <a:cs typeface="Poppins"/>
                <a:sym typeface="Poppins"/>
              </a:rPr>
              <a:t>es and manages application data</a:t>
            </a:r>
          </a:p>
          <a:p>
            <a:pPr algn="l" marL="1351186" indent="-450395" lvl="2">
              <a:lnSpc>
                <a:spcPts val="4380"/>
              </a:lnSpc>
              <a:buFont typeface="Arial"/>
              <a:buChar char="⚬"/>
            </a:pPr>
            <a:r>
              <a:rPr lang="en-US" sz="3129">
                <a:solidFill>
                  <a:srgbClr val="000000"/>
                </a:solidFill>
                <a:latin typeface="Poppins"/>
                <a:ea typeface="Poppins"/>
                <a:cs typeface="Poppins"/>
                <a:sym typeface="Poppins"/>
              </a:rPr>
              <a:t>Handles data retrieval and storage</a:t>
            </a:r>
          </a:p>
          <a:p>
            <a:pPr algn="l">
              <a:lnSpc>
                <a:spcPts val="4380"/>
              </a:lnSpc>
            </a:pPr>
            <a:r>
              <a:rPr lang="en-US" sz="3129">
                <a:solidFill>
                  <a:srgbClr val="000000"/>
                </a:solidFill>
                <a:latin typeface="Poppins"/>
                <a:ea typeface="Poppins"/>
                <a:cs typeface="Poppins"/>
                <a:sym typeface="Poppins"/>
              </a:rPr>
              <a:t>Example:</a:t>
            </a:r>
          </a:p>
          <a:p>
            <a:pPr algn="l">
              <a:lnSpc>
                <a:spcPts val="4380"/>
              </a:lnSpc>
            </a:pPr>
            <a:r>
              <a:rPr lang="en-US" sz="3129">
                <a:solidFill>
                  <a:srgbClr val="000000"/>
                </a:solidFill>
                <a:latin typeface="Poppins"/>
                <a:ea typeface="Poppins"/>
                <a:cs typeface="Poppins"/>
                <a:sym typeface="Poppins"/>
              </a:rPr>
              <a:t> Salesperson enters customer order → Application processes it → Data stored in database.</a:t>
            </a:r>
          </a:p>
          <a:p>
            <a:pPr algn="l">
              <a:lnSpc>
                <a:spcPts val="438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470367" y="-122700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15200" y="-903796"/>
            <a:ext cx="3404467" cy="3404467"/>
          </a:xfrm>
          <a:custGeom>
            <a:avLst/>
            <a:gdLst/>
            <a:ahLst/>
            <a:cxnLst/>
            <a:rect r="r" b="b" t="t" l="l"/>
            <a:pathLst>
              <a:path h="3404467" w="3404467">
                <a:moveTo>
                  <a:pt x="0" y="0"/>
                </a:moveTo>
                <a:lnTo>
                  <a:pt x="3404467" y="0"/>
                </a:lnTo>
                <a:lnTo>
                  <a:pt x="3404467"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585767"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881954"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376537" y="9359969"/>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7259300" y="7969033"/>
            <a:ext cx="2578533" cy="2578533"/>
          </a:xfrm>
          <a:custGeom>
            <a:avLst/>
            <a:gdLst/>
            <a:ahLst/>
            <a:cxnLst/>
            <a:rect r="r" b="b" t="t" l="l"/>
            <a:pathLst>
              <a:path h="2578533" w="2578533">
                <a:moveTo>
                  <a:pt x="0" y="0"/>
                </a:moveTo>
                <a:lnTo>
                  <a:pt x="2578533" y="0"/>
                </a:lnTo>
                <a:lnTo>
                  <a:pt x="2578533"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02233" y="-458868"/>
            <a:ext cx="2578533" cy="2578533"/>
          </a:xfrm>
          <a:custGeom>
            <a:avLst/>
            <a:gdLst/>
            <a:ahLst/>
            <a:cxnLst/>
            <a:rect r="r" b="b" t="t" l="l"/>
            <a:pathLst>
              <a:path h="2578533" w="2578533">
                <a:moveTo>
                  <a:pt x="0" y="0"/>
                </a:moveTo>
                <a:lnTo>
                  <a:pt x="2578533" y="0"/>
                </a:lnTo>
                <a:lnTo>
                  <a:pt x="2578533" y="2578533"/>
                </a:lnTo>
                <a:lnTo>
                  <a:pt x="0" y="2578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311298"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735158" y="529004"/>
            <a:ext cx="12817685" cy="2105015"/>
          </a:xfrm>
          <a:prstGeom prst="rect">
            <a:avLst/>
          </a:prstGeom>
        </p:spPr>
        <p:txBody>
          <a:bodyPr anchor="t" rtlCol="false" tIns="0" lIns="0" bIns="0" rIns="0">
            <a:spAutoFit/>
          </a:bodyPr>
          <a:lstStyle/>
          <a:p>
            <a:pPr algn="ctr">
              <a:lnSpc>
                <a:spcPts val="8400"/>
              </a:lnSpc>
            </a:pPr>
            <a:r>
              <a:rPr lang="en-US" b="true" sz="6000">
                <a:solidFill>
                  <a:srgbClr val="000000"/>
                </a:solidFill>
                <a:latin typeface="Proxima Nova Bold"/>
                <a:ea typeface="Proxima Nova Bold"/>
                <a:cs typeface="Proxima Nova Bold"/>
                <a:sym typeface="Proxima Nova Bold"/>
              </a:rPr>
              <a:t>WHY THREE-TIER ARCHITECTURE IS USED IN SALES AUTOMATION</a:t>
            </a:r>
          </a:p>
        </p:txBody>
      </p:sp>
      <p:sp>
        <p:nvSpPr>
          <p:cNvPr name="TextBox 15" id="15"/>
          <p:cNvSpPr txBox="true"/>
          <p:nvPr/>
        </p:nvSpPr>
        <p:spPr>
          <a:xfrm rot="0">
            <a:off x="1927923" y="3080586"/>
            <a:ext cx="14432154" cy="6645168"/>
          </a:xfrm>
          <a:prstGeom prst="rect">
            <a:avLst/>
          </a:prstGeom>
        </p:spPr>
        <p:txBody>
          <a:bodyPr anchor="t" rtlCol="false" tIns="0" lIns="0" bIns="0" rIns="0">
            <a:spAutoFit/>
          </a:bodyPr>
          <a:lstStyle/>
          <a:p>
            <a:pPr algn="l">
              <a:lnSpc>
                <a:spcPts val="4380"/>
              </a:lnSpc>
            </a:pPr>
            <a:r>
              <a:rPr lang="en-US" sz="3129">
                <a:solidFill>
                  <a:srgbClr val="000000"/>
                </a:solidFill>
                <a:latin typeface="Poppins"/>
                <a:ea typeface="Poppins"/>
                <a:cs typeface="Poppins"/>
                <a:sym typeface="Poppins"/>
              </a:rPr>
              <a:t>1. Better Security</a:t>
            </a:r>
          </a:p>
          <a:p>
            <a:pPr algn="l" marL="675593" indent="-337797" lvl="1">
              <a:lnSpc>
                <a:spcPts val="4380"/>
              </a:lnSpc>
              <a:buFont typeface="Arial"/>
              <a:buChar char="•"/>
            </a:pPr>
            <a:r>
              <a:rPr lang="en-US" sz="3129">
                <a:solidFill>
                  <a:srgbClr val="000000"/>
                </a:solidFill>
                <a:latin typeface="Poppins"/>
                <a:ea typeface="Poppins"/>
                <a:cs typeface="Poppins"/>
                <a:sym typeface="Poppins"/>
              </a:rPr>
              <a:t>Database is not directly accessed by </a:t>
            </a:r>
            <a:r>
              <a:rPr lang="en-US" sz="3129">
                <a:solidFill>
                  <a:srgbClr val="000000"/>
                </a:solidFill>
                <a:latin typeface="Poppins"/>
                <a:ea typeface="Poppins"/>
                <a:cs typeface="Poppins"/>
                <a:sym typeface="Poppins"/>
              </a:rPr>
              <a:t>users.</a:t>
            </a:r>
          </a:p>
          <a:p>
            <a:pPr algn="l">
              <a:lnSpc>
                <a:spcPts val="4380"/>
              </a:lnSpc>
            </a:pPr>
            <a:r>
              <a:rPr lang="en-US" sz="3129">
                <a:solidFill>
                  <a:srgbClr val="000000"/>
                </a:solidFill>
                <a:latin typeface="Poppins"/>
                <a:ea typeface="Poppins"/>
                <a:cs typeface="Poppins"/>
                <a:sym typeface="Poppins"/>
              </a:rPr>
              <a:t>2. Easy Maintenance</a:t>
            </a:r>
          </a:p>
          <a:p>
            <a:pPr algn="l" marL="675593" indent="-337797" lvl="1">
              <a:lnSpc>
                <a:spcPts val="4380"/>
              </a:lnSpc>
              <a:buFont typeface="Arial"/>
              <a:buChar char="•"/>
            </a:pPr>
            <a:r>
              <a:rPr lang="en-US" sz="3129">
                <a:solidFill>
                  <a:srgbClr val="000000"/>
                </a:solidFill>
                <a:latin typeface="Poppins"/>
                <a:ea typeface="Poppins"/>
                <a:cs typeface="Poppins"/>
                <a:sym typeface="Poppins"/>
              </a:rPr>
              <a:t>Developers can update one layer without affecting others.</a:t>
            </a:r>
          </a:p>
          <a:p>
            <a:pPr algn="l">
              <a:lnSpc>
                <a:spcPts val="4380"/>
              </a:lnSpc>
            </a:pPr>
            <a:r>
              <a:rPr lang="en-US" sz="3129">
                <a:solidFill>
                  <a:srgbClr val="000000"/>
                </a:solidFill>
                <a:latin typeface="Poppins"/>
                <a:ea typeface="Poppins"/>
                <a:cs typeface="Poppins"/>
                <a:sym typeface="Poppins"/>
              </a:rPr>
              <a:t>3. Scalability</a:t>
            </a:r>
          </a:p>
          <a:p>
            <a:pPr algn="l" marL="675593" indent="-337797" lvl="1">
              <a:lnSpc>
                <a:spcPts val="4380"/>
              </a:lnSpc>
              <a:buFont typeface="Arial"/>
              <a:buChar char="•"/>
            </a:pPr>
            <a:r>
              <a:rPr lang="en-US" sz="3129">
                <a:solidFill>
                  <a:srgbClr val="000000"/>
                </a:solidFill>
                <a:latin typeface="Poppins"/>
                <a:ea typeface="Poppins"/>
                <a:cs typeface="Poppins"/>
                <a:sym typeface="Poppins"/>
              </a:rPr>
              <a:t>Sy</a:t>
            </a:r>
            <a:r>
              <a:rPr lang="en-US" sz="3129">
                <a:solidFill>
                  <a:srgbClr val="000000"/>
                </a:solidFill>
                <a:latin typeface="Poppins"/>
                <a:ea typeface="Poppins"/>
                <a:cs typeface="Poppins"/>
                <a:sym typeface="Poppins"/>
              </a:rPr>
              <a:t>stem can handle more users and larger data as sales grow.</a:t>
            </a:r>
          </a:p>
          <a:p>
            <a:pPr algn="l">
              <a:lnSpc>
                <a:spcPts val="4380"/>
              </a:lnSpc>
            </a:pPr>
            <a:r>
              <a:rPr lang="en-US" sz="3129">
                <a:solidFill>
                  <a:srgbClr val="000000"/>
                </a:solidFill>
                <a:latin typeface="Poppins"/>
                <a:ea typeface="Poppins"/>
                <a:cs typeface="Poppins"/>
                <a:sym typeface="Poppins"/>
              </a:rPr>
              <a:t>4. Imp</a:t>
            </a:r>
            <a:r>
              <a:rPr lang="en-US" sz="3129">
                <a:solidFill>
                  <a:srgbClr val="000000"/>
                </a:solidFill>
                <a:latin typeface="Poppins"/>
                <a:ea typeface="Poppins"/>
                <a:cs typeface="Poppins"/>
                <a:sym typeface="Poppins"/>
              </a:rPr>
              <a:t>rov</a:t>
            </a:r>
            <a:r>
              <a:rPr lang="en-US" sz="3129">
                <a:solidFill>
                  <a:srgbClr val="000000"/>
                </a:solidFill>
                <a:latin typeface="Poppins"/>
                <a:ea typeface="Poppins"/>
                <a:cs typeface="Poppins"/>
                <a:sym typeface="Poppins"/>
              </a:rPr>
              <a:t>ed Performance</a:t>
            </a:r>
          </a:p>
          <a:p>
            <a:pPr algn="l" marL="675593" indent="-337797" lvl="1">
              <a:lnSpc>
                <a:spcPts val="4380"/>
              </a:lnSpc>
              <a:buFont typeface="Arial"/>
              <a:buChar char="•"/>
            </a:pPr>
            <a:r>
              <a:rPr lang="en-US" sz="3129">
                <a:solidFill>
                  <a:srgbClr val="000000"/>
                </a:solidFill>
                <a:latin typeface="Poppins"/>
                <a:ea typeface="Poppins"/>
                <a:cs typeface="Poppins"/>
                <a:sym typeface="Poppins"/>
              </a:rPr>
              <a:t>Each tier can be optimized separately.</a:t>
            </a:r>
          </a:p>
          <a:p>
            <a:pPr algn="l">
              <a:lnSpc>
                <a:spcPts val="4380"/>
              </a:lnSpc>
            </a:pPr>
            <a:r>
              <a:rPr lang="en-US" sz="3129">
                <a:solidFill>
                  <a:srgbClr val="000000"/>
                </a:solidFill>
                <a:latin typeface="Poppins"/>
                <a:ea typeface="Poppins"/>
                <a:cs typeface="Poppins"/>
                <a:sym typeface="Poppins"/>
              </a:rPr>
              <a:t>Example in Sales Automation:</a:t>
            </a:r>
          </a:p>
          <a:p>
            <a:pPr algn="l" marL="675593" indent="-337797" lvl="1">
              <a:lnSpc>
                <a:spcPts val="4380"/>
              </a:lnSpc>
              <a:buFont typeface="Arial"/>
              <a:buChar char="•"/>
            </a:pPr>
            <a:r>
              <a:rPr lang="en-US" sz="3129">
                <a:solidFill>
                  <a:srgbClr val="000000"/>
                </a:solidFill>
                <a:latin typeface="Poppins"/>
                <a:ea typeface="Poppins"/>
                <a:cs typeface="Poppins"/>
                <a:sym typeface="Poppins"/>
              </a:rPr>
              <a:t>Sales teams can track leads, customer information, orders, and sales reports efficiently.</a:t>
            </a:r>
          </a:p>
          <a:p>
            <a:pPr algn="l">
              <a:lnSpc>
                <a:spcPts val="438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768082" y="976670"/>
            <a:ext cx="11931574" cy="1318887"/>
          </a:xfrm>
          <a:prstGeom prst="rect">
            <a:avLst/>
          </a:prstGeom>
        </p:spPr>
        <p:txBody>
          <a:bodyPr anchor="t" rtlCol="false" tIns="0" lIns="0" bIns="0" rIns="0">
            <a:spAutoFit/>
          </a:bodyPr>
          <a:lstStyle/>
          <a:p>
            <a:pPr algn="ctr">
              <a:lnSpc>
                <a:spcPts val="10780"/>
              </a:lnSpc>
            </a:pPr>
            <a:r>
              <a:rPr lang="en-US" b="true" sz="7700">
                <a:solidFill>
                  <a:srgbClr val="000000"/>
                </a:solidFill>
                <a:latin typeface="Proxima Nova Bold"/>
                <a:ea typeface="Proxima Nova Bold"/>
                <a:cs typeface="Proxima Nova Bold"/>
                <a:sym typeface="Proxima Nova Bold"/>
              </a:rPr>
              <a:t>PRESENTATION TIER</a:t>
            </a:r>
          </a:p>
        </p:txBody>
      </p:sp>
      <p:sp>
        <p:nvSpPr>
          <p:cNvPr name="TextBox 15" id="15"/>
          <p:cNvSpPr txBox="true"/>
          <p:nvPr/>
        </p:nvSpPr>
        <p:spPr>
          <a:xfrm rot="0">
            <a:off x="1819013" y="2395895"/>
            <a:ext cx="15062940" cy="703326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The Presentation Tier is the top layer of a Sales Automation System. It is also known as the </a:t>
            </a:r>
            <a:r>
              <a:rPr lang="en-US" sz="3599" b="true">
                <a:solidFill>
                  <a:srgbClr val="000000"/>
                </a:solidFill>
                <a:latin typeface="Poppins Bold"/>
                <a:ea typeface="Poppins Bold"/>
                <a:cs typeface="Poppins Bold"/>
                <a:sym typeface="Poppins Bold"/>
              </a:rPr>
              <a:t>User Interface (UI)</a:t>
            </a:r>
            <a:r>
              <a:rPr lang="en-US" sz="3599">
                <a:solidFill>
                  <a:srgbClr val="000000"/>
                </a:solidFill>
                <a:latin typeface="Poppins"/>
                <a:ea typeface="Poppins"/>
                <a:cs typeface="Poppins"/>
                <a:sym typeface="Poppins"/>
              </a:rPr>
              <a:t> layer because it allows users to interact with the system.</a:t>
            </a:r>
          </a:p>
          <a:p>
            <a:pPr algn="l">
              <a:lnSpc>
                <a:spcPts val="5039"/>
              </a:lnSpc>
            </a:pPr>
          </a:p>
          <a:p>
            <a:pPr algn="l">
              <a:lnSpc>
                <a:spcPts val="5039"/>
              </a:lnSpc>
            </a:pPr>
            <a:r>
              <a:rPr lang="en-US" sz="3599">
                <a:solidFill>
                  <a:srgbClr val="000000"/>
                </a:solidFill>
                <a:latin typeface="Poppins"/>
                <a:ea typeface="Poppins"/>
                <a:cs typeface="Poppins"/>
                <a:sym typeface="Poppins"/>
              </a:rPr>
              <a:t>This layer allows users such as sales representatives, managers, and customers to access the system and perform different sales activities. It provides screens, forms, menus, and dashboards through which users can interact with the system.</a:t>
            </a:r>
          </a:p>
          <a:p>
            <a:pPr algn="l">
              <a:lnSpc>
                <a:spcPts val="5039"/>
              </a:lnSpc>
            </a:pPr>
          </a:p>
          <a:p>
            <a:pPr algn="l">
              <a:lnSpc>
                <a:spcPts val="5039"/>
              </a:lnSpc>
            </a:pPr>
            <a:r>
              <a:rPr lang="en-US" sz="3599" b="true">
                <a:solidFill>
                  <a:srgbClr val="000000"/>
                </a:solidFill>
                <a:latin typeface="Poppins Bold"/>
                <a:ea typeface="Poppins Bold"/>
                <a:cs typeface="Poppins Bold"/>
                <a:sym typeface="Poppins Bold"/>
              </a:rPr>
              <a:t>The main function :</a:t>
            </a:r>
            <a:r>
              <a:rPr lang="en-US" sz="3599">
                <a:solidFill>
                  <a:srgbClr val="000000"/>
                </a:solidFill>
                <a:latin typeface="Poppins"/>
                <a:ea typeface="Poppins"/>
                <a:cs typeface="Poppins"/>
                <a:sym typeface="Poppins"/>
              </a:rPr>
              <a:t> It is to collect user input and display system output.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02233" y="1156044"/>
            <a:ext cx="16558593" cy="1137275"/>
          </a:xfrm>
          <a:prstGeom prst="rect">
            <a:avLst/>
          </a:prstGeom>
        </p:spPr>
        <p:txBody>
          <a:bodyPr anchor="t" rtlCol="false" tIns="0" lIns="0" bIns="0" rIns="0">
            <a:spAutoFit/>
          </a:bodyPr>
          <a:lstStyle/>
          <a:p>
            <a:pPr algn="ctr">
              <a:lnSpc>
                <a:spcPts val="9240"/>
              </a:lnSpc>
            </a:pPr>
            <a:r>
              <a:rPr lang="en-US" b="true" sz="6600">
                <a:solidFill>
                  <a:srgbClr val="000000"/>
                </a:solidFill>
                <a:latin typeface="Proxima Nova Bold"/>
                <a:ea typeface="Proxima Nova Bold"/>
                <a:cs typeface="Proxima Nova Bold"/>
                <a:sym typeface="Proxima Nova Bold"/>
              </a:rPr>
              <a:t>FUNCTIONS OF THE PRESENTATION TIER</a:t>
            </a:r>
          </a:p>
        </p:txBody>
      </p:sp>
      <p:sp>
        <p:nvSpPr>
          <p:cNvPr name="TextBox 15" id="15"/>
          <p:cNvSpPr txBox="true"/>
          <p:nvPr/>
        </p:nvSpPr>
        <p:spPr>
          <a:xfrm rot="0">
            <a:off x="864701" y="2989187"/>
            <a:ext cx="16394599" cy="6395086"/>
          </a:xfrm>
          <a:prstGeom prst="rect">
            <a:avLst/>
          </a:prstGeom>
        </p:spPr>
        <p:txBody>
          <a:bodyPr anchor="t" rtlCol="false" tIns="0" lIns="0" bIns="0" rIns="0">
            <a:spAutoFit/>
          </a:bodyPr>
          <a:lstStyle/>
          <a:p>
            <a:pPr algn="l" marL="777235" indent="-388618" lvl="1">
              <a:lnSpc>
                <a:spcPts val="5039"/>
              </a:lnSpc>
              <a:buAutoNum type="arabicPeriod" startAt="1"/>
            </a:pPr>
            <a:r>
              <a:rPr lang="en-US" b="true" sz="3599" u="sng">
                <a:solidFill>
                  <a:srgbClr val="000000"/>
                </a:solidFill>
                <a:latin typeface="Poppins Bold"/>
                <a:ea typeface="Poppins Bold"/>
                <a:cs typeface="Poppins Bold"/>
                <a:sym typeface="Poppins Bold"/>
              </a:rPr>
              <a:t>User Interface (UI) : </a:t>
            </a:r>
          </a:p>
          <a:p>
            <a:pPr algn="l">
              <a:lnSpc>
                <a:spcPts val="5039"/>
              </a:lnSpc>
            </a:pPr>
            <a:r>
              <a:rPr lang="en-US" sz="3599">
                <a:solidFill>
                  <a:srgbClr val="000000"/>
                </a:solidFill>
                <a:latin typeface="Poppins"/>
                <a:ea typeface="Poppins"/>
                <a:cs typeface="Poppins"/>
                <a:sym typeface="Poppins"/>
              </a:rPr>
              <a:t>              The presentation tier provides the interface such as screens,     forms, and menus that allow users to interact with the system.</a:t>
            </a:r>
          </a:p>
          <a:p>
            <a:pPr algn="l" marL="777235" indent="-388618" lvl="1">
              <a:lnSpc>
                <a:spcPts val="5039"/>
              </a:lnSpc>
              <a:buAutoNum type="arabicPeriod" startAt="1"/>
            </a:pPr>
            <a:r>
              <a:rPr lang="en-US" b="true" sz="3599" u="sng">
                <a:solidFill>
                  <a:srgbClr val="000000"/>
                </a:solidFill>
                <a:latin typeface="Poppins Bold"/>
                <a:ea typeface="Poppins Bold"/>
                <a:cs typeface="Poppins Bold"/>
                <a:sym typeface="Poppins Bold"/>
              </a:rPr>
              <a:t>Input Collection :</a:t>
            </a:r>
          </a:p>
          <a:p>
            <a:pPr algn="l">
              <a:lnSpc>
                <a:spcPts val="5039"/>
              </a:lnSpc>
            </a:pPr>
            <a:r>
              <a:rPr lang="en-US" sz="3599">
                <a:solidFill>
                  <a:srgbClr val="000000"/>
                </a:solidFill>
                <a:latin typeface="Poppins"/>
                <a:ea typeface="Poppins"/>
                <a:cs typeface="Poppins"/>
                <a:sym typeface="Poppins"/>
              </a:rPr>
              <a:t>              </a:t>
            </a:r>
            <a:r>
              <a:rPr lang="en-US" sz="3599">
                <a:solidFill>
                  <a:srgbClr val="000000"/>
                </a:solidFill>
                <a:latin typeface="Poppins"/>
                <a:ea typeface="Poppins"/>
                <a:cs typeface="Poppins"/>
                <a:sym typeface="Poppins"/>
              </a:rPr>
              <a:t>It collects input data from users, such as customer details, product orders, and sales information.</a:t>
            </a:r>
          </a:p>
          <a:p>
            <a:pPr algn="l" marL="777235" indent="-388618" lvl="1">
              <a:lnSpc>
                <a:spcPts val="5039"/>
              </a:lnSpc>
              <a:buAutoNum type="arabicPeriod" startAt="1"/>
            </a:pPr>
            <a:r>
              <a:rPr lang="en-US" b="true" sz="3599" u="sng">
                <a:solidFill>
                  <a:srgbClr val="000000"/>
                </a:solidFill>
                <a:latin typeface="Poppins Bold"/>
                <a:ea typeface="Poppins Bold"/>
                <a:cs typeface="Poppins Bold"/>
                <a:sym typeface="Poppins Bold"/>
              </a:rPr>
              <a:t>Displaying Information :</a:t>
            </a:r>
          </a:p>
          <a:p>
            <a:pPr algn="l">
              <a:lnSpc>
                <a:spcPts val="5039"/>
              </a:lnSpc>
            </a:pPr>
            <a:r>
              <a:rPr lang="en-US" sz="3599">
                <a:solidFill>
                  <a:srgbClr val="000000"/>
                </a:solidFill>
                <a:latin typeface="Poppins"/>
                <a:ea typeface="Poppins"/>
                <a:cs typeface="Poppins"/>
                <a:sym typeface="Poppins"/>
              </a:rPr>
              <a:t>              </a:t>
            </a:r>
            <a:r>
              <a:rPr lang="en-US" sz="3599">
                <a:solidFill>
                  <a:srgbClr val="000000"/>
                </a:solidFill>
                <a:latin typeface="Poppins"/>
                <a:ea typeface="Poppins"/>
                <a:cs typeface="Poppins"/>
                <a:sym typeface="Poppins"/>
              </a:rPr>
              <a:t>It displays information to users, including product details, order status, and sales reports.</a:t>
            </a:r>
          </a:p>
          <a:p>
            <a:pPr algn="l">
              <a:lnSpc>
                <a:spcPts val="503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02233" y="1156044"/>
            <a:ext cx="16558593" cy="1137275"/>
          </a:xfrm>
          <a:prstGeom prst="rect">
            <a:avLst/>
          </a:prstGeom>
        </p:spPr>
        <p:txBody>
          <a:bodyPr anchor="t" rtlCol="false" tIns="0" lIns="0" bIns="0" rIns="0">
            <a:spAutoFit/>
          </a:bodyPr>
          <a:lstStyle/>
          <a:p>
            <a:pPr algn="ctr">
              <a:lnSpc>
                <a:spcPts val="9240"/>
              </a:lnSpc>
            </a:pPr>
            <a:r>
              <a:rPr lang="en-US" b="true" sz="6600">
                <a:solidFill>
                  <a:srgbClr val="000000"/>
                </a:solidFill>
                <a:latin typeface="Proxima Nova Bold"/>
                <a:ea typeface="Proxima Nova Bold"/>
                <a:cs typeface="Proxima Nova Bold"/>
                <a:sym typeface="Proxima Nova Bold"/>
              </a:rPr>
              <a:t>FUNCTIONS OF THE PRESENTATION TIER</a:t>
            </a:r>
          </a:p>
        </p:txBody>
      </p:sp>
      <p:sp>
        <p:nvSpPr>
          <p:cNvPr name="TextBox 15" id="15"/>
          <p:cNvSpPr txBox="true"/>
          <p:nvPr/>
        </p:nvSpPr>
        <p:spPr>
          <a:xfrm rot="0">
            <a:off x="864701" y="2989187"/>
            <a:ext cx="16394599" cy="6395086"/>
          </a:xfrm>
          <a:prstGeom prst="rect">
            <a:avLst/>
          </a:prstGeom>
        </p:spPr>
        <p:txBody>
          <a:bodyPr anchor="t" rtlCol="false" tIns="0" lIns="0" bIns="0" rIns="0">
            <a:spAutoFit/>
          </a:bodyPr>
          <a:lstStyle/>
          <a:p>
            <a:pPr algn="l" marL="777235" indent="-388618" lvl="1">
              <a:lnSpc>
                <a:spcPts val="5039"/>
              </a:lnSpc>
              <a:buAutoNum type="arabicPeriod" startAt="1"/>
            </a:pPr>
            <a:r>
              <a:rPr lang="en-US" b="true" sz="3599" u="sng">
                <a:solidFill>
                  <a:srgbClr val="000000"/>
                </a:solidFill>
                <a:latin typeface="Poppins Bold"/>
                <a:ea typeface="Poppins Bold"/>
                <a:cs typeface="Poppins Bold"/>
                <a:sym typeface="Poppins Bold"/>
              </a:rPr>
              <a:t>Sending Requests to Application Tier :</a:t>
            </a:r>
          </a:p>
          <a:p>
            <a:pPr algn="l">
              <a:lnSpc>
                <a:spcPts val="5039"/>
              </a:lnSpc>
            </a:pPr>
            <a:r>
              <a:rPr lang="en-US" sz="3599">
                <a:solidFill>
                  <a:srgbClr val="000000"/>
                </a:solidFill>
                <a:latin typeface="Poppins"/>
                <a:ea typeface="Poppins"/>
                <a:cs typeface="Poppins"/>
                <a:sym typeface="Poppins"/>
              </a:rPr>
              <a:t>            </a:t>
            </a:r>
            <a:r>
              <a:rPr lang="en-US" sz="3599">
                <a:solidFill>
                  <a:srgbClr val="000000"/>
                </a:solidFill>
                <a:latin typeface="Poppins"/>
                <a:ea typeface="Poppins"/>
                <a:cs typeface="Poppins"/>
                <a:sym typeface="Poppins"/>
              </a:rPr>
              <a:t>The presentation tier sends the user’s request to the application tier for processing.</a:t>
            </a:r>
          </a:p>
          <a:p>
            <a:pPr algn="l" marL="777235" indent="-388618" lvl="1">
              <a:lnSpc>
                <a:spcPts val="5039"/>
              </a:lnSpc>
              <a:buAutoNum type="arabicPeriod" startAt="1"/>
            </a:pPr>
            <a:r>
              <a:rPr lang="en-US" b="true" sz="3599" u="sng">
                <a:solidFill>
                  <a:srgbClr val="000000"/>
                </a:solidFill>
                <a:latin typeface="Poppins Bold"/>
                <a:ea typeface="Poppins Bold"/>
                <a:cs typeface="Poppins Bold"/>
                <a:sym typeface="Poppins Bold"/>
              </a:rPr>
              <a:t>D</a:t>
            </a:r>
            <a:r>
              <a:rPr lang="en-US" b="true" sz="3599" u="sng">
                <a:solidFill>
                  <a:srgbClr val="000000"/>
                </a:solidFill>
                <a:latin typeface="Poppins Bold"/>
                <a:ea typeface="Poppins Bold"/>
                <a:cs typeface="Poppins Bold"/>
                <a:sym typeface="Poppins Bold"/>
              </a:rPr>
              <a:t>isplaying Processed Results :</a:t>
            </a:r>
          </a:p>
          <a:p>
            <a:pPr algn="l">
              <a:lnSpc>
                <a:spcPts val="5039"/>
              </a:lnSpc>
            </a:pPr>
            <a:r>
              <a:rPr lang="en-US" sz="3599">
                <a:solidFill>
                  <a:srgbClr val="000000"/>
                </a:solidFill>
                <a:latin typeface="Poppins"/>
                <a:ea typeface="Poppins"/>
                <a:cs typeface="Poppins"/>
                <a:sym typeface="Poppins"/>
              </a:rPr>
              <a:t>            </a:t>
            </a:r>
            <a:r>
              <a:rPr lang="en-US" sz="3599">
                <a:solidFill>
                  <a:srgbClr val="000000"/>
                </a:solidFill>
                <a:latin typeface="Poppins"/>
                <a:ea typeface="Poppins"/>
                <a:cs typeface="Poppins"/>
                <a:sym typeface="Poppins"/>
              </a:rPr>
              <a:t>After </a:t>
            </a:r>
            <a:r>
              <a:rPr lang="en-US" sz="3599">
                <a:solidFill>
                  <a:srgbClr val="000000"/>
                </a:solidFill>
                <a:latin typeface="Poppins"/>
                <a:ea typeface="Poppins"/>
                <a:cs typeface="Poppins"/>
                <a:sym typeface="Poppins"/>
              </a:rPr>
              <a:t>processing</a:t>
            </a:r>
            <a:r>
              <a:rPr lang="en-US" sz="3599">
                <a:solidFill>
                  <a:srgbClr val="000000"/>
                </a:solidFill>
                <a:latin typeface="Poppins"/>
                <a:ea typeface="Poppins"/>
                <a:cs typeface="Poppins"/>
                <a:sym typeface="Poppins"/>
              </a:rPr>
              <a:t> is done in </a:t>
            </a:r>
            <a:r>
              <a:rPr lang="en-US" sz="3599">
                <a:solidFill>
                  <a:srgbClr val="000000"/>
                </a:solidFill>
                <a:latin typeface="Poppins"/>
                <a:ea typeface="Poppins"/>
                <a:cs typeface="Poppins"/>
                <a:sym typeface="Poppins"/>
              </a:rPr>
              <a:t>the application tier, the results are returned and shown to the user.</a:t>
            </a:r>
          </a:p>
          <a:p>
            <a:pPr algn="l" marL="777235" indent="-388618" lvl="1">
              <a:lnSpc>
                <a:spcPts val="5039"/>
              </a:lnSpc>
              <a:buAutoNum type="arabicPeriod" startAt="1"/>
            </a:pPr>
            <a:r>
              <a:rPr lang="en-US" b="true" sz="3599" u="sng">
                <a:solidFill>
                  <a:srgbClr val="000000"/>
                </a:solidFill>
                <a:latin typeface="Poppins Bold"/>
                <a:ea typeface="Poppins Bold"/>
                <a:cs typeface="Poppins Bold"/>
                <a:sym typeface="Poppins Bold"/>
              </a:rPr>
              <a:t>Improving User Experience :</a:t>
            </a:r>
          </a:p>
          <a:p>
            <a:pPr algn="l">
              <a:lnSpc>
                <a:spcPts val="5039"/>
              </a:lnSpc>
            </a:pPr>
            <a:r>
              <a:rPr lang="en-US" sz="3599">
                <a:solidFill>
                  <a:srgbClr val="000000"/>
                </a:solidFill>
                <a:latin typeface="Poppins"/>
                <a:ea typeface="Poppins"/>
                <a:cs typeface="Poppins"/>
                <a:sym typeface="Poppins"/>
              </a:rPr>
              <a:t>           </a:t>
            </a:r>
            <a:r>
              <a:rPr lang="en-US" sz="3599">
                <a:solidFill>
                  <a:srgbClr val="000000"/>
                </a:solidFill>
                <a:latin typeface="Poppins"/>
                <a:ea typeface="Poppins"/>
                <a:cs typeface="Poppins"/>
                <a:sym typeface="Poppins"/>
              </a:rPr>
              <a:t>It ensures </a:t>
            </a:r>
            <a:r>
              <a:rPr lang="en-US" sz="3599">
                <a:solidFill>
                  <a:srgbClr val="000000"/>
                </a:solidFill>
                <a:latin typeface="Poppins"/>
                <a:ea typeface="Poppins"/>
                <a:cs typeface="Poppins"/>
                <a:sym typeface="Poppins"/>
              </a:rPr>
              <a:t>the system is easy to use by providing a clear and user-friendly interface.</a:t>
            </a:r>
          </a:p>
          <a:p>
            <a:pPr algn="l">
              <a:lnSpc>
                <a:spcPts val="503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412567" y="-167193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57400" y="-1316763"/>
            <a:ext cx="3404467" cy="3404467"/>
          </a:xfrm>
          <a:custGeom>
            <a:avLst/>
            <a:gdLst/>
            <a:ahLst/>
            <a:cxnLst/>
            <a:rect r="r" b="b" t="t" l="l"/>
            <a:pathLst>
              <a:path h="3404467" w="3404467">
                <a:moveTo>
                  <a:pt x="0" y="0"/>
                </a:moveTo>
                <a:lnTo>
                  <a:pt x="3404467" y="0"/>
                </a:lnTo>
                <a:lnTo>
                  <a:pt x="3404467"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549833" y="-903796"/>
            <a:ext cx="2578533" cy="2578533"/>
          </a:xfrm>
          <a:custGeom>
            <a:avLst/>
            <a:gdLst/>
            <a:ahLst/>
            <a:cxnLst/>
            <a:rect r="r" b="b" t="t" l="l"/>
            <a:pathLst>
              <a:path h="2578533" w="2578533">
                <a:moveTo>
                  <a:pt x="0" y="0"/>
                </a:moveTo>
                <a:lnTo>
                  <a:pt x="2578533" y="0"/>
                </a:lnTo>
                <a:lnTo>
                  <a:pt x="2578533" y="2578533"/>
                </a:lnTo>
                <a:lnTo>
                  <a:pt x="0" y="25785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272770" y="1337770"/>
            <a:ext cx="17015230" cy="8553799"/>
          </a:xfrm>
          <a:prstGeom prst="rect">
            <a:avLst/>
          </a:prstGeom>
        </p:spPr>
        <p:txBody>
          <a:bodyPr anchor="t" rtlCol="false" tIns="0" lIns="0" bIns="0" rIns="0">
            <a:spAutoFit/>
          </a:bodyPr>
          <a:lstStyle/>
          <a:p>
            <a:pPr algn="l">
              <a:lnSpc>
                <a:spcPts val="5230"/>
              </a:lnSpc>
            </a:pPr>
            <a:r>
              <a:rPr lang="en-US" sz="3736" u="sng" b="true">
                <a:solidFill>
                  <a:srgbClr val="000000"/>
                </a:solidFill>
                <a:latin typeface="Poppins Bold"/>
                <a:ea typeface="Poppins Bold"/>
                <a:cs typeface="Poppins Bold"/>
                <a:sym typeface="Poppins Bold"/>
              </a:rPr>
              <a:t>Features of Presentation Tier :</a:t>
            </a:r>
          </a:p>
          <a:p>
            <a:pPr algn="l" marL="806659" indent="-403329" lvl="1">
              <a:lnSpc>
                <a:spcPts val="5230"/>
              </a:lnSpc>
              <a:buFont typeface="Arial"/>
              <a:buChar char="•"/>
            </a:pPr>
            <a:r>
              <a:rPr lang="en-US" sz="3736">
                <a:solidFill>
                  <a:srgbClr val="000000"/>
                </a:solidFill>
                <a:latin typeface="Poppins"/>
                <a:ea typeface="Poppins"/>
                <a:cs typeface="Poppins"/>
                <a:sym typeface="Poppins"/>
              </a:rPr>
              <a:t>User-friendly interface – Easy to understand and use.</a:t>
            </a:r>
          </a:p>
          <a:p>
            <a:pPr algn="l" marL="806659" indent="-403329" lvl="1">
              <a:lnSpc>
                <a:spcPts val="5230"/>
              </a:lnSpc>
              <a:buFont typeface="Arial"/>
              <a:buChar char="•"/>
            </a:pPr>
            <a:r>
              <a:rPr lang="en-US" sz="3736">
                <a:solidFill>
                  <a:srgbClr val="000000"/>
                </a:solidFill>
                <a:latin typeface="Poppins"/>
                <a:ea typeface="Poppins"/>
                <a:cs typeface="Poppins"/>
                <a:sym typeface="Poppins"/>
              </a:rPr>
              <a:t>Fast response – Displays information quickly.</a:t>
            </a:r>
          </a:p>
          <a:p>
            <a:pPr algn="l" marL="806659" indent="-403329" lvl="1">
              <a:lnSpc>
                <a:spcPts val="5230"/>
              </a:lnSpc>
              <a:buFont typeface="Arial"/>
              <a:buChar char="•"/>
            </a:pPr>
            <a:r>
              <a:rPr lang="en-US" sz="3736">
                <a:solidFill>
                  <a:srgbClr val="000000"/>
                </a:solidFill>
                <a:latin typeface="Poppins"/>
                <a:ea typeface="Poppins"/>
                <a:cs typeface="Poppins"/>
                <a:sym typeface="Poppins"/>
              </a:rPr>
              <a:t>Interactive design – Allows users to navigate different pages easily.</a:t>
            </a:r>
          </a:p>
          <a:p>
            <a:pPr algn="l" marL="806659" indent="-403329" lvl="1">
              <a:lnSpc>
                <a:spcPts val="5230"/>
              </a:lnSpc>
              <a:buFont typeface="Arial"/>
              <a:buChar char="•"/>
            </a:pPr>
            <a:r>
              <a:rPr lang="en-US" sz="3736">
                <a:solidFill>
                  <a:srgbClr val="000000"/>
                </a:solidFill>
                <a:latin typeface="Poppins"/>
                <a:ea typeface="Poppins"/>
                <a:cs typeface="Poppins"/>
                <a:sym typeface="Poppins"/>
              </a:rPr>
              <a:t>Accessibility – Can be accessed through web browsers or mobile devices.</a:t>
            </a:r>
          </a:p>
          <a:p>
            <a:pPr algn="l">
              <a:lnSpc>
                <a:spcPts val="5230"/>
              </a:lnSpc>
            </a:pPr>
            <a:r>
              <a:rPr lang="en-US" sz="3736" u="sng" b="true">
                <a:solidFill>
                  <a:srgbClr val="000000"/>
                </a:solidFill>
                <a:latin typeface="Poppins Bold"/>
                <a:ea typeface="Poppins Bold"/>
                <a:cs typeface="Poppins Bold"/>
                <a:sym typeface="Poppins Bold"/>
              </a:rPr>
              <a:t>Example Scenario in Sales Automation System :</a:t>
            </a:r>
          </a:p>
          <a:p>
            <a:pPr algn="l" marL="806659" indent="-403329" lvl="1">
              <a:lnSpc>
                <a:spcPts val="5230"/>
              </a:lnSpc>
              <a:buAutoNum type="arabicPeriod" startAt="1"/>
            </a:pPr>
            <a:r>
              <a:rPr lang="en-US" sz="3736">
                <a:solidFill>
                  <a:srgbClr val="000000"/>
                </a:solidFill>
                <a:latin typeface="Poppins"/>
                <a:ea typeface="Poppins"/>
                <a:cs typeface="Poppins"/>
                <a:sym typeface="Poppins"/>
              </a:rPr>
              <a:t>A sales representative logs into the system.</a:t>
            </a:r>
          </a:p>
          <a:p>
            <a:pPr algn="l" marL="806659" indent="-403329" lvl="1">
              <a:lnSpc>
                <a:spcPts val="5230"/>
              </a:lnSpc>
              <a:buAutoNum type="arabicPeriod" startAt="1"/>
            </a:pPr>
            <a:r>
              <a:rPr lang="en-US" sz="3736">
                <a:solidFill>
                  <a:srgbClr val="000000"/>
                </a:solidFill>
                <a:latin typeface="Poppins"/>
                <a:ea typeface="Poppins"/>
                <a:cs typeface="Poppins"/>
                <a:sym typeface="Poppins"/>
              </a:rPr>
              <a:t>The presentation tier shows the dashboard.</a:t>
            </a:r>
          </a:p>
          <a:p>
            <a:pPr algn="l" marL="806659" indent="-403329" lvl="1">
              <a:lnSpc>
                <a:spcPts val="5230"/>
              </a:lnSpc>
              <a:buAutoNum type="arabicPeriod" startAt="1"/>
            </a:pPr>
            <a:r>
              <a:rPr lang="en-US" sz="3736">
                <a:solidFill>
                  <a:srgbClr val="000000"/>
                </a:solidFill>
                <a:latin typeface="Poppins"/>
                <a:ea typeface="Poppins"/>
                <a:cs typeface="Poppins"/>
                <a:sym typeface="Poppins"/>
              </a:rPr>
              <a:t>The user enters customer order details.</a:t>
            </a:r>
          </a:p>
          <a:p>
            <a:pPr algn="l" marL="806659" indent="-403329" lvl="1">
              <a:lnSpc>
                <a:spcPts val="5230"/>
              </a:lnSpc>
              <a:buAutoNum type="arabicPeriod" startAt="1"/>
            </a:pPr>
            <a:r>
              <a:rPr lang="en-US" sz="3736">
                <a:solidFill>
                  <a:srgbClr val="000000"/>
                </a:solidFill>
                <a:latin typeface="Poppins"/>
                <a:ea typeface="Poppins"/>
                <a:cs typeface="Poppins"/>
                <a:sym typeface="Poppins"/>
              </a:rPr>
              <a:t>The request is sent to the application tier for processing.</a:t>
            </a:r>
          </a:p>
          <a:p>
            <a:pPr algn="l" marL="806659" indent="-403329" lvl="1">
              <a:lnSpc>
                <a:spcPts val="5230"/>
              </a:lnSpc>
              <a:buAutoNum type="arabicPeriod" startAt="1"/>
            </a:pPr>
            <a:r>
              <a:rPr lang="en-US" sz="3736">
                <a:solidFill>
                  <a:srgbClr val="000000"/>
                </a:solidFill>
                <a:latin typeface="Poppins"/>
                <a:ea typeface="Poppins"/>
                <a:cs typeface="Poppins"/>
                <a:sym typeface="Poppins"/>
              </a:rPr>
              <a:t>The result (order confirmation) is displayed to the user.</a:t>
            </a:r>
          </a:p>
          <a:p>
            <a:pPr algn="l">
              <a:lnSpc>
                <a:spcPts val="523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870599" y="1268554"/>
            <a:ext cx="8546802" cy="1259830"/>
          </a:xfrm>
          <a:prstGeom prst="rect">
            <a:avLst/>
          </a:prstGeom>
        </p:spPr>
        <p:txBody>
          <a:bodyPr anchor="t" rtlCol="false" tIns="0" lIns="0" bIns="0" rIns="0">
            <a:spAutoFit/>
          </a:bodyPr>
          <a:lstStyle/>
          <a:p>
            <a:pPr algn="ctr">
              <a:lnSpc>
                <a:spcPts val="10360"/>
              </a:lnSpc>
            </a:pPr>
            <a:r>
              <a:rPr lang="en-US" b="true" sz="7400">
                <a:solidFill>
                  <a:srgbClr val="000000"/>
                </a:solidFill>
                <a:latin typeface="Proxima Nova Bold"/>
                <a:ea typeface="Proxima Nova Bold"/>
                <a:cs typeface="Proxima Nova Bold"/>
                <a:sym typeface="Proxima Nova Bold"/>
              </a:rPr>
              <a:t>APPLICATION TIER</a:t>
            </a:r>
          </a:p>
        </p:txBody>
      </p:sp>
      <p:sp>
        <p:nvSpPr>
          <p:cNvPr name="TextBox 15" id="15"/>
          <p:cNvSpPr txBox="true"/>
          <p:nvPr/>
        </p:nvSpPr>
        <p:spPr>
          <a:xfrm rot="0">
            <a:off x="644633" y="2779637"/>
            <a:ext cx="16998733" cy="5980430"/>
          </a:xfrm>
          <a:prstGeom prst="rect">
            <a:avLst/>
          </a:prstGeom>
        </p:spPr>
        <p:txBody>
          <a:bodyPr anchor="t" rtlCol="false" tIns="0" lIns="0" bIns="0" rIns="0">
            <a:spAutoFit/>
          </a:bodyPr>
          <a:lstStyle/>
          <a:p>
            <a:pPr algn="just">
              <a:lnSpc>
                <a:spcPts val="5320"/>
              </a:lnSpc>
            </a:pPr>
            <a:r>
              <a:rPr lang="en-US" sz="3800">
                <a:solidFill>
                  <a:srgbClr val="000000"/>
                </a:solidFill>
                <a:latin typeface="Open Sans"/>
                <a:ea typeface="Open Sans"/>
                <a:cs typeface="Open Sans"/>
                <a:sym typeface="Open Sans"/>
              </a:rPr>
              <a:t>The Application Tier is responsible for implementing the business logic of the sales automation system. It processes user requests from the presentation layer, applies business rules, and communicates with the database layer to retrieve or store information.</a:t>
            </a:r>
          </a:p>
          <a:p>
            <a:pPr algn="just">
              <a:lnSpc>
                <a:spcPts val="5320"/>
              </a:lnSpc>
            </a:pPr>
          </a:p>
          <a:p>
            <a:pPr algn="just">
              <a:lnSpc>
                <a:spcPts val="5320"/>
              </a:lnSpc>
            </a:pPr>
            <a:r>
              <a:rPr lang="en-US" sz="3800">
                <a:solidFill>
                  <a:srgbClr val="000000"/>
                </a:solidFill>
                <a:latin typeface="Open Sans"/>
                <a:ea typeface="Open Sans"/>
                <a:cs typeface="Open Sans"/>
                <a:sym typeface="Open Sans"/>
              </a:rPr>
              <a:t>It acts as a bridge between the user interface and the database, ensuring that the system functions according to the organization’s sales policies and workflows.</a:t>
            </a:r>
          </a:p>
          <a:p>
            <a:pPr algn="just">
              <a:lnSpc>
                <a:spcPts val="532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490338" y="827873"/>
            <a:ext cx="15153029" cy="1259830"/>
          </a:xfrm>
          <a:prstGeom prst="rect">
            <a:avLst/>
          </a:prstGeom>
        </p:spPr>
        <p:txBody>
          <a:bodyPr anchor="t" rtlCol="false" tIns="0" lIns="0" bIns="0" rIns="0">
            <a:spAutoFit/>
          </a:bodyPr>
          <a:lstStyle/>
          <a:p>
            <a:pPr algn="ctr">
              <a:lnSpc>
                <a:spcPts val="10360"/>
              </a:lnSpc>
            </a:pPr>
            <a:r>
              <a:rPr lang="en-US" b="true" sz="7400">
                <a:solidFill>
                  <a:srgbClr val="000000"/>
                </a:solidFill>
                <a:latin typeface="Proxima Nova Bold"/>
                <a:ea typeface="Proxima Nova Bold"/>
                <a:cs typeface="Proxima Nova Bold"/>
                <a:sym typeface="Proxima Nova Bold"/>
              </a:rPr>
              <a:t>FUNTIONS OF APPLICATION TIER</a:t>
            </a:r>
          </a:p>
        </p:txBody>
      </p:sp>
      <p:sp>
        <p:nvSpPr>
          <p:cNvPr name="TextBox 15" id="15"/>
          <p:cNvSpPr txBox="true"/>
          <p:nvPr/>
        </p:nvSpPr>
        <p:spPr>
          <a:xfrm rot="0">
            <a:off x="644633" y="2779637"/>
            <a:ext cx="16998733" cy="7313930"/>
          </a:xfrm>
          <a:prstGeom prst="rect">
            <a:avLst/>
          </a:prstGeom>
        </p:spPr>
        <p:txBody>
          <a:bodyPr anchor="t" rtlCol="false" tIns="0" lIns="0" bIns="0" rIns="0">
            <a:spAutoFit/>
          </a:bodyPr>
          <a:lstStyle/>
          <a:p>
            <a:pPr algn="just">
              <a:lnSpc>
                <a:spcPts val="5320"/>
              </a:lnSpc>
            </a:pPr>
            <a:r>
              <a:rPr lang="en-US" sz="3800" b="true">
                <a:solidFill>
                  <a:srgbClr val="000000"/>
                </a:solidFill>
                <a:latin typeface="Open Sans Bold"/>
                <a:ea typeface="Open Sans Bold"/>
                <a:cs typeface="Open Sans Bold"/>
                <a:sym typeface="Open Sans Bold"/>
              </a:rPr>
              <a:t>1. Sales Process Management</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Handles the entire sales workflow.</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Processes activities such as creating sales orders, updating order status, and tracking transactions.</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Ensures correct processing of sales data before storing it in the database.</a:t>
            </a:r>
          </a:p>
          <a:p>
            <a:pPr algn="just">
              <a:lnSpc>
                <a:spcPts val="5320"/>
              </a:lnSpc>
            </a:pPr>
            <a:r>
              <a:rPr lang="en-US" sz="3800" b="true">
                <a:solidFill>
                  <a:srgbClr val="000000"/>
                </a:solidFill>
                <a:latin typeface="Open Sans Bold"/>
                <a:ea typeface="Open Sans Bold"/>
                <a:cs typeface="Open Sans Bold"/>
                <a:sym typeface="Open Sans Bold"/>
              </a:rPr>
              <a:t>2. Business Logic Implementation</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Implements rules related to pricing, discounts, tax calculations, </a:t>
            </a:r>
          </a:p>
          <a:p>
            <a:pPr algn="just">
              <a:lnSpc>
                <a:spcPts val="5320"/>
              </a:lnSpc>
            </a:pPr>
            <a:r>
              <a:rPr lang="en-US" sz="3800">
                <a:solidFill>
                  <a:srgbClr val="000000"/>
                </a:solidFill>
                <a:latin typeface="Open Sans"/>
                <a:ea typeface="Open Sans"/>
                <a:cs typeface="Open Sans"/>
                <a:sym typeface="Open Sans"/>
              </a:rPr>
              <a:t>    </a:t>
            </a:r>
            <a:r>
              <a:rPr lang="en-US" sz="3800">
                <a:solidFill>
                  <a:srgbClr val="000000"/>
                </a:solidFill>
                <a:latin typeface="Open Sans"/>
                <a:ea typeface="Open Sans"/>
                <a:cs typeface="Open Sans"/>
                <a:sym typeface="Open Sans"/>
              </a:rPr>
              <a:t>and commissions.</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Ensures sales operations follow company policies.</a:t>
            </a:r>
          </a:p>
          <a:p>
            <a:pPr algn="just">
              <a:lnSpc>
                <a:spcPts val="5320"/>
              </a:lnSpc>
              <a:spcBef>
                <a:spcPct val="0"/>
              </a:spcBef>
            </a:pPr>
            <a:r>
              <a:rPr lang="en-US" sz="3800">
                <a:solidFill>
                  <a:srgbClr val="000000"/>
                </a:solidFill>
                <a:latin typeface="Open Sans"/>
                <a:ea typeface="Open Sans"/>
                <a:cs typeface="Open Sans"/>
                <a:sym typeface="Open Sans"/>
              </a:rPr>
              <a:t>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490338" y="827873"/>
            <a:ext cx="15153029" cy="1259830"/>
          </a:xfrm>
          <a:prstGeom prst="rect">
            <a:avLst/>
          </a:prstGeom>
        </p:spPr>
        <p:txBody>
          <a:bodyPr anchor="t" rtlCol="false" tIns="0" lIns="0" bIns="0" rIns="0">
            <a:spAutoFit/>
          </a:bodyPr>
          <a:lstStyle/>
          <a:p>
            <a:pPr algn="ctr">
              <a:lnSpc>
                <a:spcPts val="10360"/>
              </a:lnSpc>
            </a:pPr>
            <a:r>
              <a:rPr lang="en-US" b="true" sz="7400">
                <a:solidFill>
                  <a:srgbClr val="000000"/>
                </a:solidFill>
                <a:latin typeface="Proxima Nova Bold"/>
                <a:ea typeface="Proxima Nova Bold"/>
                <a:cs typeface="Proxima Nova Bold"/>
                <a:sym typeface="Proxima Nova Bold"/>
              </a:rPr>
              <a:t>FUNTIONS OF APPLICATION TIER</a:t>
            </a:r>
          </a:p>
        </p:txBody>
      </p:sp>
      <p:sp>
        <p:nvSpPr>
          <p:cNvPr name="TextBox 15" id="15"/>
          <p:cNvSpPr txBox="true"/>
          <p:nvPr/>
        </p:nvSpPr>
        <p:spPr>
          <a:xfrm rot="0">
            <a:off x="644633" y="2779637"/>
            <a:ext cx="16998733" cy="7313930"/>
          </a:xfrm>
          <a:prstGeom prst="rect">
            <a:avLst/>
          </a:prstGeom>
        </p:spPr>
        <p:txBody>
          <a:bodyPr anchor="t" rtlCol="false" tIns="0" lIns="0" bIns="0" rIns="0">
            <a:spAutoFit/>
          </a:bodyPr>
          <a:lstStyle/>
          <a:p>
            <a:pPr algn="just">
              <a:lnSpc>
                <a:spcPts val="5320"/>
              </a:lnSpc>
            </a:pPr>
            <a:r>
              <a:rPr lang="en-US" sz="3800" b="true">
                <a:solidFill>
                  <a:srgbClr val="000000"/>
                </a:solidFill>
                <a:latin typeface="Open Sans Bold"/>
                <a:ea typeface="Open Sans Bold"/>
                <a:cs typeface="Open Sans Bold"/>
                <a:sym typeface="Open Sans Bold"/>
              </a:rPr>
              <a:t>3. Customer Management Processing</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Manages customer information and interactions.</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Handles operations such as adding new customers, updating profiles, and tracking purchase history.</a:t>
            </a:r>
          </a:p>
          <a:p>
            <a:pPr algn="just">
              <a:lnSpc>
                <a:spcPts val="5320"/>
              </a:lnSpc>
            </a:pPr>
            <a:r>
              <a:rPr lang="en-US" sz="3800" b="true">
                <a:solidFill>
                  <a:srgbClr val="000000"/>
                </a:solidFill>
                <a:latin typeface="Open Sans Bold"/>
                <a:ea typeface="Open Sans Bold"/>
                <a:cs typeface="Open Sans Bold"/>
                <a:sym typeface="Open Sans Bold"/>
              </a:rPr>
              <a:t>4. Sal</a:t>
            </a:r>
            <a:r>
              <a:rPr lang="en-US" sz="3800" b="true">
                <a:solidFill>
                  <a:srgbClr val="000000"/>
                </a:solidFill>
                <a:latin typeface="Open Sans Bold"/>
                <a:ea typeface="Open Sans Bold"/>
                <a:cs typeface="Open Sans Bold"/>
                <a:sym typeface="Open Sans Bold"/>
              </a:rPr>
              <a:t>es Analytics and Reporting</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Processes sales data to generate reports and performance metrics.</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Supports decision-making</a:t>
            </a:r>
            <a:r>
              <a:rPr lang="en-US" sz="3800">
                <a:solidFill>
                  <a:srgbClr val="000000"/>
                </a:solidFill>
                <a:latin typeface="Open Sans"/>
                <a:ea typeface="Open Sans"/>
                <a:cs typeface="Open Sans"/>
                <a:sym typeface="Open Sans"/>
              </a:rPr>
              <a:t> by </a:t>
            </a:r>
            <a:r>
              <a:rPr lang="en-US" sz="3800">
                <a:solidFill>
                  <a:srgbClr val="000000"/>
                </a:solidFill>
                <a:latin typeface="Open Sans"/>
                <a:ea typeface="Open Sans"/>
                <a:cs typeface="Open Sans"/>
                <a:sym typeface="Open Sans"/>
              </a:rPr>
              <a:t>analyzing:</a:t>
            </a:r>
          </a:p>
          <a:p>
            <a:pPr algn="just" marL="1640841" indent="-546947" lvl="2">
              <a:lnSpc>
                <a:spcPts val="5320"/>
              </a:lnSpc>
              <a:buFont typeface="Arial"/>
              <a:buChar char="⚬"/>
            </a:pPr>
            <a:r>
              <a:rPr lang="en-US" sz="3800">
                <a:solidFill>
                  <a:srgbClr val="000000"/>
                </a:solidFill>
                <a:latin typeface="Open Sans"/>
                <a:ea typeface="Open Sans"/>
                <a:cs typeface="Open Sans"/>
                <a:sym typeface="Open Sans"/>
              </a:rPr>
              <a:t>Sales trends</a:t>
            </a:r>
          </a:p>
          <a:p>
            <a:pPr algn="just" marL="1640841" indent="-546947" lvl="2">
              <a:lnSpc>
                <a:spcPts val="5320"/>
              </a:lnSpc>
              <a:buFont typeface="Arial"/>
              <a:buChar char="⚬"/>
            </a:pPr>
            <a:r>
              <a:rPr lang="en-US" sz="3800">
                <a:solidFill>
                  <a:srgbClr val="000000"/>
                </a:solidFill>
                <a:latin typeface="Open Sans"/>
                <a:ea typeface="Open Sans"/>
                <a:cs typeface="Open Sans"/>
                <a:sym typeface="Open Sans"/>
              </a:rPr>
              <a:t>Product performance</a:t>
            </a:r>
          </a:p>
          <a:p>
            <a:pPr algn="just" marL="1640841" indent="-546947" lvl="2">
              <a:lnSpc>
                <a:spcPts val="5320"/>
              </a:lnSpc>
              <a:buFont typeface="Arial"/>
              <a:buChar char="⚬"/>
            </a:pPr>
            <a:r>
              <a:rPr lang="en-US" sz="3800">
                <a:solidFill>
                  <a:srgbClr val="000000"/>
                </a:solidFill>
                <a:latin typeface="Open Sans"/>
                <a:ea typeface="Open Sans"/>
                <a:cs typeface="Open Sans"/>
                <a:sym typeface="Open Sans"/>
              </a:rPr>
              <a:t>Customer buying patterns</a:t>
            </a:r>
          </a:p>
          <a:p>
            <a:pPr algn="just">
              <a:lnSpc>
                <a:spcPts val="532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490338" y="827873"/>
            <a:ext cx="15153029" cy="1259830"/>
          </a:xfrm>
          <a:prstGeom prst="rect">
            <a:avLst/>
          </a:prstGeom>
        </p:spPr>
        <p:txBody>
          <a:bodyPr anchor="t" rtlCol="false" tIns="0" lIns="0" bIns="0" rIns="0">
            <a:spAutoFit/>
          </a:bodyPr>
          <a:lstStyle/>
          <a:p>
            <a:pPr algn="ctr">
              <a:lnSpc>
                <a:spcPts val="10360"/>
              </a:lnSpc>
            </a:pPr>
            <a:r>
              <a:rPr lang="en-US" b="true" sz="7400">
                <a:solidFill>
                  <a:srgbClr val="000000"/>
                </a:solidFill>
                <a:latin typeface="Proxima Nova Bold"/>
                <a:ea typeface="Proxima Nova Bold"/>
                <a:cs typeface="Proxima Nova Bold"/>
                <a:sym typeface="Proxima Nova Bold"/>
              </a:rPr>
              <a:t>FUNTIONS OF APPLICATION TIER</a:t>
            </a:r>
          </a:p>
        </p:txBody>
      </p:sp>
      <p:sp>
        <p:nvSpPr>
          <p:cNvPr name="TextBox 15" id="15"/>
          <p:cNvSpPr txBox="true"/>
          <p:nvPr/>
        </p:nvSpPr>
        <p:spPr>
          <a:xfrm rot="0">
            <a:off x="644633" y="2779637"/>
            <a:ext cx="16998733" cy="7980680"/>
          </a:xfrm>
          <a:prstGeom prst="rect">
            <a:avLst/>
          </a:prstGeom>
        </p:spPr>
        <p:txBody>
          <a:bodyPr anchor="t" rtlCol="false" tIns="0" lIns="0" bIns="0" rIns="0">
            <a:spAutoFit/>
          </a:bodyPr>
          <a:lstStyle/>
          <a:p>
            <a:pPr algn="just">
              <a:lnSpc>
                <a:spcPts val="5320"/>
              </a:lnSpc>
            </a:pPr>
            <a:r>
              <a:rPr lang="en-US" sz="3800" b="true">
                <a:solidFill>
                  <a:srgbClr val="000000"/>
                </a:solidFill>
                <a:latin typeface="Open Sans Bold"/>
                <a:ea typeface="Open Sans Bold"/>
                <a:cs typeface="Open Sans Bold"/>
                <a:sym typeface="Open Sans Bold"/>
              </a:rPr>
              <a:t>5. Order Processing and Validation</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V</a:t>
            </a:r>
            <a:r>
              <a:rPr lang="en-US" sz="3800">
                <a:solidFill>
                  <a:srgbClr val="000000"/>
                </a:solidFill>
                <a:latin typeface="Open Sans"/>
                <a:ea typeface="Open Sans"/>
                <a:cs typeface="Open Sans"/>
                <a:sym typeface="Open Sans"/>
              </a:rPr>
              <a:t>alidates orders before they are stored in the database.</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Checks for:</a:t>
            </a:r>
          </a:p>
          <a:p>
            <a:pPr algn="just" marL="1640841" indent="-546947" lvl="2">
              <a:lnSpc>
                <a:spcPts val="5320"/>
              </a:lnSpc>
              <a:buFont typeface="Arial"/>
              <a:buChar char="⚬"/>
            </a:pPr>
            <a:r>
              <a:rPr lang="en-US" sz="3800">
                <a:solidFill>
                  <a:srgbClr val="000000"/>
                </a:solidFill>
                <a:latin typeface="Open Sans"/>
                <a:ea typeface="Open Sans"/>
                <a:cs typeface="Open Sans"/>
                <a:sym typeface="Open Sans"/>
              </a:rPr>
              <a:t>Product</a:t>
            </a:r>
            <a:r>
              <a:rPr lang="en-US" sz="3800">
                <a:solidFill>
                  <a:srgbClr val="000000"/>
                </a:solidFill>
                <a:latin typeface="Open Sans"/>
                <a:ea typeface="Open Sans"/>
                <a:cs typeface="Open Sans"/>
                <a:sym typeface="Open Sans"/>
              </a:rPr>
              <a:t> </a:t>
            </a:r>
            <a:r>
              <a:rPr lang="en-US" sz="3800">
                <a:solidFill>
                  <a:srgbClr val="000000"/>
                </a:solidFill>
                <a:latin typeface="Open Sans"/>
                <a:ea typeface="Open Sans"/>
                <a:cs typeface="Open Sans"/>
                <a:sym typeface="Open Sans"/>
              </a:rPr>
              <a:t>availability</a:t>
            </a:r>
          </a:p>
          <a:p>
            <a:pPr algn="just" marL="1640841" indent="-546947" lvl="2">
              <a:lnSpc>
                <a:spcPts val="5320"/>
              </a:lnSpc>
              <a:buFont typeface="Arial"/>
              <a:buChar char="⚬"/>
            </a:pPr>
            <a:r>
              <a:rPr lang="en-US" sz="3800">
                <a:solidFill>
                  <a:srgbClr val="000000"/>
                </a:solidFill>
                <a:latin typeface="Open Sans"/>
                <a:ea typeface="Open Sans"/>
                <a:cs typeface="Open Sans"/>
                <a:sym typeface="Open Sans"/>
              </a:rPr>
              <a:t>Correct pricing</a:t>
            </a:r>
          </a:p>
          <a:p>
            <a:pPr algn="just" marL="1640841" indent="-546947" lvl="2">
              <a:lnSpc>
                <a:spcPts val="5320"/>
              </a:lnSpc>
              <a:buFont typeface="Arial"/>
              <a:buChar char="⚬"/>
            </a:pPr>
            <a:r>
              <a:rPr lang="en-US" sz="3800">
                <a:solidFill>
                  <a:srgbClr val="000000"/>
                </a:solidFill>
                <a:latin typeface="Open Sans"/>
                <a:ea typeface="Open Sans"/>
                <a:cs typeface="Open Sans"/>
                <a:sym typeface="Open Sans"/>
              </a:rPr>
              <a:t>Customer details</a:t>
            </a:r>
          </a:p>
          <a:p>
            <a:pPr algn="just">
              <a:lnSpc>
                <a:spcPts val="5320"/>
              </a:lnSpc>
            </a:pPr>
            <a:r>
              <a:rPr lang="en-US" sz="3800" b="true">
                <a:solidFill>
                  <a:srgbClr val="000000"/>
                </a:solidFill>
                <a:latin typeface="Open Sans Bold"/>
                <a:ea typeface="Open Sans Bold"/>
                <a:cs typeface="Open Sans Bold"/>
                <a:sym typeface="Open Sans Bold"/>
              </a:rPr>
              <a:t>Advantages of Application Tier</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Centralized business logic management</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Improves security and data validation</a:t>
            </a: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Allows easy updates without changing the user interface</a:t>
            </a:r>
          </a:p>
          <a:p>
            <a:pPr algn="just">
              <a:lnSpc>
                <a:spcPts val="5320"/>
              </a:lnSpc>
            </a:pPr>
          </a:p>
          <a:p>
            <a:pPr algn="just">
              <a:lnSpc>
                <a:spcPts val="5320"/>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870599" y="1268554"/>
            <a:ext cx="8546802" cy="1259830"/>
          </a:xfrm>
          <a:prstGeom prst="rect">
            <a:avLst/>
          </a:prstGeom>
        </p:spPr>
        <p:txBody>
          <a:bodyPr anchor="t" rtlCol="false" tIns="0" lIns="0" bIns="0" rIns="0">
            <a:spAutoFit/>
          </a:bodyPr>
          <a:lstStyle/>
          <a:p>
            <a:pPr algn="ctr">
              <a:lnSpc>
                <a:spcPts val="10360"/>
              </a:lnSpc>
            </a:pPr>
            <a:r>
              <a:rPr lang="en-US" b="true" sz="7400">
                <a:solidFill>
                  <a:srgbClr val="000000"/>
                </a:solidFill>
                <a:latin typeface="Proxima Nova Bold"/>
                <a:ea typeface="Proxima Nova Bold"/>
                <a:cs typeface="Proxima Nova Bold"/>
                <a:sym typeface="Proxima Nova Bold"/>
              </a:rPr>
              <a:t>DATA TIER</a:t>
            </a:r>
          </a:p>
        </p:txBody>
      </p:sp>
      <p:sp>
        <p:nvSpPr>
          <p:cNvPr name="TextBox 15" id="15"/>
          <p:cNvSpPr txBox="true"/>
          <p:nvPr/>
        </p:nvSpPr>
        <p:spPr>
          <a:xfrm rot="0">
            <a:off x="644633" y="3132062"/>
            <a:ext cx="16998733" cy="6647180"/>
          </a:xfrm>
          <a:prstGeom prst="rect">
            <a:avLst/>
          </a:prstGeom>
        </p:spPr>
        <p:txBody>
          <a:bodyPr anchor="t" rtlCol="false" tIns="0" lIns="0" bIns="0" rIns="0">
            <a:spAutoFit/>
          </a:bodyPr>
          <a:lstStyle/>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The Data Tier is the foundation of the Sales Automation System.</a:t>
            </a:r>
          </a:p>
          <a:p>
            <a:pPr algn="just">
              <a:lnSpc>
                <a:spcPts val="5320"/>
              </a:lnSpc>
            </a:pP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It stores, organizes, and manages all sales-related data efficiently.</a:t>
            </a:r>
          </a:p>
          <a:p>
            <a:pPr algn="just">
              <a:lnSpc>
                <a:spcPts val="5320"/>
              </a:lnSpc>
            </a:pP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It ensures reliable communication between the application and stored data.</a:t>
            </a:r>
          </a:p>
          <a:p>
            <a:pPr algn="just">
              <a:lnSpc>
                <a:spcPts val="5320"/>
              </a:lnSpc>
            </a:pPr>
          </a:p>
          <a:p>
            <a:pPr algn="just" marL="820421" indent="-410210" lvl="1">
              <a:lnSpc>
                <a:spcPts val="5320"/>
              </a:lnSpc>
              <a:buFont typeface="Arial"/>
              <a:buChar char="•"/>
            </a:pPr>
            <a:r>
              <a:rPr lang="en-US" sz="3800">
                <a:solidFill>
                  <a:srgbClr val="000000"/>
                </a:solidFill>
                <a:latin typeface="Open Sans"/>
                <a:ea typeface="Open Sans"/>
                <a:cs typeface="Open Sans"/>
                <a:sym typeface="Open Sans"/>
              </a:rPr>
              <a:t>Acts as a central repository for all business information.</a:t>
            </a:r>
          </a:p>
          <a:p>
            <a:pPr algn="just">
              <a:lnSpc>
                <a:spcPts val="5320"/>
              </a:lnSpc>
            </a:pPr>
          </a:p>
          <a:p>
            <a:pPr algn="just">
              <a:lnSpc>
                <a:spcPts val="532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29407" y="918585"/>
            <a:ext cx="16558593" cy="1137275"/>
          </a:xfrm>
          <a:prstGeom prst="rect">
            <a:avLst/>
          </a:prstGeom>
        </p:spPr>
        <p:txBody>
          <a:bodyPr anchor="t" rtlCol="false" tIns="0" lIns="0" bIns="0" rIns="0">
            <a:spAutoFit/>
          </a:bodyPr>
          <a:lstStyle/>
          <a:p>
            <a:pPr algn="ctr">
              <a:lnSpc>
                <a:spcPts val="9240"/>
              </a:lnSpc>
            </a:pPr>
            <a:r>
              <a:rPr lang="en-US" b="true" sz="6600">
                <a:solidFill>
                  <a:srgbClr val="000000"/>
                </a:solidFill>
                <a:latin typeface="Proxima Nova Bold"/>
                <a:ea typeface="Proxima Nova Bold"/>
                <a:cs typeface="Proxima Nova Bold"/>
                <a:sym typeface="Proxima Nova Bold"/>
              </a:rPr>
              <a:t>FUNCTIONS OF THE DATA TIER</a:t>
            </a:r>
          </a:p>
        </p:txBody>
      </p:sp>
      <p:sp>
        <p:nvSpPr>
          <p:cNvPr name="TextBox 15" id="15"/>
          <p:cNvSpPr txBox="true"/>
          <p:nvPr/>
        </p:nvSpPr>
        <p:spPr>
          <a:xfrm rot="0">
            <a:off x="946701" y="2391611"/>
            <a:ext cx="16394599" cy="10224136"/>
          </a:xfrm>
          <a:prstGeom prst="rect">
            <a:avLst/>
          </a:prstGeom>
        </p:spPr>
        <p:txBody>
          <a:bodyPr anchor="t" rtlCol="false" tIns="0" lIns="0" bIns="0" rIns="0">
            <a:spAutoFit/>
          </a:bodyPr>
          <a:lstStyle/>
          <a:p>
            <a:pPr algn="l">
              <a:lnSpc>
                <a:spcPts val="5039"/>
              </a:lnSpc>
            </a:pPr>
            <a:r>
              <a:rPr lang="en-US" sz="3599" u="sng" b="true">
                <a:solidFill>
                  <a:srgbClr val="000000"/>
                </a:solidFill>
                <a:latin typeface="Poppins Bold"/>
                <a:ea typeface="Poppins Bold"/>
                <a:cs typeface="Poppins Bold"/>
                <a:sym typeface="Poppins Bold"/>
              </a:rPr>
              <a:t>1. Customer Data Storage:</a:t>
            </a:r>
          </a:p>
          <a:p>
            <a:pPr algn="l" marL="777235" indent="-388618" lvl="1">
              <a:lnSpc>
                <a:spcPts val="5039"/>
              </a:lnSpc>
              <a:buFont typeface="Arial"/>
              <a:buChar char="•"/>
            </a:pPr>
            <a:r>
              <a:rPr lang="en-US" sz="3599">
                <a:solidFill>
                  <a:srgbClr val="000000"/>
                </a:solidFill>
                <a:latin typeface="Poppins"/>
                <a:ea typeface="Poppins"/>
                <a:cs typeface="Poppins"/>
                <a:sym typeface="Poppins"/>
              </a:rPr>
              <a:t>Stores customer details such as name, contact information, and purchase history.</a:t>
            </a:r>
          </a:p>
          <a:p>
            <a:pPr algn="l" marL="777235" indent="-388618" lvl="1">
              <a:lnSpc>
                <a:spcPts val="5039"/>
              </a:lnSpc>
              <a:buFont typeface="Arial"/>
              <a:buChar char="•"/>
            </a:pPr>
            <a:r>
              <a:rPr lang="en-US" sz="3599">
                <a:solidFill>
                  <a:srgbClr val="000000"/>
                </a:solidFill>
                <a:latin typeface="Poppins"/>
                <a:ea typeface="Poppins"/>
                <a:cs typeface="Poppins"/>
                <a:sym typeface="Poppins"/>
              </a:rPr>
              <a:t>Helps in understanding customer behavior and preferences.</a:t>
            </a:r>
          </a:p>
          <a:p>
            <a:pPr algn="l">
              <a:lnSpc>
                <a:spcPts val="5039"/>
              </a:lnSpc>
            </a:pPr>
          </a:p>
          <a:p>
            <a:pPr algn="l">
              <a:lnSpc>
                <a:spcPts val="5039"/>
              </a:lnSpc>
            </a:pPr>
            <a:r>
              <a:rPr lang="en-US" sz="3599" u="sng" b="true">
                <a:solidFill>
                  <a:srgbClr val="000000"/>
                </a:solidFill>
                <a:latin typeface="Poppins Bold"/>
                <a:ea typeface="Poppins Bold"/>
                <a:cs typeface="Poppins Bold"/>
                <a:sym typeface="Poppins Bold"/>
              </a:rPr>
              <a:t>2. Sales Records Management:</a:t>
            </a:r>
          </a:p>
          <a:p>
            <a:pPr algn="l" marL="777235" indent="-388618" lvl="1">
              <a:lnSpc>
                <a:spcPts val="5039"/>
              </a:lnSpc>
              <a:buFont typeface="Arial"/>
              <a:buChar char="•"/>
            </a:pPr>
            <a:r>
              <a:rPr lang="en-US" sz="3599">
                <a:solidFill>
                  <a:srgbClr val="000000"/>
                </a:solidFill>
                <a:latin typeface="Poppins"/>
                <a:ea typeface="Poppins"/>
                <a:cs typeface="Poppins"/>
                <a:sym typeface="Poppins"/>
              </a:rPr>
              <a:t>Maintains records of all sales transactions and activities.</a:t>
            </a:r>
          </a:p>
          <a:p>
            <a:pPr algn="l" marL="777235" indent="-388618" lvl="1">
              <a:lnSpc>
                <a:spcPts val="5039"/>
              </a:lnSpc>
              <a:buFont typeface="Arial"/>
              <a:buChar char="•"/>
            </a:pPr>
            <a:r>
              <a:rPr lang="en-US" sz="3599">
                <a:solidFill>
                  <a:srgbClr val="000000"/>
                </a:solidFill>
                <a:latin typeface="Poppins"/>
                <a:ea typeface="Poppins"/>
                <a:cs typeface="Poppins"/>
                <a:sym typeface="Poppins"/>
              </a:rPr>
              <a:t>Supports tracking of daily, monthly, and yearly sales.</a:t>
            </a:r>
          </a:p>
          <a:p>
            <a:pPr algn="l">
              <a:lnSpc>
                <a:spcPts val="5039"/>
              </a:lnSpc>
            </a:pPr>
          </a:p>
          <a:p>
            <a:pPr algn="l">
              <a:lnSpc>
                <a:spcPts val="5039"/>
              </a:lnSpc>
            </a:pPr>
            <a:r>
              <a:rPr lang="en-US" sz="3599" u="sng" b="true">
                <a:solidFill>
                  <a:srgbClr val="000000"/>
                </a:solidFill>
                <a:latin typeface="Poppins Bold"/>
                <a:ea typeface="Poppins Bold"/>
                <a:cs typeface="Poppins Bold"/>
                <a:sym typeface="Poppins Bold"/>
              </a:rPr>
              <a:t>3. Order Data Management:</a:t>
            </a:r>
          </a:p>
          <a:p>
            <a:pPr algn="l" marL="777235" indent="-388618" lvl="1">
              <a:lnSpc>
                <a:spcPts val="5039"/>
              </a:lnSpc>
              <a:buFont typeface="Arial"/>
              <a:buChar char="•"/>
            </a:pPr>
            <a:r>
              <a:rPr lang="en-US" sz="3599">
                <a:solidFill>
                  <a:srgbClr val="000000"/>
                </a:solidFill>
                <a:latin typeface="Poppins"/>
                <a:ea typeface="Poppins"/>
                <a:cs typeface="Poppins"/>
                <a:sym typeface="Poppins"/>
              </a:rPr>
              <a:t>Stores customer orders, order status, and delivery details.</a:t>
            </a:r>
          </a:p>
          <a:p>
            <a:pPr algn="l" marL="777235" indent="-388618" lvl="1">
              <a:lnSpc>
                <a:spcPts val="5039"/>
              </a:lnSpc>
              <a:buFont typeface="Arial"/>
              <a:buChar char="•"/>
            </a:pPr>
            <a:r>
              <a:rPr lang="en-US" sz="3599">
                <a:solidFill>
                  <a:srgbClr val="000000"/>
                </a:solidFill>
                <a:latin typeface="Poppins"/>
                <a:ea typeface="Poppins"/>
                <a:cs typeface="Poppins"/>
                <a:sym typeface="Poppins"/>
              </a:rPr>
              <a:t>Helps monitor order processing and completion.</a:t>
            </a:r>
          </a:p>
          <a:p>
            <a:pPr algn="l">
              <a:lnSpc>
                <a:spcPts val="5039"/>
              </a:lnSpc>
            </a:pPr>
          </a:p>
          <a:p>
            <a:pPr algn="l">
              <a:lnSpc>
                <a:spcPts val="5039"/>
              </a:lnSpc>
            </a:pPr>
          </a:p>
          <a:p>
            <a:pPr algn="l">
              <a:lnSpc>
                <a:spcPts val="5039"/>
              </a:lnSpc>
            </a:pPr>
            <a:r>
              <a:rPr lang="en-US" sz="3599">
                <a:solidFill>
                  <a:srgbClr val="000000"/>
                </a:solidFill>
                <a:latin typeface="Poppins"/>
                <a:ea typeface="Poppins"/>
                <a:cs typeface="Poppins"/>
                <a:sym typeface="Poppins"/>
              </a:rPr>
              <a:t>             </a:t>
            </a:r>
          </a:p>
          <a:p>
            <a:pPr algn="l">
              <a:lnSpc>
                <a:spcPts val="503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29407" y="950429"/>
            <a:ext cx="16558593" cy="1137275"/>
          </a:xfrm>
          <a:prstGeom prst="rect">
            <a:avLst/>
          </a:prstGeom>
        </p:spPr>
        <p:txBody>
          <a:bodyPr anchor="t" rtlCol="false" tIns="0" lIns="0" bIns="0" rIns="0">
            <a:spAutoFit/>
          </a:bodyPr>
          <a:lstStyle/>
          <a:p>
            <a:pPr algn="ctr">
              <a:lnSpc>
                <a:spcPts val="9240"/>
              </a:lnSpc>
            </a:pPr>
            <a:r>
              <a:rPr lang="en-US" b="true" sz="6600">
                <a:solidFill>
                  <a:srgbClr val="000000"/>
                </a:solidFill>
                <a:latin typeface="Proxima Nova Bold"/>
                <a:ea typeface="Proxima Nova Bold"/>
                <a:cs typeface="Proxima Nova Bold"/>
                <a:sym typeface="Proxima Nova Bold"/>
              </a:rPr>
              <a:t>FUNCTIONS OF THE DATA TIER</a:t>
            </a:r>
          </a:p>
        </p:txBody>
      </p:sp>
      <p:sp>
        <p:nvSpPr>
          <p:cNvPr name="TextBox 15" id="15"/>
          <p:cNvSpPr txBox="true"/>
          <p:nvPr/>
        </p:nvSpPr>
        <p:spPr>
          <a:xfrm rot="0">
            <a:off x="946701" y="2391611"/>
            <a:ext cx="16394599" cy="7671436"/>
          </a:xfrm>
          <a:prstGeom prst="rect">
            <a:avLst/>
          </a:prstGeom>
        </p:spPr>
        <p:txBody>
          <a:bodyPr anchor="t" rtlCol="false" tIns="0" lIns="0" bIns="0" rIns="0">
            <a:spAutoFit/>
          </a:bodyPr>
          <a:lstStyle/>
          <a:p>
            <a:pPr algn="l">
              <a:lnSpc>
                <a:spcPts val="5039"/>
              </a:lnSpc>
            </a:pPr>
            <a:r>
              <a:rPr lang="en-US" sz="3599" u="sng" b="true">
                <a:solidFill>
                  <a:srgbClr val="000000"/>
                </a:solidFill>
                <a:latin typeface="Poppins Bold"/>
                <a:ea typeface="Poppins Bold"/>
                <a:cs typeface="Poppins Bold"/>
                <a:sym typeface="Poppins Bold"/>
              </a:rPr>
              <a:t>4. Product Information Storage:</a:t>
            </a:r>
          </a:p>
          <a:p>
            <a:pPr algn="l" marL="777235" indent="-388618" lvl="1">
              <a:lnSpc>
                <a:spcPts val="5039"/>
              </a:lnSpc>
              <a:buFont typeface="Arial"/>
              <a:buChar char="•"/>
            </a:pPr>
            <a:r>
              <a:rPr lang="en-US" sz="3599">
                <a:solidFill>
                  <a:srgbClr val="000000"/>
                </a:solidFill>
                <a:latin typeface="Poppins"/>
                <a:ea typeface="Poppins"/>
                <a:cs typeface="Poppins"/>
                <a:sym typeface="Poppins"/>
              </a:rPr>
              <a:t>Maintains product details like price, stock availability, and specifications.</a:t>
            </a:r>
          </a:p>
          <a:p>
            <a:pPr algn="l" marL="777235" indent="-388618" lvl="1">
              <a:lnSpc>
                <a:spcPts val="5039"/>
              </a:lnSpc>
              <a:buFont typeface="Arial"/>
              <a:buChar char="•"/>
            </a:pPr>
            <a:r>
              <a:rPr lang="en-US" sz="3599">
                <a:solidFill>
                  <a:srgbClr val="000000"/>
                </a:solidFill>
                <a:latin typeface="Poppins"/>
                <a:ea typeface="Poppins"/>
                <a:cs typeface="Poppins"/>
                <a:sym typeface="Poppins"/>
              </a:rPr>
              <a:t>Ensures accurate product data for sales operations.</a:t>
            </a:r>
          </a:p>
          <a:p>
            <a:pPr algn="l">
              <a:lnSpc>
                <a:spcPts val="5039"/>
              </a:lnSpc>
            </a:pPr>
          </a:p>
          <a:p>
            <a:pPr algn="l">
              <a:lnSpc>
                <a:spcPts val="5039"/>
              </a:lnSpc>
            </a:pPr>
            <a:r>
              <a:rPr lang="en-US" sz="3599" u="sng" b="true">
                <a:solidFill>
                  <a:srgbClr val="000000"/>
                </a:solidFill>
                <a:latin typeface="Poppins Bold"/>
                <a:ea typeface="Poppins Bold"/>
                <a:cs typeface="Poppins Bold"/>
                <a:sym typeface="Poppins Bold"/>
              </a:rPr>
              <a:t>5. Data Retrieval for Processing:</a:t>
            </a:r>
          </a:p>
          <a:p>
            <a:pPr algn="l" marL="777235" indent="-388618" lvl="1">
              <a:lnSpc>
                <a:spcPts val="5039"/>
              </a:lnSpc>
              <a:buFont typeface="Arial"/>
              <a:buChar char="•"/>
            </a:pPr>
            <a:r>
              <a:rPr lang="en-US" sz="3599">
                <a:solidFill>
                  <a:srgbClr val="000000"/>
                </a:solidFill>
                <a:latin typeface="Poppins"/>
                <a:ea typeface="Poppins"/>
                <a:cs typeface="Poppins"/>
                <a:sym typeface="Poppins"/>
              </a:rPr>
              <a:t>Provides required data to the application tier for processing and reporting.</a:t>
            </a:r>
          </a:p>
          <a:p>
            <a:pPr algn="l" marL="777235" indent="-388618" lvl="1">
              <a:lnSpc>
                <a:spcPts val="5039"/>
              </a:lnSpc>
              <a:buFont typeface="Arial"/>
              <a:buChar char="•"/>
            </a:pPr>
            <a:r>
              <a:rPr lang="en-US" sz="3599">
                <a:solidFill>
                  <a:srgbClr val="000000"/>
                </a:solidFill>
                <a:latin typeface="Poppins"/>
                <a:ea typeface="Poppins"/>
                <a:cs typeface="Poppins"/>
                <a:sym typeface="Poppins"/>
              </a:rPr>
              <a:t>Enables quick access to information when needed.</a:t>
            </a:r>
          </a:p>
          <a:p>
            <a:pPr algn="l">
              <a:lnSpc>
                <a:spcPts val="5039"/>
              </a:lnSpc>
            </a:pPr>
          </a:p>
          <a:p>
            <a:pPr algn="l">
              <a:lnSpc>
                <a:spcPts val="5039"/>
              </a:lnSpc>
            </a:pPr>
            <a:r>
              <a:rPr lang="en-US" sz="3599">
                <a:solidFill>
                  <a:srgbClr val="000000"/>
                </a:solidFill>
                <a:latin typeface="Poppins"/>
                <a:ea typeface="Poppins"/>
                <a:cs typeface="Poppins"/>
                <a:sym typeface="Poppins"/>
              </a:rPr>
              <a:t>             </a:t>
            </a:r>
          </a:p>
          <a:p>
            <a:pPr algn="l">
              <a:lnSpc>
                <a:spcPts val="503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02233" y="950429"/>
            <a:ext cx="16558593" cy="1137275"/>
          </a:xfrm>
          <a:prstGeom prst="rect">
            <a:avLst/>
          </a:prstGeom>
        </p:spPr>
        <p:txBody>
          <a:bodyPr anchor="t" rtlCol="false" tIns="0" lIns="0" bIns="0" rIns="0">
            <a:spAutoFit/>
          </a:bodyPr>
          <a:lstStyle/>
          <a:p>
            <a:pPr algn="ctr">
              <a:lnSpc>
                <a:spcPts val="9240"/>
              </a:lnSpc>
            </a:pPr>
            <a:r>
              <a:rPr lang="en-US" b="true" sz="6600">
                <a:solidFill>
                  <a:srgbClr val="000000"/>
                </a:solidFill>
                <a:latin typeface="Proxima Nova Bold"/>
                <a:ea typeface="Proxima Nova Bold"/>
                <a:cs typeface="Proxima Nova Bold"/>
                <a:sym typeface="Proxima Nova Bold"/>
              </a:rPr>
              <a:t>FUNCTIONS OF THE DATA TIER</a:t>
            </a:r>
          </a:p>
        </p:txBody>
      </p:sp>
      <p:sp>
        <p:nvSpPr>
          <p:cNvPr name="TextBox 15" id="15"/>
          <p:cNvSpPr txBox="true"/>
          <p:nvPr/>
        </p:nvSpPr>
        <p:spPr>
          <a:xfrm rot="0">
            <a:off x="946701" y="2391611"/>
            <a:ext cx="16394599" cy="10224136"/>
          </a:xfrm>
          <a:prstGeom prst="rect">
            <a:avLst/>
          </a:prstGeom>
        </p:spPr>
        <p:txBody>
          <a:bodyPr anchor="t" rtlCol="false" tIns="0" lIns="0" bIns="0" rIns="0">
            <a:spAutoFit/>
          </a:bodyPr>
          <a:lstStyle/>
          <a:p>
            <a:pPr algn="l">
              <a:lnSpc>
                <a:spcPts val="5039"/>
              </a:lnSpc>
            </a:pPr>
            <a:r>
              <a:rPr lang="en-US" sz="3599" u="sng" b="true">
                <a:solidFill>
                  <a:srgbClr val="000000"/>
                </a:solidFill>
                <a:latin typeface="Poppins Bold"/>
                <a:ea typeface="Poppins Bold"/>
                <a:cs typeface="Poppins Bold"/>
                <a:sym typeface="Poppins Bold"/>
              </a:rPr>
              <a:t>6. Data Security and Access Control:</a:t>
            </a:r>
          </a:p>
          <a:p>
            <a:pPr algn="l" marL="777235" indent="-388618" lvl="1">
              <a:lnSpc>
                <a:spcPts val="5039"/>
              </a:lnSpc>
              <a:buFont typeface="Arial"/>
              <a:buChar char="•"/>
            </a:pPr>
            <a:r>
              <a:rPr lang="en-US" sz="3599">
                <a:solidFill>
                  <a:srgbClr val="000000"/>
                </a:solidFill>
                <a:latin typeface="Poppins"/>
                <a:ea typeface="Poppins"/>
                <a:cs typeface="Poppins"/>
                <a:sym typeface="Poppins"/>
              </a:rPr>
              <a:t>Protects sensitive sales data from unauthorized access.</a:t>
            </a:r>
          </a:p>
          <a:p>
            <a:pPr algn="l" marL="777235" indent="-388618" lvl="1">
              <a:lnSpc>
                <a:spcPts val="5039"/>
              </a:lnSpc>
              <a:buFont typeface="Arial"/>
              <a:buChar char="•"/>
            </a:pPr>
            <a:r>
              <a:rPr lang="en-US" sz="3599">
                <a:solidFill>
                  <a:srgbClr val="000000"/>
                </a:solidFill>
                <a:latin typeface="Poppins"/>
                <a:ea typeface="Poppins"/>
                <a:cs typeface="Poppins"/>
                <a:sym typeface="Poppins"/>
              </a:rPr>
              <a:t>Ensures only authorized users can view or modify data.</a:t>
            </a:r>
          </a:p>
          <a:p>
            <a:pPr algn="l">
              <a:lnSpc>
                <a:spcPts val="5039"/>
              </a:lnSpc>
            </a:pPr>
          </a:p>
          <a:p>
            <a:pPr algn="l">
              <a:lnSpc>
                <a:spcPts val="5039"/>
              </a:lnSpc>
            </a:pPr>
            <a:r>
              <a:rPr lang="en-US" sz="3599" u="sng" b="true">
                <a:solidFill>
                  <a:srgbClr val="000000"/>
                </a:solidFill>
                <a:latin typeface="Poppins Bold"/>
                <a:ea typeface="Poppins Bold"/>
                <a:cs typeface="Poppins Bold"/>
                <a:sym typeface="Poppins Bold"/>
              </a:rPr>
              <a:t>7. Data Integrity and Consistency:</a:t>
            </a:r>
          </a:p>
          <a:p>
            <a:pPr algn="l" marL="777235" indent="-388618" lvl="1">
              <a:lnSpc>
                <a:spcPts val="5039"/>
              </a:lnSpc>
              <a:buFont typeface="Arial"/>
              <a:buChar char="•"/>
            </a:pPr>
            <a:r>
              <a:rPr lang="en-US" sz="3599">
                <a:solidFill>
                  <a:srgbClr val="000000"/>
                </a:solidFill>
                <a:latin typeface="Poppins"/>
                <a:ea typeface="Poppins"/>
                <a:cs typeface="Poppins"/>
                <a:sym typeface="Poppins"/>
              </a:rPr>
              <a:t>Ensures all data remains accurate, consistent, and up-to-date.</a:t>
            </a:r>
          </a:p>
          <a:p>
            <a:pPr algn="l" marL="777235" indent="-388618" lvl="1">
              <a:lnSpc>
                <a:spcPts val="5039"/>
              </a:lnSpc>
              <a:buFont typeface="Arial"/>
              <a:buChar char="•"/>
            </a:pPr>
            <a:r>
              <a:rPr lang="en-US" sz="3599">
                <a:solidFill>
                  <a:srgbClr val="000000"/>
                </a:solidFill>
                <a:latin typeface="Poppins"/>
                <a:ea typeface="Poppins"/>
                <a:cs typeface="Poppins"/>
                <a:sym typeface="Poppins"/>
              </a:rPr>
              <a:t>Prevents duplication and errors in the database.</a:t>
            </a:r>
          </a:p>
          <a:p>
            <a:pPr algn="l">
              <a:lnSpc>
                <a:spcPts val="5039"/>
              </a:lnSpc>
            </a:pPr>
          </a:p>
          <a:p>
            <a:pPr algn="l">
              <a:lnSpc>
                <a:spcPts val="5039"/>
              </a:lnSpc>
            </a:pPr>
            <a:r>
              <a:rPr lang="en-US" sz="3599" u="sng" b="true">
                <a:solidFill>
                  <a:srgbClr val="000000"/>
                </a:solidFill>
                <a:latin typeface="Poppins Bold"/>
                <a:ea typeface="Poppins Bold"/>
                <a:cs typeface="Poppins Bold"/>
                <a:sym typeface="Poppins Bold"/>
              </a:rPr>
              <a:t>8. Backup and Recovery:</a:t>
            </a:r>
          </a:p>
          <a:p>
            <a:pPr algn="l" marL="777235" indent="-388618" lvl="1">
              <a:lnSpc>
                <a:spcPts val="5039"/>
              </a:lnSpc>
              <a:buFont typeface="Arial"/>
              <a:buChar char="•"/>
            </a:pPr>
            <a:r>
              <a:rPr lang="en-US" sz="3599">
                <a:solidFill>
                  <a:srgbClr val="000000"/>
                </a:solidFill>
                <a:latin typeface="Poppins"/>
                <a:ea typeface="Poppins"/>
                <a:cs typeface="Poppins"/>
                <a:sym typeface="Poppins"/>
              </a:rPr>
              <a:t>Regularly creates backups of important data.</a:t>
            </a:r>
          </a:p>
          <a:p>
            <a:pPr algn="l" marL="777235" indent="-388618" lvl="1">
              <a:lnSpc>
                <a:spcPts val="5039"/>
              </a:lnSpc>
              <a:buFont typeface="Arial"/>
              <a:buChar char="•"/>
            </a:pPr>
            <a:r>
              <a:rPr lang="en-US" sz="3599">
                <a:solidFill>
                  <a:srgbClr val="000000"/>
                </a:solidFill>
                <a:latin typeface="Poppins"/>
                <a:ea typeface="Poppins"/>
                <a:cs typeface="Poppins"/>
                <a:sym typeface="Poppins"/>
              </a:rPr>
              <a:t>Restores data in case of system failure or data loss.</a:t>
            </a:r>
          </a:p>
          <a:p>
            <a:pPr algn="l">
              <a:lnSpc>
                <a:spcPts val="5039"/>
              </a:lnSpc>
            </a:pPr>
          </a:p>
          <a:p>
            <a:pPr algn="l">
              <a:lnSpc>
                <a:spcPts val="5039"/>
              </a:lnSpc>
            </a:pPr>
          </a:p>
          <a:p>
            <a:pPr algn="l">
              <a:lnSpc>
                <a:spcPts val="5039"/>
              </a:lnSpc>
            </a:pPr>
          </a:p>
          <a:p>
            <a:pPr algn="l">
              <a:lnSpc>
                <a:spcPts val="5039"/>
              </a:lnSpc>
            </a:pPr>
            <a:r>
              <a:rPr lang="en-US" sz="3599">
                <a:solidFill>
                  <a:srgbClr val="000000"/>
                </a:solidFill>
                <a:latin typeface="Poppins"/>
                <a:ea typeface="Poppins"/>
                <a:cs typeface="Poppins"/>
                <a:sym typeface="Poppins"/>
              </a:rPr>
              <a:t>             </a:t>
            </a:r>
          </a:p>
          <a:p>
            <a:pPr algn="l">
              <a:lnSpc>
                <a:spcPts val="503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868448" y="768817"/>
            <a:ext cx="11931574" cy="1318887"/>
          </a:xfrm>
          <a:prstGeom prst="rect">
            <a:avLst/>
          </a:prstGeom>
        </p:spPr>
        <p:txBody>
          <a:bodyPr anchor="t" rtlCol="false" tIns="0" lIns="0" bIns="0" rIns="0">
            <a:spAutoFit/>
          </a:bodyPr>
          <a:lstStyle/>
          <a:p>
            <a:pPr algn="ctr">
              <a:lnSpc>
                <a:spcPts val="10780"/>
              </a:lnSpc>
            </a:pPr>
            <a:r>
              <a:rPr lang="en-US" b="true" sz="7700">
                <a:solidFill>
                  <a:srgbClr val="000000"/>
                </a:solidFill>
                <a:latin typeface="Proxima Nova Bold"/>
                <a:ea typeface="Proxima Nova Bold"/>
                <a:cs typeface="Proxima Nova Bold"/>
                <a:sym typeface="Proxima Nova Bold"/>
              </a:rPr>
              <a:t>FEATURES OF DATA TIER</a:t>
            </a:r>
          </a:p>
        </p:txBody>
      </p:sp>
      <p:sp>
        <p:nvSpPr>
          <p:cNvPr name="TextBox 15" id="15"/>
          <p:cNvSpPr txBox="true"/>
          <p:nvPr/>
        </p:nvSpPr>
        <p:spPr>
          <a:xfrm rot="0">
            <a:off x="1702233" y="2681605"/>
            <a:ext cx="15062940" cy="6619240"/>
          </a:xfrm>
          <a:prstGeom prst="rect">
            <a:avLst/>
          </a:prstGeom>
        </p:spPr>
        <p:txBody>
          <a:bodyPr anchor="t" rtlCol="false" tIns="0" lIns="0" bIns="0" rIns="0">
            <a:spAutoFit/>
          </a:bodyPr>
          <a:lstStyle/>
          <a:p>
            <a:pPr algn="l" marL="734056" indent="-367028" lvl="1">
              <a:lnSpc>
                <a:spcPts val="4759"/>
              </a:lnSpc>
              <a:buFont typeface="Arial"/>
              <a:buChar char="•"/>
            </a:pPr>
            <a:r>
              <a:rPr lang="en-US" sz="3399">
                <a:solidFill>
                  <a:srgbClr val="000000"/>
                </a:solidFill>
                <a:latin typeface="Poppins"/>
                <a:ea typeface="Poppins"/>
                <a:cs typeface="Poppins"/>
                <a:sym typeface="Poppins"/>
              </a:rPr>
              <a:t>Centralized data storage and management.</a:t>
            </a:r>
          </a:p>
          <a:p>
            <a:pPr algn="l">
              <a:lnSpc>
                <a:spcPts val="4759"/>
              </a:lnSpc>
            </a:pPr>
          </a:p>
          <a:p>
            <a:pPr algn="l" marL="734056" indent="-367028" lvl="1">
              <a:lnSpc>
                <a:spcPts val="4759"/>
              </a:lnSpc>
              <a:buFont typeface="Arial"/>
              <a:buChar char="•"/>
            </a:pPr>
            <a:r>
              <a:rPr lang="en-US" sz="3399">
                <a:solidFill>
                  <a:srgbClr val="000000"/>
                </a:solidFill>
                <a:latin typeface="Poppins"/>
                <a:ea typeface="Poppins"/>
                <a:cs typeface="Poppins"/>
                <a:sym typeface="Poppins"/>
              </a:rPr>
              <a:t>Improves data security and access control.</a:t>
            </a:r>
          </a:p>
          <a:p>
            <a:pPr algn="l">
              <a:lnSpc>
                <a:spcPts val="4759"/>
              </a:lnSpc>
            </a:pPr>
          </a:p>
          <a:p>
            <a:pPr algn="l" marL="734056" indent="-367028" lvl="1">
              <a:lnSpc>
                <a:spcPts val="4759"/>
              </a:lnSpc>
              <a:buFont typeface="Arial"/>
              <a:buChar char="•"/>
            </a:pPr>
            <a:r>
              <a:rPr lang="en-US" sz="3399">
                <a:solidFill>
                  <a:srgbClr val="000000"/>
                </a:solidFill>
                <a:latin typeface="Poppins"/>
                <a:ea typeface="Poppins"/>
                <a:cs typeface="Poppins"/>
                <a:sym typeface="Poppins"/>
              </a:rPr>
              <a:t>Ensures data accuracy and consistency.</a:t>
            </a:r>
          </a:p>
          <a:p>
            <a:pPr algn="l">
              <a:lnSpc>
                <a:spcPts val="4759"/>
              </a:lnSpc>
            </a:pPr>
          </a:p>
          <a:p>
            <a:pPr algn="l" marL="734056" indent="-367028" lvl="1">
              <a:lnSpc>
                <a:spcPts val="4759"/>
              </a:lnSpc>
              <a:buFont typeface="Arial"/>
              <a:buChar char="•"/>
            </a:pPr>
            <a:r>
              <a:rPr lang="en-US" sz="3399">
                <a:solidFill>
                  <a:srgbClr val="000000"/>
                </a:solidFill>
                <a:latin typeface="Poppins"/>
                <a:ea typeface="Poppins"/>
                <a:cs typeface="Poppins"/>
                <a:sym typeface="Poppins"/>
              </a:rPr>
              <a:t>Supports backup and recovery.</a:t>
            </a:r>
          </a:p>
          <a:p>
            <a:pPr algn="l">
              <a:lnSpc>
                <a:spcPts val="4759"/>
              </a:lnSpc>
            </a:pPr>
          </a:p>
          <a:p>
            <a:pPr algn="l" marL="734056" indent="-367028" lvl="1">
              <a:lnSpc>
                <a:spcPts val="4759"/>
              </a:lnSpc>
              <a:buFont typeface="Arial"/>
              <a:buChar char="•"/>
            </a:pPr>
            <a:r>
              <a:rPr lang="en-US" sz="3399">
                <a:solidFill>
                  <a:srgbClr val="000000"/>
                </a:solidFill>
                <a:latin typeface="Poppins"/>
                <a:ea typeface="Poppins"/>
                <a:cs typeface="Poppins"/>
                <a:sym typeface="Poppins"/>
              </a:rPr>
              <a:t>Enables efficient handling of large data.</a:t>
            </a:r>
          </a:p>
          <a:p>
            <a:pPr algn="l">
              <a:lnSpc>
                <a:spcPts val="4759"/>
              </a:lnSpc>
            </a:pPr>
          </a:p>
          <a:p>
            <a:pPr algn="l">
              <a:lnSpc>
                <a:spcPts val="475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2868448" y="768817"/>
            <a:ext cx="11931574" cy="1318887"/>
          </a:xfrm>
          <a:prstGeom prst="rect">
            <a:avLst/>
          </a:prstGeom>
        </p:spPr>
        <p:txBody>
          <a:bodyPr anchor="t" rtlCol="false" tIns="0" lIns="0" bIns="0" rIns="0">
            <a:spAutoFit/>
          </a:bodyPr>
          <a:lstStyle/>
          <a:p>
            <a:pPr algn="ctr">
              <a:lnSpc>
                <a:spcPts val="10780"/>
              </a:lnSpc>
            </a:pPr>
            <a:r>
              <a:rPr lang="en-US" b="true" sz="7700">
                <a:solidFill>
                  <a:srgbClr val="000000"/>
                </a:solidFill>
                <a:latin typeface="Proxima Nova Bold"/>
                <a:ea typeface="Proxima Nova Bold"/>
                <a:cs typeface="Proxima Nova Bold"/>
                <a:sym typeface="Proxima Nova Bold"/>
              </a:rPr>
              <a:t>CONCLUSION</a:t>
            </a:r>
          </a:p>
        </p:txBody>
      </p:sp>
      <p:sp>
        <p:nvSpPr>
          <p:cNvPr name="TextBox 15" id="15"/>
          <p:cNvSpPr txBox="true"/>
          <p:nvPr/>
        </p:nvSpPr>
        <p:spPr>
          <a:xfrm rot="0">
            <a:off x="1702233" y="2681605"/>
            <a:ext cx="15062940" cy="6619240"/>
          </a:xfrm>
          <a:prstGeom prst="rect">
            <a:avLst/>
          </a:prstGeom>
        </p:spPr>
        <p:txBody>
          <a:bodyPr anchor="t" rtlCol="false" tIns="0" lIns="0" bIns="0" rIns="0">
            <a:spAutoFit/>
          </a:bodyPr>
          <a:lstStyle/>
          <a:p>
            <a:pPr algn="l" marL="734056" indent="-367028" lvl="1">
              <a:lnSpc>
                <a:spcPts val="4759"/>
              </a:lnSpc>
              <a:buFont typeface="Arial"/>
              <a:buChar char="•"/>
            </a:pPr>
            <a:r>
              <a:rPr lang="en-US" sz="3399">
                <a:solidFill>
                  <a:srgbClr val="000000"/>
                </a:solidFill>
                <a:latin typeface="Poppins"/>
                <a:ea typeface="Poppins"/>
                <a:cs typeface="Poppins"/>
                <a:sym typeface="Poppins"/>
              </a:rPr>
              <a:t>Sales Automation System improves efficiency by automating sales processes.</a:t>
            </a:r>
          </a:p>
          <a:p>
            <a:pPr algn="l">
              <a:lnSpc>
                <a:spcPts val="4759"/>
              </a:lnSpc>
            </a:pPr>
          </a:p>
          <a:p>
            <a:pPr algn="l" marL="734056" indent="-367028" lvl="1">
              <a:lnSpc>
                <a:spcPts val="4759"/>
              </a:lnSpc>
              <a:buFont typeface="Arial"/>
              <a:buChar char="•"/>
            </a:pPr>
            <a:r>
              <a:rPr lang="en-US" sz="3399">
                <a:solidFill>
                  <a:srgbClr val="000000"/>
                </a:solidFill>
                <a:latin typeface="Poppins"/>
                <a:ea typeface="Poppins"/>
                <a:cs typeface="Poppins"/>
                <a:sym typeface="Poppins"/>
              </a:rPr>
              <a:t>It reduces manual work and minimizes errors.</a:t>
            </a:r>
          </a:p>
          <a:p>
            <a:pPr algn="l">
              <a:lnSpc>
                <a:spcPts val="4759"/>
              </a:lnSpc>
            </a:pPr>
          </a:p>
          <a:p>
            <a:pPr algn="l" marL="734056" indent="-367028" lvl="1">
              <a:lnSpc>
                <a:spcPts val="4759"/>
              </a:lnSpc>
              <a:buFont typeface="Arial"/>
              <a:buChar char="•"/>
            </a:pPr>
            <a:r>
              <a:rPr lang="en-US" sz="3399">
                <a:solidFill>
                  <a:srgbClr val="000000"/>
                </a:solidFill>
                <a:latin typeface="Poppins"/>
                <a:ea typeface="Poppins"/>
                <a:cs typeface="Poppins"/>
                <a:sym typeface="Poppins"/>
              </a:rPr>
              <a:t>Three-tier architecture ensures security, scalability, and performance.</a:t>
            </a:r>
          </a:p>
          <a:p>
            <a:pPr algn="l">
              <a:lnSpc>
                <a:spcPts val="4759"/>
              </a:lnSpc>
            </a:pPr>
          </a:p>
          <a:p>
            <a:pPr algn="l" marL="734056" indent="-367028" lvl="1">
              <a:lnSpc>
                <a:spcPts val="4759"/>
              </a:lnSpc>
              <a:buFont typeface="Arial"/>
              <a:buChar char="•"/>
            </a:pPr>
            <a:r>
              <a:rPr lang="en-US" sz="3399">
                <a:solidFill>
                  <a:srgbClr val="000000"/>
                </a:solidFill>
                <a:latin typeface="Poppins"/>
                <a:ea typeface="Poppins"/>
                <a:cs typeface="Poppins"/>
                <a:sym typeface="Poppins"/>
              </a:rPr>
              <a:t>Overall, it helps businesses manage sales effectively and make better decisions.</a:t>
            </a:r>
          </a:p>
          <a:p>
            <a:pPr algn="l">
              <a:lnSpc>
                <a:spcPts val="4759"/>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false" flipV="false" rot="0">
            <a:off x="-2057400" y="-12589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2233" y="-903796"/>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62306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585767" y="7556067"/>
            <a:ext cx="3404467" cy="3404467"/>
          </a:xfrm>
          <a:custGeom>
            <a:avLst/>
            <a:gdLst/>
            <a:ahLst/>
            <a:cxnLst/>
            <a:rect r="r" b="b" t="t" l="l"/>
            <a:pathLst>
              <a:path h="3404467" w="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319137" y="9258300"/>
            <a:ext cx="3911463" cy="391146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6998733" y="7969033"/>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89267" y="-490830"/>
            <a:ext cx="2578533" cy="2578533"/>
          </a:xfrm>
          <a:custGeom>
            <a:avLst/>
            <a:gdLst/>
            <a:ahLst/>
            <a:cxnLst/>
            <a:rect r="r" b="b" t="t" l="l"/>
            <a:pathLst>
              <a:path h="2578533" w="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2129385" y="-2859528"/>
            <a:ext cx="3911463" cy="39114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3164992" y="1620762"/>
            <a:ext cx="10261737" cy="2222501"/>
          </a:xfrm>
          <a:prstGeom prst="rect">
            <a:avLst/>
          </a:prstGeom>
        </p:spPr>
        <p:txBody>
          <a:bodyPr anchor="t" rtlCol="false" tIns="0" lIns="0" bIns="0" rIns="0">
            <a:spAutoFit/>
          </a:bodyPr>
          <a:lstStyle/>
          <a:p>
            <a:pPr algn="ctr">
              <a:lnSpc>
                <a:spcPts val="18199"/>
              </a:lnSpc>
            </a:pPr>
            <a:r>
              <a:rPr lang="en-US" b="true" sz="12999">
                <a:solidFill>
                  <a:srgbClr val="000000"/>
                </a:solidFill>
                <a:latin typeface="Proxima Nova Bold"/>
                <a:ea typeface="Proxima Nova Bold"/>
                <a:cs typeface="Proxima Nova Bold"/>
                <a:sym typeface="Proxima Nova Bold"/>
              </a:rPr>
              <a:t>THANK YOU</a:t>
            </a:r>
          </a:p>
        </p:txBody>
      </p:sp>
      <p:sp>
        <p:nvSpPr>
          <p:cNvPr name="TextBox 15" id="15"/>
          <p:cNvSpPr txBox="true"/>
          <p:nvPr/>
        </p:nvSpPr>
        <p:spPr>
          <a:xfrm rot="0">
            <a:off x="9333986" y="4448175"/>
            <a:ext cx="9881764" cy="4810125"/>
          </a:xfrm>
          <a:prstGeom prst="rect">
            <a:avLst/>
          </a:prstGeom>
        </p:spPr>
        <p:txBody>
          <a:bodyPr anchor="t" rtlCol="false" tIns="0" lIns="0" bIns="0" rIns="0">
            <a:spAutoFit/>
          </a:bodyPr>
          <a:lstStyle/>
          <a:p>
            <a:pPr algn="l">
              <a:lnSpc>
                <a:spcPts val="6299"/>
              </a:lnSpc>
            </a:pPr>
            <a:r>
              <a:rPr lang="en-US" sz="4500">
                <a:solidFill>
                  <a:srgbClr val="000000"/>
                </a:solidFill>
                <a:latin typeface="Poppins"/>
                <a:ea typeface="Poppins"/>
                <a:cs typeface="Poppins"/>
                <a:sym typeface="Poppins"/>
              </a:rPr>
              <a:t>22Z329 - Jansirani A S</a:t>
            </a:r>
          </a:p>
          <a:p>
            <a:pPr algn="l">
              <a:lnSpc>
                <a:spcPts val="6299"/>
              </a:lnSpc>
            </a:pPr>
            <a:r>
              <a:rPr lang="en-US" sz="4500">
                <a:solidFill>
                  <a:srgbClr val="000000"/>
                </a:solidFill>
                <a:latin typeface="Poppins"/>
                <a:ea typeface="Poppins"/>
                <a:cs typeface="Poppins"/>
                <a:sym typeface="Poppins"/>
              </a:rPr>
              <a:t>22Z346 - Neha</a:t>
            </a:r>
          </a:p>
          <a:p>
            <a:pPr algn="l">
              <a:lnSpc>
                <a:spcPts val="6299"/>
              </a:lnSpc>
            </a:pPr>
            <a:r>
              <a:rPr lang="en-US" sz="4500">
                <a:solidFill>
                  <a:srgbClr val="000000"/>
                </a:solidFill>
                <a:latin typeface="Poppins"/>
                <a:ea typeface="Poppins"/>
                <a:cs typeface="Poppins"/>
                <a:sym typeface="Poppins"/>
              </a:rPr>
              <a:t>22Z349 - Srujana N</a:t>
            </a:r>
          </a:p>
          <a:p>
            <a:pPr algn="l">
              <a:lnSpc>
                <a:spcPts val="6299"/>
              </a:lnSpc>
            </a:pPr>
            <a:r>
              <a:rPr lang="en-US" sz="4500">
                <a:solidFill>
                  <a:srgbClr val="000000"/>
                </a:solidFill>
                <a:latin typeface="Poppins"/>
                <a:ea typeface="Poppins"/>
                <a:cs typeface="Poppins"/>
                <a:sym typeface="Poppins"/>
              </a:rPr>
              <a:t>22Z366 - Srinithi R B</a:t>
            </a:r>
          </a:p>
          <a:p>
            <a:pPr algn="l">
              <a:lnSpc>
                <a:spcPts val="6299"/>
              </a:lnSpc>
            </a:pPr>
            <a:r>
              <a:rPr lang="en-US" sz="4500">
                <a:solidFill>
                  <a:srgbClr val="000000"/>
                </a:solidFill>
                <a:latin typeface="Poppins"/>
                <a:ea typeface="Poppins"/>
                <a:cs typeface="Poppins"/>
                <a:sym typeface="Poppins"/>
              </a:rPr>
              <a:t>22Z370 - Thirisha P</a:t>
            </a:r>
          </a:p>
          <a:p>
            <a:pPr algn="l">
              <a:lnSpc>
                <a:spcPts val="6299"/>
              </a:lnSpc>
            </a:pP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DAHEHrG4e6k</dc:identifier>
  <dcterms:modified xsi:type="dcterms:W3CDTF">2011-08-01T06:04:30Z</dcterms:modified>
  <cp:revision>1</cp:revision>
  <dc:title>Sales automation system</dc:title>
</cp:coreProperties>
</file>